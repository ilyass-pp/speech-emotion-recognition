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79" r:id="rId3"/>
    <p:sldId id="257" r:id="rId4"/>
    <p:sldId id="260" r:id="rId5"/>
    <p:sldId id="258" r:id="rId6"/>
    <p:sldId id="261" r:id="rId7"/>
    <p:sldId id="262" r:id="rId8"/>
    <p:sldId id="263" r:id="rId9"/>
    <p:sldId id="265" r:id="rId10"/>
    <p:sldId id="268" r:id="rId11"/>
    <p:sldId id="266" r:id="rId12"/>
    <p:sldId id="269" r:id="rId13"/>
    <p:sldId id="270" r:id="rId14"/>
    <p:sldId id="271"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yassaitcheikh19@outlook.fr" initials="i" lastIdx="1" clrIdx="0">
    <p:extLst>
      <p:ext uri="{19B8F6BF-5375-455C-9EA6-DF929625EA0E}">
        <p15:presenceInfo xmlns:p15="http://schemas.microsoft.com/office/powerpoint/2012/main" userId="8a6b8062acf6ebc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E3A8A"/>
    <a:srgbClr val="E6E6E6"/>
    <a:srgbClr val="2DD4BF"/>
    <a:srgbClr val="D1D5DB"/>
    <a:srgbClr val="A3E635"/>
    <a:srgbClr val="F97316"/>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6183" autoAdjust="0"/>
  </p:normalViewPr>
  <p:slideViewPr>
    <p:cSldViewPr snapToGrid="0" showGuides="1">
      <p:cViewPr>
        <p:scale>
          <a:sx n="50" d="100"/>
          <a:sy n="50" d="100"/>
        </p:scale>
        <p:origin x="1862" y="-5"/>
      </p:cViewPr>
      <p:guideLst>
        <p:guide orient="horz" pos="2183"/>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C15AF7-8696-4D24-BA09-0D14D4E1F058}" type="doc">
      <dgm:prSet loTypeId="urn:microsoft.com/office/officeart/2005/8/layout/hProcess11" loCatId="process" qsTypeId="urn:microsoft.com/office/officeart/2005/8/quickstyle/3d3" qsCatId="3D" csTypeId="urn:microsoft.com/office/officeart/2005/8/colors/accent1_4" csCatId="accent1" phldr="1"/>
      <dgm:spPr/>
      <dgm:t>
        <a:bodyPr/>
        <a:lstStyle/>
        <a:p>
          <a:endParaRPr lang="en-US"/>
        </a:p>
      </dgm:t>
    </dgm:pt>
    <dgm:pt modelId="{2E483917-3574-4BE9-AF23-D5D5041AE4B6}">
      <dgm:prSet custT="1"/>
      <dgm:spPr/>
      <dgm:t>
        <a:bodyPr/>
        <a:lstStyle/>
        <a:p>
          <a:r>
            <a:rPr lang="fr-FR" sz="1100" dirty="0">
              <a:ln>
                <a:noFill/>
              </a:ln>
              <a:solidFill>
                <a:srgbClr val="1E3A8A"/>
              </a:solidFill>
              <a:latin typeface="Arial Black" panose="020B0A04020102020204" pitchFamily="34" charset="0"/>
            </a:rPr>
            <a:t>Introduction : Contexte du projet</a:t>
          </a:r>
          <a:endParaRPr lang="en-US" sz="1100" dirty="0">
            <a:ln>
              <a:noFill/>
            </a:ln>
            <a:solidFill>
              <a:srgbClr val="1E3A8A"/>
            </a:solidFill>
            <a:latin typeface="Arial Black" panose="020B0A04020102020204" pitchFamily="34" charset="0"/>
          </a:endParaRPr>
        </a:p>
      </dgm:t>
    </dgm:pt>
    <dgm:pt modelId="{02AFB06C-9303-442F-A575-0CA44E1E21E1}" type="parTrans" cxnId="{443C77E4-DFF0-4A34-8CA4-362A5A9D21E9}">
      <dgm:prSet/>
      <dgm:spPr/>
      <dgm:t>
        <a:bodyPr/>
        <a:lstStyle/>
        <a:p>
          <a:endParaRPr lang="en-US">
            <a:ln>
              <a:noFill/>
            </a:ln>
            <a:solidFill>
              <a:srgbClr val="1E3A8A"/>
            </a:solidFill>
          </a:endParaRPr>
        </a:p>
      </dgm:t>
    </dgm:pt>
    <dgm:pt modelId="{E4BE87F0-EB62-4C4D-9121-63112B2B92ED}" type="sibTrans" cxnId="{443C77E4-DFF0-4A34-8CA4-362A5A9D21E9}">
      <dgm:prSet/>
      <dgm:spPr/>
      <dgm:t>
        <a:bodyPr/>
        <a:lstStyle/>
        <a:p>
          <a:endParaRPr lang="en-US">
            <a:ln>
              <a:noFill/>
            </a:ln>
            <a:solidFill>
              <a:srgbClr val="1E3A8A"/>
            </a:solidFill>
          </a:endParaRPr>
        </a:p>
      </dgm:t>
    </dgm:pt>
    <dgm:pt modelId="{351B7DE3-2871-428A-B493-28A73D9596E6}">
      <dgm:prSet custT="1"/>
      <dgm:spPr/>
      <dgm:t>
        <a:bodyPr/>
        <a:lstStyle/>
        <a:p>
          <a:r>
            <a:rPr lang="fr-FR" sz="1100" dirty="0">
              <a:ln>
                <a:noFill/>
              </a:ln>
              <a:solidFill>
                <a:srgbClr val="1E3A8A"/>
              </a:solidFill>
              <a:latin typeface="Arial Black" panose="020B0A04020102020204" pitchFamily="34" charset="0"/>
            </a:rPr>
            <a:t>Problématique et Objectifs</a:t>
          </a:r>
          <a:endParaRPr lang="en-US" sz="1100" dirty="0">
            <a:ln>
              <a:noFill/>
            </a:ln>
            <a:solidFill>
              <a:srgbClr val="1E3A8A"/>
            </a:solidFill>
            <a:latin typeface="Arial Black" panose="020B0A04020102020204" pitchFamily="34" charset="0"/>
          </a:endParaRPr>
        </a:p>
      </dgm:t>
    </dgm:pt>
    <dgm:pt modelId="{3FD326CB-8AA2-4CA7-B7D4-FE5BF306CB06}" type="parTrans" cxnId="{7A3CEEC0-3F46-4E63-B3DE-DA70845F0AF3}">
      <dgm:prSet/>
      <dgm:spPr/>
      <dgm:t>
        <a:bodyPr/>
        <a:lstStyle/>
        <a:p>
          <a:endParaRPr lang="en-US">
            <a:ln>
              <a:noFill/>
            </a:ln>
            <a:solidFill>
              <a:srgbClr val="1E3A8A"/>
            </a:solidFill>
          </a:endParaRPr>
        </a:p>
      </dgm:t>
    </dgm:pt>
    <dgm:pt modelId="{22B3DF08-EC3F-4EAA-B2A0-9B370BBD36FC}" type="sibTrans" cxnId="{7A3CEEC0-3F46-4E63-B3DE-DA70845F0AF3}">
      <dgm:prSet/>
      <dgm:spPr/>
      <dgm:t>
        <a:bodyPr/>
        <a:lstStyle/>
        <a:p>
          <a:endParaRPr lang="en-US">
            <a:ln>
              <a:noFill/>
            </a:ln>
            <a:solidFill>
              <a:srgbClr val="1E3A8A"/>
            </a:solidFill>
          </a:endParaRPr>
        </a:p>
      </dgm:t>
    </dgm:pt>
    <dgm:pt modelId="{02BD963B-BE51-4D85-B330-7B026DD7B14B}">
      <dgm:prSet custT="1"/>
      <dgm:spPr/>
      <dgm:t>
        <a:bodyPr/>
        <a:lstStyle/>
        <a:p>
          <a:r>
            <a:rPr lang="fr-FR" sz="1100">
              <a:ln>
                <a:noFill/>
              </a:ln>
              <a:solidFill>
                <a:srgbClr val="1E3A8A"/>
              </a:solidFill>
              <a:latin typeface="Arial Black" panose="020B0A04020102020204" pitchFamily="34" charset="0"/>
            </a:rPr>
            <a:t>Données utilisées</a:t>
          </a:r>
          <a:endParaRPr lang="en-US" sz="1100" dirty="0">
            <a:ln>
              <a:noFill/>
            </a:ln>
            <a:solidFill>
              <a:srgbClr val="1E3A8A"/>
            </a:solidFill>
            <a:latin typeface="Arial Black" panose="020B0A04020102020204" pitchFamily="34" charset="0"/>
          </a:endParaRPr>
        </a:p>
      </dgm:t>
    </dgm:pt>
    <dgm:pt modelId="{D6E07E83-0D7B-4BFB-862E-0090CBF4AB9B}" type="parTrans" cxnId="{040E03B5-8A55-41C7-883B-3F4196F378B4}">
      <dgm:prSet/>
      <dgm:spPr/>
      <dgm:t>
        <a:bodyPr/>
        <a:lstStyle/>
        <a:p>
          <a:endParaRPr lang="en-US">
            <a:ln>
              <a:noFill/>
            </a:ln>
            <a:solidFill>
              <a:srgbClr val="1E3A8A"/>
            </a:solidFill>
          </a:endParaRPr>
        </a:p>
      </dgm:t>
    </dgm:pt>
    <dgm:pt modelId="{7C2D10D1-641F-4996-93A4-AAAC30EE6284}" type="sibTrans" cxnId="{040E03B5-8A55-41C7-883B-3F4196F378B4}">
      <dgm:prSet/>
      <dgm:spPr/>
      <dgm:t>
        <a:bodyPr/>
        <a:lstStyle/>
        <a:p>
          <a:endParaRPr lang="en-US">
            <a:ln>
              <a:noFill/>
            </a:ln>
            <a:solidFill>
              <a:srgbClr val="1E3A8A"/>
            </a:solidFill>
          </a:endParaRPr>
        </a:p>
      </dgm:t>
    </dgm:pt>
    <dgm:pt modelId="{9B695816-1957-4E5A-8EFC-38728BB578EC}">
      <dgm:prSet custT="1"/>
      <dgm:spPr/>
      <dgm:t>
        <a:bodyPr/>
        <a:lstStyle/>
        <a:p>
          <a:r>
            <a:rPr lang="fr-FR" sz="1100" dirty="0">
              <a:ln>
                <a:noFill/>
              </a:ln>
              <a:solidFill>
                <a:srgbClr val="1E3A8A"/>
              </a:solidFill>
              <a:latin typeface="Arial Black" panose="020B0A04020102020204" pitchFamily="34" charset="0"/>
            </a:rPr>
            <a:t>Pipeline de traitement audio</a:t>
          </a:r>
          <a:endParaRPr lang="en-US" sz="1100" dirty="0">
            <a:ln>
              <a:noFill/>
            </a:ln>
            <a:solidFill>
              <a:srgbClr val="1E3A8A"/>
            </a:solidFill>
            <a:latin typeface="Arial Black" panose="020B0A04020102020204" pitchFamily="34" charset="0"/>
          </a:endParaRPr>
        </a:p>
      </dgm:t>
    </dgm:pt>
    <dgm:pt modelId="{A9E9BC18-50E8-4B9C-ADFA-57C4B9A36B37}" type="parTrans" cxnId="{D1F9232B-3686-4085-A9CD-8D36BD052CBC}">
      <dgm:prSet/>
      <dgm:spPr/>
      <dgm:t>
        <a:bodyPr/>
        <a:lstStyle/>
        <a:p>
          <a:endParaRPr lang="en-US">
            <a:ln>
              <a:noFill/>
            </a:ln>
            <a:solidFill>
              <a:srgbClr val="1E3A8A"/>
            </a:solidFill>
          </a:endParaRPr>
        </a:p>
      </dgm:t>
    </dgm:pt>
    <dgm:pt modelId="{F3713748-77D6-4C64-8F79-9793B9B30935}" type="sibTrans" cxnId="{D1F9232B-3686-4085-A9CD-8D36BD052CBC}">
      <dgm:prSet/>
      <dgm:spPr/>
      <dgm:t>
        <a:bodyPr/>
        <a:lstStyle/>
        <a:p>
          <a:endParaRPr lang="en-US">
            <a:ln>
              <a:noFill/>
            </a:ln>
            <a:solidFill>
              <a:srgbClr val="1E3A8A"/>
            </a:solidFill>
          </a:endParaRPr>
        </a:p>
      </dgm:t>
    </dgm:pt>
    <dgm:pt modelId="{06BF52ED-AD07-4A59-9EC6-B949D67769D2}">
      <dgm:prSet custT="1"/>
      <dgm:spPr/>
      <dgm:t>
        <a:bodyPr/>
        <a:lstStyle/>
        <a:p>
          <a:r>
            <a:rPr lang="fr-FR" sz="1100" dirty="0">
              <a:ln>
                <a:noFill/>
              </a:ln>
              <a:solidFill>
                <a:srgbClr val="1E3A8A"/>
              </a:solidFill>
              <a:latin typeface="Arial Black" panose="020B0A04020102020204" pitchFamily="34" charset="0"/>
            </a:rPr>
            <a:t>Architecture du modèle CNN-</a:t>
          </a:r>
          <a:r>
            <a:rPr lang="fr-FR" sz="1100" dirty="0" err="1">
              <a:ln>
                <a:noFill/>
              </a:ln>
              <a:solidFill>
                <a:srgbClr val="1E3A8A"/>
              </a:solidFill>
              <a:latin typeface="Arial Black" panose="020B0A04020102020204" pitchFamily="34" charset="0"/>
            </a:rPr>
            <a:t>BiLSTM</a:t>
          </a:r>
          <a:endParaRPr lang="en-US" sz="1100" dirty="0">
            <a:ln>
              <a:noFill/>
            </a:ln>
            <a:solidFill>
              <a:srgbClr val="1E3A8A"/>
            </a:solidFill>
            <a:latin typeface="Arial Black" panose="020B0A04020102020204" pitchFamily="34" charset="0"/>
          </a:endParaRPr>
        </a:p>
      </dgm:t>
    </dgm:pt>
    <dgm:pt modelId="{C04A6518-26F8-43DA-BA47-D320045D9C1D}" type="parTrans" cxnId="{911938E3-5E01-4EFC-81A8-05CB0F0A1857}">
      <dgm:prSet/>
      <dgm:spPr/>
      <dgm:t>
        <a:bodyPr/>
        <a:lstStyle/>
        <a:p>
          <a:endParaRPr lang="en-US">
            <a:ln>
              <a:noFill/>
            </a:ln>
            <a:solidFill>
              <a:srgbClr val="1E3A8A"/>
            </a:solidFill>
          </a:endParaRPr>
        </a:p>
      </dgm:t>
    </dgm:pt>
    <dgm:pt modelId="{F4DAF6F1-C959-4D14-A807-ABA9B71B2DF6}" type="sibTrans" cxnId="{911938E3-5E01-4EFC-81A8-05CB0F0A1857}">
      <dgm:prSet/>
      <dgm:spPr/>
      <dgm:t>
        <a:bodyPr/>
        <a:lstStyle/>
        <a:p>
          <a:endParaRPr lang="en-US">
            <a:ln>
              <a:noFill/>
            </a:ln>
            <a:solidFill>
              <a:srgbClr val="1E3A8A"/>
            </a:solidFill>
          </a:endParaRPr>
        </a:p>
      </dgm:t>
    </dgm:pt>
    <dgm:pt modelId="{89317BC2-BCED-45D0-9164-3F23AFF95B72}">
      <dgm:prSet custT="1"/>
      <dgm:spPr/>
      <dgm:t>
        <a:bodyPr/>
        <a:lstStyle/>
        <a:p>
          <a:r>
            <a:rPr lang="fr-FR" sz="1100">
              <a:ln>
                <a:noFill/>
              </a:ln>
              <a:solidFill>
                <a:srgbClr val="1E3A8A"/>
              </a:solidFill>
              <a:latin typeface="Arial Black" panose="020B0A04020102020204" pitchFamily="34" charset="0"/>
            </a:rPr>
            <a:t>Résultats obtenus</a:t>
          </a:r>
          <a:endParaRPr lang="en-US" sz="1100" dirty="0">
            <a:ln>
              <a:noFill/>
            </a:ln>
            <a:solidFill>
              <a:srgbClr val="1E3A8A"/>
            </a:solidFill>
            <a:latin typeface="Arial Black" panose="020B0A04020102020204" pitchFamily="34" charset="0"/>
          </a:endParaRPr>
        </a:p>
      </dgm:t>
    </dgm:pt>
    <dgm:pt modelId="{3B28DF86-C919-478B-A5F3-BA9027FE6436}" type="parTrans" cxnId="{88B112CC-97B0-4D2A-8B14-8973C97A3F8C}">
      <dgm:prSet/>
      <dgm:spPr/>
      <dgm:t>
        <a:bodyPr/>
        <a:lstStyle/>
        <a:p>
          <a:endParaRPr lang="en-US">
            <a:ln>
              <a:noFill/>
            </a:ln>
            <a:solidFill>
              <a:srgbClr val="1E3A8A"/>
            </a:solidFill>
          </a:endParaRPr>
        </a:p>
      </dgm:t>
    </dgm:pt>
    <dgm:pt modelId="{A755E977-4E61-4EA3-839A-9998D9E3D378}" type="sibTrans" cxnId="{88B112CC-97B0-4D2A-8B14-8973C97A3F8C}">
      <dgm:prSet/>
      <dgm:spPr/>
      <dgm:t>
        <a:bodyPr/>
        <a:lstStyle/>
        <a:p>
          <a:endParaRPr lang="en-US">
            <a:ln>
              <a:noFill/>
            </a:ln>
            <a:solidFill>
              <a:srgbClr val="1E3A8A"/>
            </a:solidFill>
          </a:endParaRPr>
        </a:p>
      </dgm:t>
    </dgm:pt>
    <dgm:pt modelId="{F932F56B-1B22-420B-913C-C3A9E38D3935}">
      <dgm:prSet custT="1"/>
      <dgm:spPr/>
      <dgm:t>
        <a:bodyPr/>
        <a:lstStyle/>
        <a:p>
          <a:r>
            <a:rPr lang="fr-FR" sz="1100">
              <a:ln>
                <a:noFill/>
              </a:ln>
              <a:solidFill>
                <a:srgbClr val="1E3A8A"/>
              </a:solidFill>
              <a:latin typeface="Arial Black" panose="020B0A04020102020204" pitchFamily="34" charset="0"/>
            </a:rPr>
            <a:t>Comparaison avec d’autres modèles</a:t>
          </a:r>
          <a:endParaRPr lang="en-US" sz="1100" dirty="0">
            <a:ln>
              <a:noFill/>
            </a:ln>
            <a:solidFill>
              <a:srgbClr val="1E3A8A"/>
            </a:solidFill>
            <a:latin typeface="Arial Black" panose="020B0A04020102020204" pitchFamily="34" charset="0"/>
          </a:endParaRPr>
        </a:p>
      </dgm:t>
    </dgm:pt>
    <dgm:pt modelId="{9D06F292-BC60-44E1-88F7-6BCE9D5E6006}" type="parTrans" cxnId="{CCC1B6C7-AE68-41CE-A86C-033CD6705279}">
      <dgm:prSet/>
      <dgm:spPr/>
      <dgm:t>
        <a:bodyPr/>
        <a:lstStyle/>
        <a:p>
          <a:endParaRPr lang="en-US">
            <a:ln>
              <a:noFill/>
            </a:ln>
            <a:solidFill>
              <a:srgbClr val="1E3A8A"/>
            </a:solidFill>
          </a:endParaRPr>
        </a:p>
      </dgm:t>
    </dgm:pt>
    <dgm:pt modelId="{62C28B74-EF42-4B58-8076-243C788B101A}" type="sibTrans" cxnId="{CCC1B6C7-AE68-41CE-A86C-033CD6705279}">
      <dgm:prSet/>
      <dgm:spPr/>
      <dgm:t>
        <a:bodyPr/>
        <a:lstStyle/>
        <a:p>
          <a:endParaRPr lang="en-US">
            <a:ln>
              <a:noFill/>
            </a:ln>
            <a:solidFill>
              <a:srgbClr val="1E3A8A"/>
            </a:solidFill>
          </a:endParaRPr>
        </a:p>
      </dgm:t>
    </dgm:pt>
    <dgm:pt modelId="{5BA591EC-FF84-411A-B5FB-8FE2F32C11DB}">
      <dgm:prSet custT="1"/>
      <dgm:spPr/>
      <dgm:t>
        <a:bodyPr/>
        <a:lstStyle/>
        <a:p>
          <a:r>
            <a:rPr lang="fr-FR" sz="1100" dirty="0">
              <a:ln>
                <a:noFill/>
              </a:ln>
              <a:solidFill>
                <a:srgbClr val="1E3A8A"/>
              </a:solidFill>
              <a:latin typeface="Arial Black" panose="020B0A04020102020204" pitchFamily="34" charset="0"/>
            </a:rPr>
            <a:t>Déploiement de l’application</a:t>
          </a:r>
          <a:endParaRPr lang="en-US" sz="1100" dirty="0">
            <a:ln>
              <a:noFill/>
            </a:ln>
            <a:solidFill>
              <a:srgbClr val="1E3A8A"/>
            </a:solidFill>
            <a:latin typeface="Arial Black" panose="020B0A04020102020204" pitchFamily="34" charset="0"/>
          </a:endParaRPr>
        </a:p>
      </dgm:t>
    </dgm:pt>
    <dgm:pt modelId="{E229C51C-4414-4EAB-A0B2-82736031C788}" type="parTrans" cxnId="{1D8368A4-7D40-4316-B012-8592890749CB}">
      <dgm:prSet/>
      <dgm:spPr/>
      <dgm:t>
        <a:bodyPr/>
        <a:lstStyle/>
        <a:p>
          <a:endParaRPr lang="en-US">
            <a:ln>
              <a:noFill/>
            </a:ln>
            <a:solidFill>
              <a:srgbClr val="1E3A8A"/>
            </a:solidFill>
          </a:endParaRPr>
        </a:p>
      </dgm:t>
    </dgm:pt>
    <dgm:pt modelId="{B47DB41A-FF38-4416-BEF6-534CB788A0CC}" type="sibTrans" cxnId="{1D8368A4-7D40-4316-B012-8592890749CB}">
      <dgm:prSet/>
      <dgm:spPr/>
      <dgm:t>
        <a:bodyPr/>
        <a:lstStyle/>
        <a:p>
          <a:endParaRPr lang="en-US">
            <a:ln>
              <a:noFill/>
            </a:ln>
            <a:solidFill>
              <a:srgbClr val="1E3A8A"/>
            </a:solidFill>
          </a:endParaRPr>
        </a:p>
      </dgm:t>
    </dgm:pt>
    <dgm:pt modelId="{82381B6A-4949-4401-9154-4B4E44A2E739}">
      <dgm:prSet custT="1"/>
      <dgm:spPr/>
      <dgm:t>
        <a:bodyPr/>
        <a:lstStyle/>
        <a:p>
          <a:r>
            <a:rPr lang="fr-FR" sz="1100" dirty="0">
              <a:ln>
                <a:noFill/>
              </a:ln>
              <a:solidFill>
                <a:srgbClr val="1E3A8A"/>
              </a:solidFill>
              <a:latin typeface="Arial Black" panose="020B0A04020102020204" pitchFamily="34" charset="0"/>
            </a:rPr>
            <a:t>Conclusion et perspectives</a:t>
          </a:r>
          <a:endParaRPr lang="en-US" sz="1100" dirty="0">
            <a:ln>
              <a:noFill/>
            </a:ln>
            <a:solidFill>
              <a:srgbClr val="1E3A8A"/>
            </a:solidFill>
            <a:latin typeface="Arial Black" panose="020B0A04020102020204" pitchFamily="34" charset="0"/>
          </a:endParaRPr>
        </a:p>
      </dgm:t>
    </dgm:pt>
    <dgm:pt modelId="{4C608BFB-2ADA-4B57-9A53-5A4C429E790F}" type="parTrans" cxnId="{3C616D96-147E-4168-8395-A7577F496FFE}">
      <dgm:prSet/>
      <dgm:spPr/>
      <dgm:t>
        <a:bodyPr/>
        <a:lstStyle/>
        <a:p>
          <a:endParaRPr lang="en-US">
            <a:ln>
              <a:noFill/>
            </a:ln>
            <a:solidFill>
              <a:srgbClr val="1E3A8A"/>
            </a:solidFill>
          </a:endParaRPr>
        </a:p>
      </dgm:t>
    </dgm:pt>
    <dgm:pt modelId="{B86D1B48-0147-4512-B07F-AD4E008F81D7}" type="sibTrans" cxnId="{3C616D96-147E-4168-8395-A7577F496FFE}">
      <dgm:prSet/>
      <dgm:spPr/>
      <dgm:t>
        <a:bodyPr/>
        <a:lstStyle/>
        <a:p>
          <a:endParaRPr lang="en-US">
            <a:ln>
              <a:noFill/>
            </a:ln>
            <a:solidFill>
              <a:srgbClr val="1E3A8A"/>
            </a:solidFill>
          </a:endParaRPr>
        </a:p>
      </dgm:t>
    </dgm:pt>
    <dgm:pt modelId="{110A6B50-C486-4F47-8677-1BCBF9DB0E75}" type="pres">
      <dgm:prSet presAssocID="{E4C15AF7-8696-4D24-BA09-0D14D4E1F058}" presName="Name0" presStyleCnt="0">
        <dgm:presLayoutVars>
          <dgm:dir/>
          <dgm:resizeHandles val="exact"/>
        </dgm:presLayoutVars>
      </dgm:prSet>
      <dgm:spPr/>
    </dgm:pt>
    <dgm:pt modelId="{F61B32D9-A89E-4B3F-9776-4CC196B6DD96}" type="pres">
      <dgm:prSet presAssocID="{E4C15AF7-8696-4D24-BA09-0D14D4E1F058}" presName="arrow" presStyleLbl="bgShp" presStyleIdx="0" presStyleCnt="1"/>
      <dgm:spPr/>
    </dgm:pt>
    <dgm:pt modelId="{A45F2CA6-CE7D-42E1-AB70-903F48C7902C}" type="pres">
      <dgm:prSet presAssocID="{E4C15AF7-8696-4D24-BA09-0D14D4E1F058}" presName="points" presStyleCnt="0"/>
      <dgm:spPr/>
    </dgm:pt>
    <dgm:pt modelId="{ACE54BEC-F537-479F-8AE8-16CE07D7EB31}" type="pres">
      <dgm:prSet presAssocID="{2E483917-3574-4BE9-AF23-D5D5041AE4B6}" presName="compositeA" presStyleCnt="0"/>
      <dgm:spPr/>
    </dgm:pt>
    <dgm:pt modelId="{A247D67B-82A4-4CF0-A703-5138DB86AC31}" type="pres">
      <dgm:prSet presAssocID="{2E483917-3574-4BE9-AF23-D5D5041AE4B6}" presName="textA" presStyleLbl="revTx" presStyleIdx="0" presStyleCnt="9" custScaleX="125497">
        <dgm:presLayoutVars>
          <dgm:bulletEnabled val="1"/>
        </dgm:presLayoutVars>
      </dgm:prSet>
      <dgm:spPr/>
    </dgm:pt>
    <dgm:pt modelId="{93EF1AB2-5EDB-48DA-B563-8D7D061064D1}" type="pres">
      <dgm:prSet presAssocID="{2E483917-3574-4BE9-AF23-D5D5041AE4B6}" presName="circleA" presStyleLbl="node1" presStyleIdx="0" presStyleCnt="9"/>
      <dgm:spPr/>
    </dgm:pt>
    <dgm:pt modelId="{E1EEDB0C-8851-4227-8A82-D81A5E422B5E}" type="pres">
      <dgm:prSet presAssocID="{2E483917-3574-4BE9-AF23-D5D5041AE4B6}" presName="spaceA" presStyleCnt="0"/>
      <dgm:spPr/>
    </dgm:pt>
    <dgm:pt modelId="{A2E46037-83F2-46EA-87D9-92BF47F1F3A7}" type="pres">
      <dgm:prSet presAssocID="{E4BE87F0-EB62-4C4D-9121-63112B2B92ED}" presName="space" presStyleCnt="0"/>
      <dgm:spPr/>
    </dgm:pt>
    <dgm:pt modelId="{F4B9F43F-1298-438A-8A67-5C2F32EDFACA}" type="pres">
      <dgm:prSet presAssocID="{351B7DE3-2871-428A-B493-28A73D9596E6}" presName="compositeB" presStyleCnt="0"/>
      <dgm:spPr/>
    </dgm:pt>
    <dgm:pt modelId="{938B7942-8BD3-4899-8A74-6DE5B2266BAE}" type="pres">
      <dgm:prSet presAssocID="{351B7DE3-2871-428A-B493-28A73D9596E6}" presName="textB" presStyleLbl="revTx" presStyleIdx="1" presStyleCnt="9" custScaleX="127354">
        <dgm:presLayoutVars>
          <dgm:bulletEnabled val="1"/>
        </dgm:presLayoutVars>
      </dgm:prSet>
      <dgm:spPr/>
    </dgm:pt>
    <dgm:pt modelId="{5AF6B1D5-3ADA-48DE-9127-5F895F9E3FAE}" type="pres">
      <dgm:prSet presAssocID="{351B7DE3-2871-428A-B493-28A73D9596E6}" presName="circleB" presStyleLbl="node1" presStyleIdx="1" presStyleCnt="9"/>
      <dgm:spPr/>
    </dgm:pt>
    <dgm:pt modelId="{7E848BFF-D754-4F28-9D47-316340A6508B}" type="pres">
      <dgm:prSet presAssocID="{351B7DE3-2871-428A-B493-28A73D9596E6}" presName="spaceB" presStyleCnt="0"/>
      <dgm:spPr/>
    </dgm:pt>
    <dgm:pt modelId="{B3C3F00A-290D-4CA4-A252-E41FDAE98634}" type="pres">
      <dgm:prSet presAssocID="{22B3DF08-EC3F-4EAA-B2A0-9B370BBD36FC}" presName="space" presStyleCnt="0"/>
      <dgm:spPr/>
    </dgm:pt>
    <dgm:pt modelId="{4D58ACC7-42BD-4465-A50A-2929CD71081E}" type="pres">
      <dgm:prSet presAssocID="{02BD963B-BE51-4D85-B330-7B026DD7B14B}" presName="compositeA" presStyleCnt="0"/>
      <dgm:spPr/>
    </dgm:pt>
    <dgm:pt modelId="{A8EC8ECD-7E88-4A88-942C-7D2D8E0F6D11}" type="pres">
      <dgm:prSet presAssocID="{02BD963B-BE51-4D85-B330-7B026DD7B14B}" presName="textA" presStyleLbl="revTx" presStyleIdx="2" presStyleCnt="9">
        <dgm:presLayoutVars>
          <dgm:bulletEnabled val="1"/>
        </dgm:presLayoutVars>
      </dgm:prSet>
      <dgm:spPr/>
    </dgm:pt>
    <dgm:pt modelId="{CD945DFE-0DE9-4526-85C1-4FF1A7680912}" type="pres">
      <dgm:prSet presAssocID="{02BD963B-BE51-4D85-B330-7B026DD7B14B}" presName="circleA" presStyleLbl="node1" presStyleIdx="2" presStyleCnt="9"/>
      <dgm:spPr/>
    </dgm:pt>
    <dgm:pt modelId="{E0ABE6F7-17C2-48B0-9C41-BD64BBD3FCCF}" type="pres">
      <dgm:prSet presAssocID="{02BD963B-BE51-4D85-B330-7B026DD7B14B}" presName="spaceA" presStyleCnt="0"/>
      <dgm:spPr/>
    </dgm:pt>
    <dgm:pt modelId="{DAFC43D2-42AE-4F16-BC9F-3246F219230F}" type="pres">
      <dgm:prSet presAssocID="{7C2D10D1-641F-4996-93A4-AAAC30EE6284}" presName="space" presStyleCnt="0"/>
      <dgm:spPr/>
    </dgm:pt>
    <dgm:pt modelId="{7BA8C63A-D8D9-4C4D-BA5F-B580016B1CD2}" type="pres">
      <dgm:prSet presAssocID="{9B695816-1957-4E5A-8EFC-38728BB578EC}" presName="compositeB" presStyleCnt="0"/>
      <dgm:spPr/>
    </dgm:pt>
    <dgm:pt modelId="{109DA40E-D478-4E33-A324-CA0894DD717B}" type="pres">
      <dgm:prSet presAssocID="{9B695816-1957-4E5A-8EFC-38728BB578EC}" presName="textB" presStyleLbl="revTx" presStyleIdx="3" presStyleCnt="9">
        <dgm:presLayoutVars>
          <dgm:bulletEnabled val="1"/>
        </dgm:presLayoutVars>
      </dgm:prSet>
      <dgm:spPr/>
    </dgm:pt>
    <dgm:pt modelId="{221D7BCD-AF80-47C4-A38A-F16DE147ED7E}" type="pres">
      <dgm:prSet presAssocID="{9B695816-1957-4E5A-8EFC-38728BB578EC}" presName="circleB" presStyleLbl="node1" presStyleIdx="3" presStyleCnt="9"/>
      <dgm:spPr/>
    </dgm:pt>
    <dgm:pt modelId="{4FCAE31E-1353-464A-B878-FCCE3C1EB2A4}" type="pres">
      <dgm:prSet presAssocID="{9B695816-1957-4E5A-8EFC-38728BB578EC}" presName="spaceB" presStyleCnt="0"/>
      <dgm:spPr/>
    </dgm:pt>
    <dgm:pt modelId="{63D8E222-3190-4F25-8480-0E82D1CCD33F}" type="pres">
      <dgm:prSet presAssocID="{F3713748-77D6-4C64-8F79-9793B9B30935}" presName="space" presStyleCnt="0"/>
      <dgm:spPr/>
    </dgm:pt>
    <dgm:pt modelId="{E9AAD1A7-7036-4BAE-9268-0FF38D304126}" type="pres">
      <dgm:prSet presAssocID="{06BF52ED-AD07-4A59-9EC6-B949D67769D2}" presName="compositeA" presStyleCnt="0"/>
      <dgm:spPr/>
    </dgm:pt>
    <dgm:pt modelId="{809EF77C-5817-4066-A391-88FB2EB824EB}" type="pres">
      <dgm:prSet presAssocID="{06BF52ED-AD07-4A59-9EC6-B949D67769D2}" presName="textA" presStyleLbl="revTx" presStyleIdx="4" presStyleCnt="9" custScaleX="119563">
        <dgm:presLayoutVars>
          <dgm:bulletEnabled val="1"/>
        </dgm:presLayoutVars>
      </dgm:prSet>
      <dgm:spPr/>
    </dgm:pt>
    <dgm:pt modelId="{A555E792-2E8B-45D6-8F06-589A65546603}" type="pres">
      <dgm:prSet presAssocID="{06BF52ED-AD07-4A59-9EC6-B949D67769D2}" presName="circleA" presStyleLbl="node1" presStyleIdx="4" presStyleCnt="9"/>
      <dgm:spPr/>
    </dgm:pt>
    <dgm:pt modelId="{0898E501-3921-481E-A29C-8F1CE135ED2C}" type="pres">
      <dgm:prSet presAssocID="{06BF52ED-AD07-4A59-9EC6-B949D67769D2}" presName="spaceA" presStyleCnt="0"/>
      <dgm:spPr/>
    </dgm:pt>
    <dgm:pt modelId="{74EE8C51-1528-4E32-A135-5E09C129A92B}" type="pres">
      <dgm:prSet presAssocID="{F4DAF6F1-C959-4D14-A807-ABA9B71B2DF6}" presName="space" presStyleCnt="0"/>
      <dgm:spPr/>
    </dgm:pt>
    <dgm:pt modelId="{A6F56E23-F365-4897-B6D3-89A5EA1A8024}" type="pres">
      <dgm:prSet presAssocID="{89317BC2-BCED-45D0-9164-3F23AFF95B72}" presName="compositeB" presStyleCnt="0"/>
      <dgm:spPr/>
    </dgm:pt>
    <dgm:pt modelId="{2D9839BE-49B5-45AB-B1AC-E287CF0D23CD}" type="pres">
      <dgm:prSet presAssocID="{89317BC2-BCED-45D0-9164-3F23AFF95B72}" presName="textB" presStyleLbl="revTx" presStyleIdx="5" presStyleCnt="9">
        <dgm:presLayoutVars>
          <dgm:bulletEnabled val="1"/>
        </dgm:presLayoutVars>
      </dgm:prSet>
      <dgm:spPr/>
    </dgm:pt>
    <dgm:pt modelId="{175FE7E8-0DC0-4D15-A985-1B4E546E20F8}" type="pres">
      <dgm:prSet presAssocID="{89317BC2-BCED-45D0-9164-3F23AFF95B72}" presName="circleB" presStyleLbl="node1" presStyleIdx="5" presStyleCnt="9"/>
      <dgm:spPr/>
    </dgm:pt>
    <dgm:pt modelId="{2664A79E-4964-4F6D-9896-477B05401A29}" type="pres">
      <dgm:prSet presAssocID="{89317BC2-BCED-45D0-9164-3F23AFF95B72}" presName="spaceB" presStyleCnt="0"/>
      <dgm:spPr/>
    </dgm:pt>
    <dgm:pt modelId="{EB1A0BB1-9744-4E20-8D89-956BD32FBB88}" type="pres">
      <dgm:prSet presAssocID="{A755E977-4E61-4EA3-839A-9998D9E3D378}" presName="space" presStyleCnt="0"/>
      <dgm:spPr/>
    </dgm:pt>
    <dgm:pt modelId="{D9530CA6-16C8-4D29-9CC8-CAD5A2CF9BFA}" type="pres">
      <dgm:prSet presAssocID="{F932F56B-1B22-420B-913C-C3A9E38D3935}" presName="compositeA" presStyleCnt="0"/>
      <dgm:spPr/>
    </dgm:pt>
    <dgm:pt modelId="{B88F7867-94FE-43F5-AD6D-1FD0684BE705}" type="pres">
      <dgm:prSet presAssocID="{F932F56B-1B22-420B-913C-C3A9E38D3935}" presName="textA" presStyleLbl="revTx" presStyleIdx="6" presStyleCnt="9" custScaleX="115886">
        <dgm:presLayoutVars>
          <dgm:bulletEnabled val="1"/>
        </dgm:presLayoutVars>
      </dgm:prSet>
      <dgm:spPr/>
    </dgm:pt>
    <dgm:pt modelId="{EFB30698-CCAE-4361-B636-6887F15945F1}" type="pres">
      <dgm:prSet presAssocID="{F932F56B-1B22-420B-913C-C3A9E38D3935}" presName="circleA" presStyleLbl="node1" presStyleIdx="6" presStyleCnt="9"/>
      <dgm:spPr/>
    </dgm:pt>
    <dgm:pt modelId="{E8C79FEA-F2BC-443D-ADAD-056301780F68}" type="pres">
      <dgm:prSet presAssocID="{F932F56B-1B22-420B-913C-C3A9E38D3935}" presName="spaceA" presStyleCnt="0"/>
      <dgm:spPr/>
    </dgm:pt>
    <dgm:pt modelId="{B7DBF3FA-2DDA-448B-A58E-2BB7E2C3B847}" type="pres">
      <dgm:prSet presAssocID="{62C28B74-EF42-4B58-8076-243C788B101A}" presName="space" presStyleCnt="0"/>
      <dgm:spPr/>
    </dgm:pt>
    <dgm:pt modelId="{A77C0B04-934C-47D0-8A50-B7748D46EA5E}" type="pres">
      <dgm:prSet presAssocID="{5BA591EC-FF84-411A-B5FB-8FE2F32C11DB}" presName="compositeB" presStyleCnt="0"/>
      <dgm:spPr/>
    </dgm:pt>
    <dgm:pt modelId="{F03F5808-11C5-42AA-9A3F-97D153CF08E7}" type="pres">
      <dgm:prSet presAssocID="{5BA591EC-FF84-411A-B5FB-8FE2F32C11DB}" presName="textB" presStyleLbl="revTx" presStyleIdx="7" presStyleCnt="9" custScaleX="111894">
        <dgm:presLayoutVars>
          <dgm:bulletEnabled val="1"/>
        </dgm:presLayoutVars>
      </dgm:prSet>
      <dgm:spPr/>
    </dgm:pt>
    <dgm:pt modelId="{30FCF771-D2F5-4B5F-97C2-8BA06105AEDB}" type="pres">
      <dgm:prSet presAssocID="{5BA591EC-FF84-411A-B5FB-8FE2F32C11DB}" presName="circleB" presStyleLbl="node1" presStyleIdx="7" presStyleCnt="9"/>
      <dgm:spPr/>
    </dgm:pt>
    <dgm:pt modelId="{E79B1736-C23F-48AE-A011-D28692481696}" type="pres">
      <dgm:prSet presAssocID="{5BA591EC-FF84-411A-B5FB-8FE2F32C11DB}" presName="spaceB" presStyleCnt="0"/>
      <dgm:spPr/>
    </dgm:pt>
    <dgm:pt modelId="{1E1DC76D-A6AC-4C1B-AFDD-4EA1E5F8553C}" type="pres">
      <dgm:prSet presAssocID="{B47DB41A-FF38-4416-BEF6-534CB788A0CC}" presName="space" presStyleCnt="0"/>
      <dgm:spPr/>
    </dgm:pt>
    <dgm:pt modelId="{54E0B3F0-D693-4306-B3CF-6ECFE7B4D1CB}" type="pres">
      <dgm:prSet presAssocID="{82381B6A-4949-4401-9154-4B4E44A2E739}" presName="compositeA" presStyleCnt="0"/>
      <dgm:spPr/>
    </dgm:pt>
    <dgm:pt modelId="{EF71A8A1-B8ED-47E7-B652-988789A29139}" type="pres">
      <dgm:prSet presAssocID="{82381B6A-4949-4401-9154-4B4E44A2E739}" presName="textA" presStyleLbl="revTx" presStyleIdx="8" presStyleCnt="9" custScaleX="130579">
        <dgm:presLayoutVars>
          <dgm:bulletEnabled val="1"/>
        </dgm:presLayoutVars>
      </dgm:prSet>
      <dgm:spPr/>
    </dgm:pt>
    <dgm:pt modelId="{DA9BA519-44A0-4F9D-A7A6-2BAA8E121E57}" type="pres">
      <dgm:prSet presAssocID="{82381B6A-4949-4401-9154-4B4E44A2E739}" presName="circleA" presStyleLbl="node1" presStyleIdx="8" presStyleCnt="9"/>
      <dgm:spPr/>
    </dgm:pt>
    <dgm:pt modelId="{E21DF228-2CEC-43A7-9F25-7AC8A78E6440}" type="pres">
      <dgm:prSet presAssocID="{82381B6A-4949-4401-9154-4B4E44A2E739}" presName="spaceA" presStyleCnt="0"/>
      <dgm:spPr/>
    </dgm:pt>
  </dgm:ptLst>
  <dgm:cxnLst>
    <dgm:cxn modelId="{44D2410B-7726-477D-9F12-A423D88B5E60}" type="presOf" srcId="{351B7DE3-2871-428A-B493-28A73D9596E6}" destId="{938B7942-8BD3-4899-8A74-6DE5B2266BAE}" srcOrd="0" destOrd="0" presId="urn:microsoft.com/office/officeart/2005/8/layout/hProcess11"/>
    <dgm:cxn modelId="{1D8DA815-484A-44B5-8A66-F6934F93AF09}" type="presOf" srcId="{F932F56B-1B22-420B-913C-C3A9E38D3935}" destId="{B88F7867-94FE-43F5-AD6D-1FD0684BE705}" srcOrd="0" destOrd="0" presId="urn:microsoft.com/office/officeart/2005/8/layout/hProcess11"/>
    <dgm:cxn modelId="{EF39B41E-24A4-49F1-9200-A04844782691}" type="presOf" srcId="{82381B6A-4949-4401-9154-4B4E44A2E739}" destId="{EF71A8A1-B8ED-47E7-B652-988789A29139}" srcOrd="0" destOrd="0" presId="urn:microsoft.com/office/officeart/2005/8/layout/hProcess11"/>
    <dgm:cxn modelId="{D1F9232B-3686-4085-A9CD-8D36BD052CBC}" srcId="{E4C15AF7-8696-4D24-BA09-0D14D4E1F058}" destId="{9B695816-1957-4E5A-8EFC-38728BB578EC}" srcOrd="3" destOrd="0" parTransId="{A9E9BC18-50E8-4B9C-ADFA-57C4B9A36B37}" sibTransId="{F3713748-77D6-4C64-8F79-9793B9B30935}"/>
    <dgm:cxn modelId="{A7236565-8C5A-40EB-91D7-114B9BB9FE8C}" type="presOf" srcId="{02BD963B-BE51-4D85-B330-7B026DD7B14B}" destId="{A8EC8ECD-7E88-4A88-942C-7D2D8E0F6D11}" srcOrd="0" destOrd="0" presId="urn:microsoft.com/office/officeart/2005/8/layout/hProcess11"/>
    <dgm:cxn modelId="{23E5584F-6C3A-4913-9406-823251E83829}" type="presOf" srcId="{9B695816-1957-4E5A-8EFC-38728BB578EC}" destId="{109DA40E-D478-4E33-A324-CA0894DD717B}" srcOrd="0" destOrd="0" presId="urn:microsoft.com/office/officeart/2005/8/layout/hProcess11"/>
    <dgm:cxn modelId="{BB737C77-E378-4A19-BB0D-5DE239BBB27D}" type="presOf" srcId="{E4C15AF7-8696-4D24-BA09-0D14D4E1F058}" destId="{110A6B50-C486-4F47-8677-1BCBF9DB0E75}" srcOrd="0" destOrd="0" presId="urn:microsoft.com/office/officeart/2005/8/layout/hProcess11"/>
    <dgm:cxn modelId="{3C616D96-147E-4168-8395-A7577F496FFE}" srcId="{E4C15AF7-8696-4D24-BA09-0D14D4E1F058}" destId="{82381B6A-4949-4401-9154-4B4E44A2E739}" srcOrd="8" destOrd="0" parTransId="{4C608BFB-2ADA-4B57-9A53-5A4C429E790F}" sibTransId="{B86D1B48-0147-4512-B07F-AD4E008F81D7}"/>
    <dgm:cxn modelId="{D3CE8E97-FC16-47DC-B463-C39A3DB1FB7D}" type="presOf" srcId="{2E483917-3574-4BE9-AF23-D5D5041AE4B6}" destId="{A247D67B-82A4-4CF0-A703-5138DB86AC31}" srcOrd="0" destOrd="0" presId="urn:microsoft.com/office/officeart/2005/8/layout/hProcess11"/>
    <dgm:cxn modelId="{1D8368A4-7D40-4316-B012-8592890749CB}" srcId="{E4C15AF7-8696-4D24-BA09-0D14D4E1F058}" destId="{5BA591EC-FF84-411A-B5FB-8FE2F32C11DB}" srcOrd="7" destOrd="0" parTransId="{E229C51C-4414-4EAB-A0B2-82736031C788}" sibTransId="{B47DB41A-FF38-4416-BEF6-534CB788A0CC}"/>
    <dgm:cxn modelId="{1649BDAA-E81B-4FD6-BCFD-633E6743A87F}" type="presOf" srcId="{06BF52ED-AD07-4A59-9EC6-B949D67769D2}" destId="{809EF77C-5817-4066-A391-88FB2EB824EB}" srcOrd="0" destOrd="0" presId="urn:microsoft.com/office/officeart/2005/8/layout/hProcess11"/>
    <dgm:cxn modelId="{040E03B5-8A55-41C7-883B-3F4196F378B4}" srcId="{E4C15AF7-8696-4D24-BA09-0D14D4E1F058}" destId="{02BD963B-BE51-4D85-B330-7B026DD7B14B}" srcOrd="2" destOrd="0" parTransId="{D6E07E83-0D7B-4BFB-862E-0090CBF4AB9B}" sibTransId="{7C2D10D1-641F-4996-93A4-AAAC30EE6284}"/>
    <dgm:cxn modelId="{7A3CEEC0-3F46-4E63-B3DE-DA70845F0AF3}" srcId="{E4C15AF7-8696-4D24-BA09-0D14D4E1F058}" destId="{351B7DE3-2871-428A-B493-28A73D9596E6}" srcOrd="1" destOrd="0" parTransId="{3FD326CB-8AA2-4CA7-B7D4-FE5BF306CB06}" sibTransId="{22B3DF08-EC3F-4EAA-B2A0-9B370BBD36FC}"/>
    <dgm:cxn modelId="{CCC1B6C7-AE68-41CE-A86C-033CD6705279}" srcId="{E4C15AF7-8696-4D24-BA09-0D14D4E1F058}" destId="{F932F56B-1B22-420B-913C-C3A9E38D3935}" srcOrd="6" destOrd="0" parTransId="{9D06F292-BC60-44E1-88F7-6BCE9D5E6006}" sibTransId="{62C28B74-EF42-4B58-8076-243C788B101A}"/>
    <dgm:cxn modelId="{087B8BC8-69AC-4A75-9D14-B39F4E14170C}" type="presOf" srcId="{89317BC2-BCED-45D0-9164-3F23AFF95B72}" destId="{2D9839BE-49B5-45AB-B1AC-E287CF0D23CD}" srcOrd="0" destOrd="0" presId="urn:microsoft.com/office/officeart/2005/8/layout/hProcess11"/>
    <dgm:cxn modelId="{88B112CC-97B0-4D2A-8B14-8973C97A3F8C}" srcId="{E4C15AF7-8696-4D24-BA09-0D14D4E1F058}" destId="{89317BC2-BCED-45D0-9164-3F23AFF95B72}" srcOrd="5" destOrd="0" parTransId="{3B28DF86-C919-478B-A5F3-BA9027FE6436}" sibTransId="{A755E977-4E61-4EA3-839A-9998D9E3D378}"/>
    <dgm:cxn modelId="{911938E3-5E01-4EFC-81A8-05CB0F0A1857}" srcId="{E4C15AF7-8696-4D24-BA09-0D14D4E1F058}" destId="{06BF52ED-AD07-4A59-9EC6-B949D67769D2}" srcOrd="4" destOrd="0" parTransId="{C04A6518-26F8-43DA-BA47-D320045D9C1D}" sibTransId="{F4DAF6F1-C959-4D14-A807-ABA9B71B2DF6}"/>
    <dgm:cxn modelId="{443C77E4-DFF0-4A34-8CA4-362A5A9D21E9}" srcId="{E4C15AF7-8696-4D24-BA09-0D14D4E1F058}" destId="{2E483917-3574-4BE9-AF23-D5D5041AE4B6}" srcOrd="0" destOrd="0" parTransId="{02AFB06C-9303-442F-A575-0CA44E1E21E1}" sibTransId="{E4BE87F0-EB62-4C4D-9121-63112B2B92ED}"/>
    <dgm:cxn modelId="{FB1BB8EE-904C-4450-9C20-C01CB2D87F78}" type="presOf" srcId="{5BA591EC-FF84-411A-B5FB-8FE2F32C11DB}" destId="{F03F5808-11C5-42AA-9A3F-97D153CF08E7}" srcOrd="0" destOrd="0" presId="urn:microsoft.com/office/officeart/2005/8/layout/hProcess11"/>
    <dgm:cxn modelId="{F931C762-891A-4114-8C2F-83616B98D2D2}" type="presParOf" srcId="{110A6B50-C486-4F47-8677-1BCBF9DB0E75}" destId="{F61B32D9-A89E-4B3F-9776-4CC196B6DD96}" srcOrd="0" destOrd="0" presId="urn:microsoft.com/office/officeart/2005/8/layout/hProcess11"/>
    <dgm:cxn modelId="{351C8100-8E64-437D-819A-897BFEB35BAF}" type="presParOf" srcId="{110A6B50-C486-4F47-8677-1BCBF9DB0E75}" destId="{A45F2CA6-CE7D-42E1-AB70-903F48C7902C}" srcOrd="1" destOrd="0" presId="urn:microsoft.com/office/officeart/2005/8/layout/hProcess11"/>
    <dgm:cxn modelId="{C078209C-681D-4BD1-8DD6-168FF696F5D5}" type="presParOf" srcId="{A45F2CA6-CE7D-42E1-AB70-903F48C7902C}" destId="{ACE54BEC-F537-479F-8AE8-16CE07D7EB31}" srcOrd="0" destOrd="0" presId="urn:microsoft.com/office/officeart/2005/8/layout/hProcess11"/>
    <dgm:cxn modelId="{F27CF3C1-D8A8-4B02-A047-43A47B4923C8}" type="presParOf" srcId="{ACE54BEC-F537-479F-8AE8-16CE07D7EB31}" destId="{A247D67B-82A4-4CF0-A703-5138DB86AC31}" srcOrd="0" destOrd="0" presId="urn:microsoft.com/office/officeart/2005/8/layout/hProcess11"/>
    <dgm:cxn modelId="{10008232-0066-46F2-AAE9-686469F76B07}" type="presParOf" srcId="{ACE54BEC-F537-479F-8AE8-16CE07D7EB31}" destId="{93EF1AB2-5EDB-48DA-B563-8D7D061064D1}" srcOrd="1" destOrd="0" presId="urn:microsoft.com/office/officeart/2005/8/layout/hProcess11"/>
    <dgm:cxn modelId="{02D60E50-D085-4CA1-9EB6-8A8D9D769216}" type="presParOf" srcId="{ACE54BEC-F537-479F-8AE8-16CE07D7EB31}" destId="{E1EEDB0C-8851-4227-8A82-D81A5E422B5E}" srcOrd="2" destOrd="0" presId="urn:microsoft.com/office/officeart/2005/8/layout/hProcess11"/>
    <dgm:cxn modelId="{9544A05C-2700-4DBF-8A46-273242DF1E7D}" type="presParOf" srcId="{A45F2CA6-CE7D-42E1-AB70-903F48C7902C}" destId="{A2E46037-83F2-46EA-87D9-92BF47F1F3A7}" srcOrd="1" destOrd="0" presId="urn:microsoft.com/office/officeart/2005/8/layout/hProcess11"/>
    <dgm:cxn modelId="{A18684D6-5812-49C6-821F-D2716A0B8A65}" type="presParOf" srcId="{A45F2CA6-CE7D-42E1-AB70-903F48C7902C}" destId="{F4B9F43F-1298-438A-8A67-5C2F32EDFACA}" srcOrd="2" destOrd="0" presId="urn:microsoft.com/office/officeart/2005/8/layout/hProcess11"/>
    <dgm:cxn modelId="{377D7166-B5D5-4192-B79D-870A9FE36EB6}" type="presParOf" srcId="{F4B9F43F-1298-438A-8A67-5C2F32EDFACA}" destId="{938B7942-8BD3-4899-8A74-6DE5B2266BAE}" srcOrd="0" destOrd="0" presId="urn:microsoft.com/office/officeart/2005/8/layout/hProcess11"/>
    <dgm:cxn modelId="{47016E85-7576-417B-940E-D0B858D963B6}" type="presParOf" srcId="{F4B9F43F-1298-438A-8A67-5C2F32EDFACA}" destId="{5AF6B1D5-3ADA-48DE-9127-5F895F9E3FAE}" srcOrd="1" destOrd="0" presId="urn:microsoft.com/office/officeart/2005/8/layout/hProcess11"/>
    <dgm:cxn modelId="{8EDE4958-6D4E-4985-942F-8DDA0649E93C}" type="presParOf" srcId="{F4B9F43F-1298-438A-8A67-5C2F32EDFACA}" destId="{7E848BFF-D754-4F28-9D47-316340A6508B}" srcOrd="2" destOrd="0" presId="urn:microsoft.com/office/officeart/2005/8/layout/hProcess11"/>
    <dgm:cxn modelId="{2D10775A-4FCB-45EC-9C6A-F371E45861A8}" type="presParOf" srcId="{A45F2CA6-CE7D-42E1-AB70-903F48C7902C}" destId="{B3C3F00A-290D-4CA4-A252-E41FDAE98634}" srcOrd="3" destOrd="0" presId="urn:microsoft.com/office/officeart/2005/8/layout/hProcess11"/>
    <dgm:cxn modelId="{EF476931-E31C-42A1-8C34-B11478E86535}" type="presParOf" srcId="{A45F2CA6-CE7D-42E1-AB70-903F48C7902C}" destId="{4D58ACC7-42BD-4465-A50A-2929CD71081E}" srcOrd="4" destOrd="0" presId="urn:microsoft.com/office/officeart/2005/8/layout/hProcess11"/>
    <dgm:cxn modelId="{2546C2D3-CB9D-481B-8BD2-5133154C8834}" type="presParOf" srcId="{4D58ACC7-42BD-4465-A50A-2929CD71081E}" destId="{A8EC8ECD-7E88-4A88-942C-7D2D8E0F6D11}" srcOrd="0" destOrd="0" presId="urn:microsoft.com/office/officeart/2005/8/layout/hProcess11"/>
    <dgm:cxn modelId="{33B1BB78-5AF2-474C-BEA7-B8DD2E6AEEF9}" type="presParOf" srcId="{4D58ACC7-42BD-4465-A50A-2929CD71081E}" destId="{CD945DFE-0DE9-4526-85C1-4FF1A7680912}" srcOrd="1" destOrd="0" presId="urn:microsoft.com/office/officeart/2005/8/layout/hProcess11"/>
    <dgm:cxn modelId="{0F7C35D6-DC9F-43E6-AB4D-6FE072F556D6}" type="presParOf" srcId="{4D58ACC7-42BD-4465-A50A-2929CD71081E}" destId="{E0ABE6F7-17C2-48B0-9C41-BD64BBD3FCCF}" srcOrd="2" destOrd="0" presId="urn:microsoft.com/office/officeart/2005/8/layout/hProcess11"/>
    <dgm:cxn modelId="{F78D3A25-7FED-47E6-B879-ECA84325407E}" type="presParOf" srcId="{A45F2CA6-CE7D-42E1-AB70-903F48C7902C}" destId="{DAFC43D2-42AE-4F16-BC9F-3246F219230F}" srcOrd="5" destOrd="0" presId="urn:microsoft.com/office/officeart/2005/8/layout/hProcess11"/>
    <dgm:cxn modelId="{9DAD171C-1816-4FCC-8DE7-292F857E645B}" type="presParOf" srcId="{A45F2CA6-CE7D-42E1-AB70-903F48C7902C}" destId="{7BA8C63A-D8D9-4C4D-BA5F-B580016B1CD2}" srcOrd="6" destOrd="0" presId="urn:microsoft.com/office/officeart/2005/8/layout/hProcess11"/>
    <dgm:cxn modelId="{44D26AC7-F711-43A8-BC43-816FB7F314A0}" type="presParOf" srcId="{7BA8C63A-D8D9-4C4D-BA5F-B580016B1CD2}" destId="{109DA40E-D478-4E33-A324-CA0894DD717B}" srcOrd="0" destOrd="0" presId="urn:microsoft.com/office/officeart/2005/8/layout/hProcess11"/>
    <dgm:cxn modelId="{167C6941-9B9D-4542-80F6-CEBB51522EEA}" type="presParOf" srcId="{7BA8C63A-D8D9-4C4D-BA5F-B580016B1CD2}" destId="{221D7BCD-AF80-47C4-A38A-F16DE147ED7E}" srcOrd="1" destOrd="0" presId="urn:microsoft.com/office/officeart/2005/8/layout/hProcess11"/>
    <dgm:cxn modelId="{562094BA-95D8-44E0-A308-8E5366C81BC3}" type="presParOf" srcId="{7BA8C63A-D8D9-4C4D-BA5F-B580016B1CD2}" destId="{4FCAE31E-1353-464A-B878-FCCE3C1EB2A4}" srcOrd="2" destOrd="0" presId="urn:microsoft.com/office/officeart/2005/8/layout/hProcess11"/>
    <dgm:cxn modelId="{93593449-2013-4818-8DCE-019A791C44C7}" type="presParOf" srcId="{A45F2CA6-CE7D-42E1-AB70-903F48C7902C}" destId="{63D8E222-3190-4F25-8480-0E82D1CCD33F}" srcOrd="7" destOrd="0" presId="urn:microsoft.com/office/officeart/2005/8/layout/hProcess11"/>
    <dgm:cxn modelId="{32620107-F187-4A5C-8D1D-A354A47595DF}" type="presParOf" srcId="{A45F2CA6-CE7D-42E1-AB70-903F48C7902C}" destId="{E9AAD1A7-7036-4BAE-9268-0FF38D304126}" srcOrd="8" destOrd="0" presId="urn:microsoft.com/office/officeart/2005/8/layout/hProcess11"/>
    <dgm:cxn modelId="{40AD0A2E-8C07-4B25-8F15-60A4C67DD2ED}" type="presParOf" srcId="{E9AAD1A7-7036-4BAE-9268-0FF38D304126}" destId="{809EF77C-5817-4066-A391-88FB2EB824EB}" srcOrd="0" destOrd="0" presId="urn:microsoft.com/office/officeart/2005/8/layout/hProcess11"/>
    <dgm:cxn modelId="{36065444-A790-48D9-A416-5B0717A223D1}" type="presParOf" srcId="{E9AAD1A7-7036-4BAE-9268-0FF38D304126}" destId="{A555E792-2E8B-45D6-8F06-589A65546603}" srcOrd="1" destOrd="0" presId="urn:microsoft.com/office/officeart/2005/8/layout/hProcess11"/>
    <dgm:cxn modelId="{126579A4-03C4-4198-9DE6-CD08531B4852}" type="presParOf" srcId="{E9AAD1A7-7036-4BAE-9268-0FF38D304126}" destId="{0898E501-3921-481E-A29C-8F1CE135ED2C}" srcOrd="2" destOrd="0" presId="urn:microsoft.com/office/officeart/2005/8/layout/hProcess11"/>
    <dgm:cxn modelId="{878D226A-CC12-4553-9D18-EDBBD0352418}" type="presParOf" srcId="{A45F2CA6-CE7D-42E1-AB70-903F48C7902C}" destId="{74EE8C51-1528-4E32-A135-5E09C129A92B}" srcOrd="9" destOrd="0" presId="urn:microsoft.com/office/officeart/2005/8/layout/hProcess11"/>
    <dgm:cxn modelId="{31F17687-89A0-41DB-B006-7A2AF807278A}" type="presParOf" srcId="{A45F2CA6-CE7D-42E1-AB70-903F48C7902C}" destId="{A6F56E23-F365-4897-B6D3-89A5EA1A8024}" srcOrd="10" destOrd="0" presId="urn:microsoft.com/office/officeart/2005/8/layout/hProcess11"/>
    <dgm:cxn modelId="{54D28975-6A5B-43F0-A6EF-DE9404ADF1A0}" type="presParOf" srcId="{A6F56E23-F365-4897-B6D3-89A5EA1A8024}" destId="{2D9839BE-49B5-45AB-B1AC-E287CF0D23CD}" srcOrd="0" destOrd="0" presId="urn:microsoft.com/office/officeart/2005/8/layout/hProcess11"/>
    <dgm:cxn modelId="{3A64F148-9222-4E5B-9E4C-CA9EF3E84BA8}" type="presParOf" srcId="{A6F56E23-F365-4897-B6D3-89A5EA1A8024}" destId="{175FE7E8-0DC0-4D15-A985-1B4E546E20F8}" srcOrd="1" destOrd="0" presId="urn:microsoft.com/office/officeart/2005/8/layout/hProcess11"/>
    <dgm:cxn modelId="{07DD5E4D-457E-416C-830A-C3C235ACD8F5}" type="presParOf" srcId="{A6F56E23-F365-4897-B6D3-89A5EA1A8024}" destId="{2664A79E-4964-4F6D-9896-477B05401A29}" srcOrd="2" destOrd="0" presId="urn:microsoft.com/office/officeart/2005/8/layout/hProcess11"/>
    <dgm:cxn modelId="{66918F27-5D74-4384-B938-D89CA5F8934E}" type="presParOf" srcId="{A45F2CA6-CE7D-42E1-AB70-903F48C7902C}" destId="{EB1A0BB1-9744-4E20-8D89-956BD32FBB88}" srcOrd="11" destOrd="0" presId="urn:microsoft.com/office/officeart/2005/8/layout/hProcess11"/>
    <dgm:cxn modelId="{A2BFFF21-3BF2-4237-8878-EDC34A4599D3}" type="presParOf" srcId="{A45F2CA6-CE7D-42E1-AB70-903F48C7902C}" destId="{D9530CA6-16C8-4D29-9CC8-CAD5A2CF9BFA}" srcOrd="12" destOrd="0" presId="urn:microsoft.com/office/officeart/2005/8/layout/hProcess11"/>
    <dgm:cxn modelId="{43889438-9A30-427C-846F-7A92650AD3F9}" type="presParOf" srcId="{D9530CA6-16C8-4D29-9CC8-CAD5A2CF9BFA}" destId="{B88F7867-94FE-43F5-AD6D-1FD0684BE705}" srcOrd="0" destOrd="0" presId="urn:microsoft.com/office/officeart/2005/8/layout/hProcess11"/>
    <dgm:cxn modelId="{5F754D80-DD23-4297-8F1D-331C534657E9}" type="presParOf" srcId="{D9530CA6-16C8-4D29-9CC8-CAD5A2CF9BFA}" destId="{EFB30698-CCAE-4361-B636-6887F15945F1}" srcOrd="1" destOrd="0" presId="urn:microsoft.com/office/officeart/2005/8/layout/hProcess11"/>
    <dgm:cxn modelId="{E85DF242-11DD-42F3-B592-92C4345359C6}" type="presParOf" srcId="{D9530CA6-16C8-4D29-9CC8-CAD5A2CF9BFA}" destId="{E8C79FEA-F2BC-443D-ADAD-056301780F68}" srcOrd="2" destOrd="0" presId="urn:microsoft.com/office/officeart/2005/8/layout/hProcess11"/>
    <dgm:cxn modelId="{9AA96FD8-136A-4F87-98E4-309F0DF4CAD7}" type="presParOf" srcId="{A45F2CA6-CE7D-42E1-AB70-903F48C7902C}" destId="{B7DBF3FA-2DDA-448B-A58E-2BB7E2C3B847}" srcOrd="13" destOrd="0" presId="urn:microsoft.com/office/officeart/2005/8/layout/hProcess11"/>
    <dgm:cxn modelId="{DEEE4FE9-124F-4A57-B494-E71C15E2F647}" type="presParOf" srcId="{A45F2CA6-CE7D-42E1-AB70-903F48C7902C}" destId="{A77C0B04-934C-47D0-8A50-B7748D46EA5E}" srcOrd="14" destOrd="0" presId="urn:microsoft.com/office/officeart/2005/8/layout/hProcess11"/>
    <dgm:cxn modelId="{8B358DB9-385B-4EDB-B0F1-1A9D99B4B5BC}" type="presParOf" srcId="{A77C0B04-934C-47D0-8A50-B7748D46EA5E}" destId="{F03F5808-11C5-42AA-9A3F-97D153CF08E7}" srcOrd="0" destOrd="0" presId="urn:microsoft.com/office/officeart/2005/8/layout/hProcess11"/>
    <dgm:cxn modelId="{8EBA22A4-79B7-4AC1-8D35-46167A6E27F6}" type="presParOf" srcId="{A77C0B04-934C-47D0-8A50-B7748D46EA5E}" destId="{30FCF771-D2F5-4B5F-97C2-8BA06105AEDB}" srcOrd="1" destOrd="0" presId="urn:microsoft.com/office/officeart/2005/8/layout/hProcess11"/>
    <dgm:cxn modelId="{B85BF180-AAB7-4602-89C2-DE254EF91B80}" type="presParOf" srcId="{A77C0B04-934C-47D0-8A50-B7748D46EA5E}" destId="{E79B1736-C23F-48AE-A011-D28692481696}" srcOrd="2" destOrd="0" presId="urn:microsoft.com/office/officeart/2005/8/layout/hProcess11"/>
    <dgm:cxn modelId="{EEC5454E-0CD6-4AB3-A3E4-76096989ABD7}" type="presParOf" srcId="{A45F2CA6-CE7D-42E1-AB70-903F48C7902C}" destId="{1E1DC76D-A6AC-4C1B-AFDD-4EA1E5F8553C}" srcOrd="15" destOrd="0" presId="urn:microsoft.com/office/officeart/2005/8/layout/hProcess11"/>
    <dgm:cxn modelId="{00A5311B-C3F4-4844-B99E-ED639D676363}" type="presParOf" srcId="{A45F2CA6-CE7D-42E1-AB70-903F48C7902C}" destId="{54E0B3F0-D693-4306-B3CF-6ECFE7B4D1CB}" srcOrd="16" destOrd="0" presId="urn:microsoft.com/office/officeart/2005/8/layout/hProcess11"/>
    <dgm:cxn modelId="{A47E0A94-B20D-43F8-8B62-564A57F7F5E3}" type="presParOf" srcId="{54E0B3F0-D693-4306-B3CF-6ECFE7B4D1CB}" destId="{EF71A8A1-B8ED-47E7-B652-988789A29139}" srcOrd="0" destOrd="0" presId="urn:microsoft.com/office/officeart/2005/8/layout/hProcess11"/>
    <dgm:cxn modelId="{7CC94941-88BD-4F4F-84D5-102AAD6E0910}" type="presParOf" srcId="{54E0B3F0-D693-4306-B3CF-6ECFE7B4D1CB}" destId="{DA9BA519-44A0-4F9D-A7A6-2BAA8E121E57}" srcOrd="1" destOrd="0" presId="urn:microsoft.com/office/officeart/2005/8/layout/hProcess11"/>
    <dgm:cxn modelId="{F518B4E8-A7CB-4705-B5F3-E86515CFFD86}" type="presParOf" srcId="{54E0B3F0-D693-4306-B3CF-6ECFE7B4D1CB}" destId="{E21DF228-2CEC-43A7-9F25-7AC8A78E6440}" srcOrd="2" destOrd="0" presId="urn:microsoft.com/office/officeart/2005/8/layout/hProcess1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C15AF7-8696-4D24-BA09-0D14D4E1F058}" type="doc">
      <dgm:prSet loTypeId="urn:microsoft.com/office/officeart/2005/8/layout/hProcess11" loCatId="process" qsTypeId="urn:microsoft.com/office/officeart/2005/8/quickstyle/3d3" qsCatId="3D" csTypeId="urn:microsoft.com/office/officeart/2005/8/colors/accent1_4" csCatId="accent1" phldr="1"/>
      <dgm:spPr/>
      <dgm:t>
        <a:bodyPr/>
        <a:lstStyle/>
        <a:p>
          <a:endParaRPr lang="en-US"/>
        </a:p>
      </dgm:t>
    </dgm:pt>
    <dgm:pt modelId="{2E483917-3574-4BE9-AF23-D5D5041AE4B6}">
      <dgm:prSet custT="1"/>
      <dgm:spPr/>
      <dgm:t>
        <a:bodyPr/>
        <a:lstStyle/>
        <a:p>
          <a:r>
            <a:rPr lang="fr-FR" sz="1100" dirty="0">
              <a:ln>
                <a:noFill/>
              </a:ln>
              <a:solidFill>
                <a:srgbClr val="1E3A8A"/>
              </a:solidFill>
              <a:latin typeface="Arial Black" panose="020B0A04020102020204" pitchFamily="34" charset="0"/>
            </a:rPr>
            <a:t>Introduction : Contexte du projet</a:t>
          </a:r>
          <a:endParaRPr lang="en-US" sz="1100" dirty="0">
            <a:ln>
              <a:noFill/>
            </a:ln>
            <a:solidFill>
              <a:srgbClr val="1E3A8A"/>
            </a:solidFill>
            <a:latin typeface="Arial Black" panose="020B0A04020102020204" pitchFamily="34" charset="0"/>
          </a:endParaRPr>
        </a:p>
      </dgm:t>
    </dgm:pt>
    <dgm:pt modelId="{02AFB06C-9303-442F-A575-0CA44E1E21E1}" type="parTrans" cxnId="{443C77E4-DFF0-4A34-8CA4-362A5A9D21E9}">
      <dgm:prSet/>
      <dgm:spPr/>
      <dgm:t>
        <a:bodyPr/>
        <a:lstStyle/>
        <a:p>
          <a:endParaRPr lang="en-US">
            <a:ln>
              <a:noFill/>
            </a:ln>
            <a:solidFill>
              <a:srgbClr val="1E3A8A"/>
            </a:solidFill>
          </a:endParaRPr>
        </a:p>
      </dgm:t>
    </dgm:pt>
    <dgm:pt modelId="{E4BE87F0-EB62-4C4D-9121-63112B2B92ED}" type="sibTrans" cxnId="{443C77E4-DFF0-4A34-8CA4-362A5A9D21E9}">
      <dgm:prSet/>
      <dgm:spPr/>
      <dgm:t>
        <a:bodyPr/>
        <a:lstStyle/>
        <a:p>
          <a:endParaRPr lang="en-US">
            <a:ln>
              <a:noFill/>
            </a:ln>
            <a:solidFill>
              <a:srgbClr val="1E3A8A"/>
            </a:solidFill>
          </a:endParaRPr>
        </a:p>
      </dgm:t>
    </dgm:pt>
    <dgm:pt modelId="{351B7DE3-2871-428A-B493-28A73D9596E6}">
      <dgm:prSet custT="1"/>
      <dgm:spPr/>
      <dgm:t>
        <a:bodyPr/>
        <a:lstStyle/>
        <a:p>
          <a:r>
            <a:rPr lang="fr-FR" sz="1100" dirty="0">
              <a:ln>
                <a:noFill/>
              </a:ln>
              <a:solidFill>
                <a:srgbClr val="1E3A8A"/>
              </a:solidFill>
              <a:latin typeface="Arial Black" panose="020B0A04020102020204" pitchFamily="34" charset="0"/>
            </a:rPr>
            <a:t>Problématique et Objectifs</a:t>
          </a:r>
          <a:endParaRPr lang="en-US" sz="1100" dirty="0">
            <a:ln>
              <a:noFill/>
            </a:ln>
            <a:solidFill>
              <a:srgbClr val="1E3A8A"/>
            </a:solidFill>
            <a:latin typeface="Arial Black" panose="020B0A04020102020204" pitchFamily="34" charset="0"/>
          </a:endParaRPr>
        </a:p>
      </dgm:t>
    </dgm:pt>
    <dgm:pt modelId="{3FD326CB-8AA2-4CA7-B7D4-FE5BF306CB06}" type="parTrans" cxnId="{7A3CEEC0-3F46-4E63-B3DE-DA70845F0AF3}">
      <dgm:prSet/>
      <dgm:spPr/>
      <dgm:t>
        <a:bodyPr/>
        <a:lstStyle/>
        <a:p>
          <a:endParaRPr lang="en-US">
            <a:ln>
              <a:noFill/>
            </a:ln>
            <a:solidFill>
              <a:srgbClr val="1E3A8A"/>
            </a:solidFill>
          </a:endParaRPr>
        </a:p>
      </dgm:t>
    </dgm:pt>
    <dgm:pt modelId="{22B3DF08-EC3F-4EAA-B2A0-9B370BBD36FC}" type="sibTrans" cxnId="{7A3CEEC0-3F46-4E63-B3DE-DA70845F0AF3}">
      <dgm:prSet/>
      <dgm:spPr/>
      <dgm:t>
        <a:bodyPr/>
        <a:lstStyle/>
        <a:p>
          <a:endParaRPr lang="en-US">
            <a:ln>
              <a:noFill/>
            </a:ln>
            <a:solidFill>
              <a:srgbClr val="1E3A8A"/>
            </a:solidFill>
          </a:endParaRPr>
        </a:p>
      </dgm:t>
    </dgm:pt>
    <dgm:pt modelId="{02BD963B-BE51-4D85-B330-7B026DD7B14B}">
      <dgm:prSet custT="1"/>
      <dgm:spPr/>
      <dgm:t>
        <a:bodyPr/>
        <a:lstStyle/>
        <a:p>
          <a:r>
            <a:rPr lang="fr-FR" sz="1100">
              <a:ln>
                <a:noFill/>
              </a:ln>
              <a:solidFill>
                <a:srgbClr val="1E3A8A"/>
              </a:solidFill>
              <a:latin typeface="Arial Black" panose="020B0A04020102020204" pitchFamily="34" charset="0"/>
            </a:rPr>
            <a:t>Données utilisées</a:t>
          </a:r>
          <a:endParaRPr lang="en-US" sz="1100" dirty="0">
            <a:ln>
              <a:noFill/>
            </a:ln>
            <a:solidFill>
              <a:srgbClr val="1E3A8A"/>
            </a:solidFill>
            <a:latin typeface="Arial Black" panose="020B0A04020102020204" pitchFamily="34" charset="0"/>
          </a:endParaRPr>
        </a:p>
      </dgm:t>
    </dgm:pt>
    <dgm:pt modelId="{D6E07E83-0D7B-4BFB-862E-0090CBF4AB9B}" type="parTrans" cxnId="{040E03B5-8A55-41C7-883B-3F4196F378B4}">
      <dgm:prSet/>
      <dgm:spPr/>
      <dgm:t>
        <a:bodyPr/>
        <a:lstStyle/>
        <a:p>
          <a:endParaRPr lang="en-US">
            <a:ln>
              <a:noFill/>
            </a:ln>
            <a:solidFill>
              <a:srgbClr val="1E3A8A"/>
            </a:solidFill>
          </a:endParaRPr>
        </a:p>
      </dgm:t>
    </dgm:pt>
    <dgm:pt modelId="{7C2D10D1-641F-4996-93A4-AAAC30EE6284}" type="sibTrans" cxnId="{040E03B5-8A55-41C7-883B-3F4196F378B4}">
      <dgm:prSet/>
      <dgm:spPr/>
      <dgm:t>
        <a:bodyPr/>
        <a:lstStyle/>
        <a:p>
          <a:endParaRPr lang="en-US">
            <a:ln>
              <a:noFill/>
            </a:ln>
            <a:solidFill>
              <a:srgbClr val="1E3A8A"/>
            </a:solidFill>
          </a:endParaRPr>
        </a:p>
      </dgm:t>
    </dgm:pt>
    <dgm:pt modelId="{9B695816-1957-4E5A-8EFC-38728BB578EC}">
      <dgm:prSet custT="1"/>
      <dgm:spPr/>
      <dgm:t>
        <a:bodyPr/>
        <a:lstStyle/>
        <a:p>
          <a:r>
            <a:rPr lang="fr-FR" sz="1100" dirty="0">
              <a:ln>
                <a:noFill/>
              </a:ln>
              <a:solidFill>
                <a:srgbClr val="1E3A8A"/>
              </a:solidFill>
              <a:latin typeface="Arial Black" panose="020B0A04020102020204" pitchFamily="34" charset="0"/>
            </a:rPr>
            <a:t>Pipeline de traitement audio</a:t>
          </a:r>
          <a:endParaRPr lang="en-US" sz="1100" dirty="0">
            <a:ln>
              <a:noFill/>
            </a:ln>
            <a:solidFill>
              <a:srgbClr val="1E3A8A"/>
            </a:solidFill>
            <a:latin typeface="Arial Black" panose="020B0A04020102020204" pitchFamily="34" charset="0"/>
          </a:endParaRPr>
        </a:p>
      </dgm:t>
    </dgm:pt>
    <dgm:pt modelId="{A9E9BC18-50E8-4B9C-ADFA-57C4B9A36B37}" type="parTrans" cxnId="{D1F9232B-3686-4085-A9CD-8D36BD052CBC}">
      <dgm:prSet/>
      <dgm:spPr/>
      <dgm:t>
        <a:bodyPr/>
        <a:lstStyle/>
        <a:p>
          <a:endParaRPr lang="en-US">
            <a:ln>
              <a:noFill/>
            </a:ln>
            <a:solidFill>
              <a:srgbClr val="1E3A8A"/>
            </a:solidFill>
          </a:endParaRPr>
        </a:p>
      </dgm:t>
    </dgm:pt>
    <dgm:pt modelId="{F3713748-77D6-4C64-8F79-9793B9B30935}" type="sibTrans" cxnId="{D1F9232B-3686-4085-A9CD-8D36BD052CBC}">
      <dgm:prSet/>
      <dgm:spPr/>
      <dgm:t>
        <a:bodyPr/>
        <a:lstStyle/>
        <a:p>
          <a:endParaRPr lang="en-US">
            <a:ln>
              <a:noFill/>
            </a:ln>
            <a:solidFill>
              <a:srgbClr val="1E3A8A"/>
            </a:solidFill>
          </a:endParaRPr>
        </a:p>
      </dgm:t>
    </dgm:pt>
    <dgm:pt modelId="{06BF52ED-AD07-4A59-9EC6-B949D67769D2}">
      <dgm:prSet custT="1"/>
      <dgm:spPr/>
      <dgm:t>
        <a:bodyPr/>
        <a:lstStyle/>
        <a:p>
          <a:r>
            <a:rPr lang="fr-FR" sz="1100" dirty="0">
              <a:ln>
                <a:noFill/>
              </a:ln>
              <a:solidFill>
                <a:srgbClr val="1E3A8A"/>
              </a:solidFill>
              <a:latin typeface="Arial Black" panose="020B0A04020102020204" pitchFamily="34" charset="0"/>
            </a:rPr>
            <a:t>Architecture du modèle CNN-</a:t>
          </a:r>
          <a:r>
            <a:rPr lang="fr-FR" sz="1100" dirty="0" err="1">
              <a:ln>
                <a:noFill/>
              </a:ln>
              <a:solidFill>
                <a:srgbClr val="1E3A8A"/>
              </a:solidFill>
              <a:latin typeface="Arial Black" panose="020B0A04020102020204" pitchFamily="34" charset="0"/>
            </a:rPr>
            <a:t>BiLSTM</a:t>
          </a:r>
          <a:endParaRPr lang="en-US" sz="1100" dirty="0">
            <a:ln>
              <a:noFill/>
            </a:ln>
            <a:solidFill>
              <a:srgbClr val="1E3A8A"/>
            </a:solidFill>
            <a:latin typeface="Arial Black" panose="020B0A04020102020204" pitchFamily="34" charset="0"/>
          </a:endParaRPr>
        </a:p>
      </dgm:t>
    </dgm:pt>
    <dgm:pt modelId="{C04A6518-26F8-43DA-BA47-D320045D9C1D}" type="parTrans" cxnId="{911938E3-5E01-4EFC-81A8-05CB0F0A1857}">
      <dgm:prSet/>
      <dgm:spPr/>
      <dgm:t>
        <a:bodyPr/>
        <a:lstStyle/>
        <a:p>
          <a:endParaRPr lang="en-US">
            <a:ln>
              <a:noFill/>
            </a:ln>
            <a:solidFill>
              <a:srgbClr val="1E3A8A"/>
            </a:solidFill>
          </a:endParaRPr>
        </a:p>
      </dgm:t>
    </dgm:pt>
    <dgm:pt modelId="{F4DAF6F1-C959-4D14-A807-ABA9B71B2DF6}" type="sibTrans" cxnId="{911938E3-5E01-4EFC-81A8-05CB0F0A1857}">
      <dgm:prSet/>
      <dgm:spPr/>
      <dgm:t>
        <a:bodyPr/>
        <a:lstStyle/>
        <a:p>
          <a:endParaRPr lang="en-US">
            <a:ln>
              <a:noFill/>
            </a:ln>
            <a:solidFill>
              <a:srgbClr val="1E3A8A"/>
            </a:solidFill>
          </a:endParaRPr>
        </a:p>
      </dgm:t>
    </dgm:pt>
    <dgm:pt modelId="{89317BC2-BCED-45D0-9164-3F23AFF95B72}">
      <dgm:prSet custT="1"/>
      <dgm:spPr/>
      <dgm:t>
        <a:bodyPr/>
        <a:lstStyle/>
        <a:p>
          <a:r>
            <a:rPr lang="fr-FR" sz="1100">
              <a:ln>
                <a:noFill/>
              </a:ln>
              <a:solidFill>
                <a:srgbClr val="1E3A8A"/>
              </a:solidFill>
              <a:latin typeface="Arial Black" panose="020B0A04020102020204" pitchFamily="34" charset="0"/>
            </a:rPr>
            <a:t>Résultats obtenus</a:t>
          </a:r>
          <a:endParaRPr lang="en-US" sz="1100" dirty="0">
            <a:ln>
              <a:noFill/>
            </a:ln>
            <a:solidFill>
              <a:srgbClr val="1E3A8A"/>
            </a:solidFill>
            <a:latin typeface="Arial Black" panose="020B0A04020102020204" pitchFamily="34" charset="0"/>
          </a:endParaRPr>
        </a:p>
      </dgm:t>
    </dgm:pt>
    <dgm:pt modelId="{3B28DF86-C919-478B-A5F3-BA9027FE6436}" type="parTrans" cxnId="{88B112CC-97B0-4D2A-8B14-8973C97A3F8C}">
      <dgm:prSet/>
      <dgm:spPr/>
      <dgm:t>
        <a:bodyPr/>
        <a:lstStyle/>
        <a:p>
          <a:endParaRPr lang="en-US">
            <a:ln>
              <a:noFill/>
            </a:ln>
            <a:solidFill>
              <a:srgbClr val="1E3A8A"/>
            </a:solidFill>
          </a:endParaRPr>
        </a:p>
      </dgm:t>
    </dgm:pt>
    <dgm:pt modelId="{A755E977-4E61-4EA3-839A-9998D9E3D378}" type="sibTrans" cxnId="{88B112CC-97B0-4D2A-8B14-8973C97A3F8C}">
      <dgm:prSet/>
      <dgm:spPr/>
      <dgm:t>
        <a:bodyPr/>
        <a:lstStyle/>
        <a:p>
          <a:endParaRPr lang="en-US">
            <a:ln>
              <a:noFill/>
            </a:ln>
            <a:solidFill>
              <a:srgbClr val="1E3A8A"/>
            </a:solidFill>
          </a:endParaRPr>
        </a:p>
      </dgm:t>
    </dgm:pt>
    <dgm:pt modelId="{F932F56B-1B22-420B-913C-C3A9E38D3935}">
      <dgm:prSet custT="1"/>
      <dgm:spPr/>
      <dgm:t>
        <a:bodyPr/>
        <a:lstStyle/>
        <a:p>
          <a:r>
            <a:rPr lang="fr-FR" sz="1100">
              <a:ln>
                <a:noFill/>
              </a:ln>
              <a:solidFill>
                <a:srgbClr val="1E3A8A"/>
              </a:solidFill>
              <a:latin typeface="Arial Black" panose="020B0A04020102020204" pitchFamily="34" charset="0"/>
            </a:rPr>
            <a:t>Comparaison avec d’autres modèles</a:t>
          </a:r>
          <a:endParaRPr lang="en-US" sz="1100" dirty="0">
            <a:ln>
              <a:noFill/>
            </a:ln>
            <a:solidFill>
              <a:srgbClr val="1E3A8A"/>
            </a:solidFill>
            <a:latin typeface="Arial Black" panose="020B0A04020102020204" pitchFamily="34" charset="0"/>
          </a:endParaRPr>
        </a:p>
      </dgm:t>
    </dgm:pt>
    <dgm:pt modelId="{9D06F292-BC60-44E1-88F7-6BCE9D5E6006}" type="parTrans" cxnId="{CCC1B6C7-AE68-41CE-A86C-033CD6705279}">
      <dgm:prSet/>
      <dgm:spPr/>
      <dgm:t>
        <a:bodyPr/>
        <a:lstStyle/>
        <a:p>
          <a:endParaRPr lang="en-US">
            <a:ln>
              <a:noFill/>
            </a:ln>
            <a:solidFill>
              <a:srgbClr val="1E3A8A"/>
            </a:solidFill>
          </a:endParaRPr>
        </a:p>
      </dgm:t>
    </dgm:pt>
    <dgm:pt modelId="{62C28B74-EF42-4B58-8076-243C788B101A}" type="sibTrans" cxnId="{CCC1B6C7-AE68-41CE-A86C-033CD6705279}">
      <dgm:prSet/>
      <dgm:spPr/>
      <dgm:t>
        <a:bodyPr/>
        <a:lstStyle/>
        <a:p>
          <a:endParaRPr lang="en-US">
            <a:ln>
              <a:noFill/>
            </a:ln>
            <a:solidFill>
              <a:srgbClr val="1E3A8A"/>
            </a:solidFill>
          </a:endParaRPr>
        </a:p>
      </dgm:t>
    </dgm:pt>
    <dgm:pt modelId="{5BA591EC-FF84-411A-B5FB-8FE2F32C11DB}">
      <dgm:prSet custT="1"/>
      <dgm:spPr/>
      <dgm:t>
        <a:bodyPr/>
        <a:lstStyle/>
        <a:p>
          <a:r>
            <a:rPr lang="fr-FR" sz="1100" dirty="0">
              <a:ln>
                <a:noFill/>
              </a:ln>
              <a:solidFill>
                <a:srgbClr val="1E3A8A"/>
              </a:solidFill>
              <a:latin typeface="Arial Black" panose="020B0A04020102020204" pitchFamily="34" charset="0"/>
            </a:rPr>
            <a:t>Déploiement de l’application</a:t>
          </a:r>
          <a:endParaRPr lang="en-US" sz="1100" dirty="0">
            <a:ln>
              <a:noFill/>
            </a:ln>
            <a:solidFill>
              <a:srgbClr val="1E3A8A"/>
            </a:solidFill>
            <a:latin typeface="Arial Black" panose="020B0A04020102020204" pitchFamily="34" charset="0"/>
          </a:endParaRPr>
        </a:p>
      </dgm:t>
    </dgm:pt>
    <dgm:pt modelId="{E229C51C-4414-4EAB-A0B2-82736031C788}" type="parTrans" cxnId="{1D8368A4-7D40-4316-B012-8592890749CB}">
      <dgm:prSet/>
      <dgm:spPr/>
      <dgm:t>
        <a:bodyPr/>
        <a:lstStyle/>
        <a:p>
          <a:endParaRPr lang="en-US">
            <a:ln>
              <a:noFill/>
            </a:ln>
            <a:solidFill>
              <a:srgbClr val="1E3A8A"/>
            </a:solidFill>
          </a:endParaRPr>
        </a:p>
      </dgm:t>
    </dgm:pt>
    <dgm:pt modelId="{B47DB41A-FF38-4416-BEF6-534CB788A0CC}" type="sibTrans" cxnId="{1D8368A4-7D40-4316-B012-8592890749CB}">
      <dgm:prSet/>
      <dgm:spPr/>
      <dgm:t>
        <a:bodyPr/>
        <a:lstStyle/>
        <a:p>
          <a:endParaRPr lang="en-US">
            <a:ln>
              <a:noFill/>
            </a:ln>
            <a:solidFill>
              <a:srgbClr val="1E3A8A"/>
            </a:solidFill>
          </a:endParaRPr>
        </a:p>
      </dgm:t>
    </dgm:pt>
    <dgm:pt modelId="{82381B6A-4949-4401-9154-4B4E44A2E739}">
      <dgm:prSet custT="1"/>
      <dgm:spPr/>
      <dgm:t>
        <a:bodyPr/>
        <a:lstStyle/>
        <a:p>
          <a:r>
            <a:rPr lang="fr-FR" sz="1100" dirty="0">
              <a:ln>
                <a:noFill/>
              </a:ln>
              <a:solidFill>
                <a:srgbClr val="1E3A8A"/>
              </a:solidFill>
              <a:latin typeface="Arial Black" panose="020B0A04020102020204" pitchFamily="34" charset="0"/>
            </a:rPr>
            <a:t>Conclusion</a:t>
          </a:r>
          <a:endParaRPr lang="en-US" sz="1100" dirty="0">
            <a:ln>
              <a:noFill/>
            </a:ln>
            <a:solidFill>
              <a:srgbClr val="1E3A8A"/>
            </a:solidFill>
            <a:latin typeface="Arial Black" panose="020B0A04020102020204" pitchFamily="34" charset="0"/>
          </a:endParaRPr>
        </a:p>
      </dgm:t>
    </dgm:pt>
    <dgm:pt modelId="{4C608BFB-2ADA-4B57-9A53-5A4C429E790F}" type="parTrans" cxnId="{3C616D96-147E-4168-8395-A7577F496FFE}">
      <dgm:prSet/>
      <dgm:spPr/>
      <dgm:t>
        <a:bodyPr/>
        <a:lstStyle/>
        <a:p>
          <a:endParaRPr lang="en-US">
            <a:ln>
              <a:noFill/>
            </a:ln>
            <a:solidFill>
              <a:srgbClr val="1E3A8A"/>
            </a:solidFill>
          </a:endParaRPr>
        </a:p>
      </dgm:t>
    </dgm:pt>
    <dgm:pt modelId="{B86D1B48-0147-4512-B07F-AD4E008F81D7}" type="sibTrans" cxnId="{3C616D96-147E-4168-8395-A7577F496FFE}">
      <dgm:prSet/>
      <dgm:spPr/>
      <dgm:t>
        <a:bodyPr/>
        <a:lstStyle/>
        <a:p>
          <a:endParaRPr lang="en-US">
            <a:ln>
              <a:noFill/>
            </a:ln>
            <a:solidFill>
              <a:srgbClr val="1E3A8A"/>
            </a:solidFill>
          </a:endParaRPr>
        </a:p>
      </dgm:t>
    </dgm:pt>
    <dgm:pt modelId="{110A6B50-C486-4F47-8677-1BCBF9DB0E75}" type="pres">
      <dgm:prSet presAssocID="{E4C15AF7-8696-4D24-BA09-0D14D4E1F058}" presName="Name0" presStyleCnt="0">
        <dgm:presLayoutVars>
          <dgm:dir/>
          <dgm:resizeHandles val="exact"/>
        </dgm:presLayoutVars>
      </dgm:prSet>
      <dgm:spPr/>
    </dgm:pt>
    <dgm:pt modelId="{F61B32D9-A89E-4B3F-9776-4CC196B6DD96}" type="pres">
      <dgm:prSet presAssocID="{E4C15AF7-8696-4D24-BA09-0D14D4E1F058}" presName="arrow" presStyleLbl="bgShp" presStyleIdx="0" presStyleCnt="1"/>
      <dgm:spPr/>
    </dgm:pt>
    <dgm:pt modelId="{A45F2CA6-CE7D-42E1-AB70-903F48C7902C}" type="pres">
      <dgm:prSet presAssocID="{E4C15AF7-8696-4D24-BA09-0D14D4E1F058}" presName="points" presStyleCnt="0"/>
      <dgm:spPr/>
    </dgm:pt>
    <dgm:pt modelId="{ACE54BEC-F537-479F-8AE8-16CE07D7EB31}" type="pres">
      <dgm:prSet presAssocID="{2E483917-3574-4BE9-AF23-D5D5041AE4B6}" presName="compositeA" presStyleCnt="0"/>
      <dgm:spPr/>
    </dgm:pt>
    <dgm:pt modelId="{A247D67B-82A4-4CF0-A703-5138DB86AC31}" type="pres">
      <dgm:prSet presAssocID="{2E483917-3574-4BE9-AF23-D5D5041AE4B6}" presName="textA" presStyleLbl="revTx" presStyleIdx="0" presStyleCnt="9" custScaleX="125497">
        <dgm:presLayoutVars>
          <dgm:bulletEnabled val="1"/>
        </dgm:presLayoutVars>
      </dgm:prSet>
      <dgm:spPr/>
    </dgm:pt>
    <dgm:pt modelId="{93EF1AB2-5EDB-48DA-B563-8D7D061064D1}" type="pres">
      <dgm:prSet presAssocID="{2E483917-3574-4BE9-AF23-D5D5041AE4B6}" presName="circleA" presStyleLbl="node1" presStyleIdx="0" presStyleCnt="9"/>
      <dgm:spPr/>
    </dgm:pt>
    <dgm:pt modelId="{E1EEDB0C-8851-4227-8A82-D81A5E422B5E}" type="pres">
      <dgm:prSet presAssocID="{2E483917-3574-4BE9-AF23-D5D5041AE4B6}" presName="spaceA" presStyleCnt="0"/>
      <dgm:spPr/>
    </dgm:pt>
    <dgm:pt modelId="{A2E46037-83F2-46EA-87D9-92BF47F1F3A7}" type="pres">
      <dgm:prSet presAssocID="{E4BE87F0-EB62-4C4D-9121-63112B2B92ED}" presName="space" presStyleCnt="0"/>
      <dgm:spPr/>
    </dgm:pt>
    <dgm:pt modelId="{F4B9F43F-1298-438A-8A67-5C2F32EDFACA}" type="pres">
      <dgm:prSet presAssocID="{351B7DE3-2871-428A-B493-28A73D9596E6}" presName="compositeB" presStyleCnt="0"/>
      <dgm:spPr/>
    </dgm:pt>
    <dgm:pt modelId="{938B7942-8BD3-4899-8A74-6DE5B2266BAE}" type="pres">
      <dgm:prSet presAssocID="{351B7DE3-2871-428A-B493-28A73D9596E6}" presName="textB" presStyleLbl="revTx" presStyleIdx="1" presStyleCnt="9" custScaleX="127354">
        <dgm:presLayoutVars>
          <dgm:bulletEnabled val="1"/>
        </dgm:presLayoutVars>
      </dgm:prSet>
      <dgm:spPr/>
    </dgm:pt>
    <dgm:pt modelId="{5AF6B1D5-3ADA-48DE-9127-5F895F9E3FAE}" type="pres">
      <dgm:prSet presAssocID="{351B7DE3-2871-428A-B493-28A73D9596E6}" presName="circleB" presStyleLbl="node1" presStyleIdx="1" presStyleCnt="9"/>
      <dgm:spPr/>
    </dgm:pt>
    <dgm:pt modelId="{7E848BFF-D754-4F28-9D47-316340A6508B}" type="pres">
      <dgm:prSet presAssocID="{351B7DE3-2871-428A-B493-28A73D9596E6}" presName="spaceB" presStyleCnt="0"/>
      <dgm:spPr/>
    </dgm:pt>
    <dgm:pt modelId="{B3C3F00A-290D-4CA4-A252-E41FDAE98634}" type="pres">
      <dgm:prSet presAssocID="{22B3DF08-EC3F-4EAA-B2A0-9B370BBD36FC}" presName="space" presStyleCnt="0"/>
      <dgm:spPr/>
    </dgm:pt>
    <dgm:pt modelId="{4D58ACC7-42BD-4465-A50A-2929CD71081E}" type="pres">
      <dgm:prSet presAssocID="{02BD963B-BE51-4D85-B330-7B026DD7B14B}" presName="compositeA" presStyleCnt="0"/>
      <dgm:spPr/>
    </dgm:pt>
    <dgm:pt modelId="{A8EC8ECD-7E88-4A88-942C-7D2D8E0F6D11}" type="pres">
      <dgm:prSet presAssocID="{02BD963B-BE51-4D85-B330-7B026DD7B14B}" presName="textA" presStyleLbl="revTx" presStyleIdx="2" presStyleCnt="9">
        <dgm:presLayoutVars>
          <dgm:bulletEnabled val="1"/>
        </dgm:presLayoutVars>
      </dgm:prSet>
      <dgm:spPr/>
    </dgm:pt>
    <dgm:pt modelId="{CD945DFE-0DE9-4526-85C1-4FF1A7680912}" type="pres">
      <dgm:prSet presAssocID="{02BD963B-BE51-4D85-B330-7B026DD7B14B}" presName="circleA" presStyleLbl="node1" presStyleIdx="2" presStyleCnt="9"/>
      <dgm:spPr/>
    </dgm:pt>
    <dgm:pt modelId="{E0ABE6F7-17C2-48B0-9C41-BD64BBD3FCCF}" type="pres">
      <dgm:prSet presAssocID="{02BD963B-BE51-4D85-B330-7B026DD7B14B}" presName="spaceA" presStyleCnt="0"/>
      <dgm:spPr/>
    </dgm:pt>
    <dgm:pt modelId="{DAFC43D2-42AE-4F16-BC9F-3246F219230F}" type="pres">
      <dgm:prSet presAssocID="{7C2D10D1-641F-4996-93A4-AAAC30EE6284}" presName="space" presStyleCnt="0"/>
      <dgm:spPr/>
    </dgm:pt>
    <dgm:pt modelId="{7BA8C63A-D8D9-4C4D-BA5F-B580016B1CD2}" type="pres">
      <dgm:prSet presAssocID="{9B695816-1957-4E5A-8EFC-38728BB578EC}" presName="compositeB" presStyleCnt="0"/>
      <dgm:spPr/>
    </dgm:pt>
    <dgm:pt modelId="{109DA40E-D478-4E33-A324-CA0894DD717B}" type="pres">
      <dgm:prSet presAssocID="{9B695816-1957-4E5A-8EFC-38728BB578EC}" presName="textB" presStyleLbl="revTx" presStyleIdx="3" presStyleCnt="9">
        <dgm:presLayoutVars>
          <dgm:bulletEnabled val="1"/>
        </dgm:presLayoutVars>
      </dgm:prSet>
      <dgm:spPr/>
    </dgm:pt>
    <dgm:pt modelId="{221D7BCD-AF80-47C4-A38A-F16DE147ED7E}" type="pres">
      <dgm:prSet presAssocID="{9B695816-1957-4E5A-8EFC-38728BB578EC}" presName="circleB" presStyleLbl="node1" presStyleIdx="3" presStyleCnt="9"/>
      <dgm:spPr/>
    </dgm:pt>
    <dgm:pt modelId="{4FCAE31E-1353-464A-B878-FCCE3C1EB2A4}" type="pres">
      <dgm:prSet presAssocID="{9B695816-1957-4E5A-8EFC-38728BB578EC}" presName="spaceB" presStyleCnt="0"/>
      <dgm:spPr/>
    </dgm:pt>
    <dgm:pt modelId="{63D8E222-3190-4F25-8480-0E82D1CCD33F}" type="pres">
      <dgm:prSet presAssocID="{F3713748-77D6-4C64-8F79-9793B9B30935}" presName="space" presStyleCnt="0"/>
      <dgm:spPr/>
    </dgm:pt>
    <dgm:pt modelId="{E9AAD1A7-7036-4BAE-9268-0FF38D304126}" type="pres">
      <dgm:prSet presAssocID="{06BF52ED-AD07-4A59-9EC6-B949D67769D2}" presName="compositeA" presStyleCnt="0"/>
      <dgm:spPr/>
    </dgm:pt>
    <dgm:pt modelId="{809EF77C-5817-4066-A391-88FB2EB824EB}" type="pres">
      <dgm:prSet presAssocID="{06BF52ED-AD07-4A59-9EC6-B949D67769D2}" presName="textA" presStyleLbl="revTx" presStyleIdx="4" presStyleCnt="9" custScaleX="119563">
        <dgm:presLayoutVars>
          <dgm:bulletEnabled val="1"/>
        </dgm:presLayoutVars>
      </dgm:prSet>
      <dgm:spPr/>
    </dgm:pt>
    <dgm:pt modelId="{A555E792-2E8B-45D6-8F06-589A65546603}" type="pres">
      <dgm:prSet presAssocID="{06BF52ED-AD07-4A59-9EC6-B949D67769D2}" presName="circleA" presStyleLbl="node1" presStyleIdx="4" presStyleCnt="9"/>
      <dgm:spPr/>
    </dgm:pt>
    <dgm:pt modelId="{0898E501-3921-481E-A29C-8F1CE135ED2C}" type="pres">
      <dgm:prSet presAssocID="{06BF52ED-AD07-4A59-9EC6-B949D67769D2}" presName="spaceA" presStyleCnt="0"/>
      <dgm:spPr/>
    </dgm:pt>
    <dgm:pt modelId="{74EE8C51-1528-4E32-A135-5E09C129A92B}" type="pres">
      <dgm:prSet presAssocID="{F4DAF6F1-C959-4D14-A807-ABA9B71B2DF6}" presName="space" presStyleCnt="0"/>
      <dgm:spPr/>
    </dgm:pt>
    <dgm:pt modelId="{A6F56E23-F365-4897-B6D3-89A5EA1A8024}" type="pres">
      <dgm:prSet presAssocID="{89317BC2-BCED-45D0-9164-3F23AFF95B72}" presName="compositeB" presStyleCnt="0"/>
      <dgm:spPr/>
    </dgm:pt>
    <dgm:pt modelId="{2D9839BE-49B5-45AB-B1AC-E287CF0D23CD}" type="pres">
      <dgm:prSet presAssocID="{89317BC2-BCED-45D0-9164-3F23AFF95B72}" presName="textB" presStyleLbl="revTx" presStyleIdx="5" presStyleCnt="9">
        <dgm:presLayoutVars>
          <dgm:bulletEnabled val="1"/>
        </dgm:presLayoutVars>
      </dgm:prSet>
      <dgm:spPr/>
    </dgm:pt>
    <dgm:pt modelId="{175FE7E8-0DC0-4D15-A985-1B4E546E20F8}" type="pres">
      <dgm:prSet presAssocID="{89317BC2-BCED-45D0-9164-3F23AFF95B72}" presName="circleB" presStyleLbl="node1" presStyleIdx="5" presStyleCnt="9"/>
      <dgm:spPr/>
    </dgm:pt>
    <dgm:pt modelId="{2664A79E-4964-4F6D-9896-477B05401A29}" type="pres">
      <dgm:prSet presAssocID="{89317BC2-BCED-45D0-9164-3F23AFF95B72}" presName="spaceB" presStyleCnt="0"/>
      <dgm:spPr/>
    </dgm:pt>
    <dgm:pt modelId="{EB1A0BB1-9744-4E20-8D89-956BD32FBB88}" type="pres">
      <dgm:prSet presAssocID="{A755E977-4E61-4EA3-839A-9998D9E3D378}" presName="space" presStyleCnt="0"/>
      <dgm:spPr/>
    </dgm:pt>
    <dgm:pt modelId="{D9530CA6-16C8-4D29-9CC8-CAD5A2CF9BFA}" type="pres">
      <dgm:prSet presAssocID="{F932F56B-1B22-420B-913C-C3A9E38D3935}" presName="compositeA" presStyleCnt="0"/>
      <dgm:spPr/>
    </dgm:pt>
    <dgm:pt modelId="{B88F7867-94FE-43F5-AD6D-1FD0684BE705}" type="pres">
      <dgm:prSet presAssocID="{F932F56B-1B22-420B-913C-C3A9E38D3935}" presName="textA" presStyleLbl="revTx" presStyleIdx="6" presStyleCnt="9" custScaleX="115886">
        <dgm:presLayoutVars>
          <dgm:bulletEnabled val="1"/>
        </dgm:presLayoutVars>
      </dgm:prSet>
      <dgm:spPr/>
    </dgm:pt>
    <dgm:pt modelId="{EFB30698-CCAE-4361-B636-6887F15945F1}" type="pres">
      <dgm:prSet presAssocID="{F932F56B-1B22-420B-913C-C3A9E38D3935}" presName="circleA" presStyleLbl="node1" presStyleIdx="6" presStyleCnt="9"/>
      <dgm:spPr/>
    </dgm:pt>
    <dgm:pt modelId="{E8C79FEA-F2BC-443D-ADAD-056301780F68}" type="pres">
      <dgm:prSet presAssocID="{F932F56B-1B22-420B-913C-C3A9E38D3935}" presName="spaceA" presStyleCnt="0"/>
      <dgm:spPr/>
    </dgm:pt>
    <dgm:pt modelId="{B7DBF3FA-2DDA-448B-A58E-2BB7E2C3B847}" type="pres">
      <dgm:prSet presAssocID="{62C28B74-EF42-4B58-8076-243C788B101A}" presName="space" presStyleCnt="0"/>
      <dgm:spPr/>
    </dgm:pt>
    <dgm:pt modelId="{A77C0B04-934C-47D0-8A50-B7748D46EA5E}" type="pres">
      <dgm:prSet presAssocID="{5BA591EC-FF84-411A-B5FB-8FE2F32C11DB}" presName="compositeB" presStyleCnt="0"/>
      <dgm:spPr/>
    </dgm:pt>
    <dgm:pt modelId="{F03F5808-11C5-42AA-9A3F-97D153CF08E7}" type="pres">
      <dgm:prSet presAssocID="{5BA591EC-FF84-411A-B5FB-8FE2F32C11DB}" presName="textB" presStyleLbl="revTx" presStyleIdx="7" presStyleCnt="9" custScaleX="111894">
        <dgm:presLayoutVars>
          <dgm:bulletEnabled val="1"/>
        </dgm:presLayoutVars>
      </dgm:prSet>
      <dgm:spPr/>
    </dgm:pt>
    <dgm:pt modelId="{30FCF771-D2F5-4B5F-97C2-8BA06105AEDB}" type="pres">
      <dgm:prSet presAssocID="{5BA591EC-FF84-411A-B5FB-8FE2F32C11DB}" presName="circleB" presStyleLbl="node1" presStyleIdx="7" presStyleCnt="9"/>
      <dgm:spPr/>
    </dgm:pt>
    <dgm:pt modelId="{E79B1736-C23F-48AE-A011-D28692481696}" type="pres">
      <dgm:prSet presAssocID="{5BA591EC-FF84-411A-B5FB-8FE2F32C11DB}" presName="spaceB" presStyleCnt="0"/>
      <dgm:spPr/>
    </dgm:pt>
    <dgm:pt modelId="{1E1DC76D-A6AC-4C1B-AFDD-4EA1E5F8553C}" type="pres">
      <dgm:prSet presAssocID="{B47DB41A-FF38-4416-BEF6-534CB788A0CC}" presName="space" presStyleCnt="0"/>
      <dgm:spPr/>
    </dgm:pt>
    <dgm:pt modelId="{54E0B3F0-D693-4306-B3CF-6ECFE7B4D1CB}" type="pres">
      <dgm:prSet presAssocID="{82381B6A-4949-4401-9154-4B4E44A2E739}" presName="compositeA" presStyleCnt="0"/>
      <dgm:spPr/>
    </dgm:pt>
    <dgm:pt modelId="{EF71A8A1-B8ED-47E7-B652-988789A29139}" type="pres">
      <dgm:prSet presAssocID="{82381B6A-4949-4401-9154-4B4E44A2E739}" presName="textA" presStyleLbl="revTx" presStyleIdx="8" presStyleCnt="9" custScaleX="130579">
        <dgm:presLayoutVars>
          <dgm:bulletEnabled val="1"/>
        </dgm:presLayoutVars>
      </dgm:prSet>
      <dgm:spPr/>
    </dgm:pt>
    <dgm:pt modelId="{DA9BA519-44A0-4F9D-A7A6-2BAA8E121E57}" type="pres">
      <dgm:prSet presAssocID="{82381B6A-4949-4401-9154-4B4E44A2E739}" presName="circleA" presStyleLbl="node1" presStyleIdx="8" presStyleCnt="9"/>
      <dgm:spPr/>
    </dgm:pt>
    <dgm:pt modelId="{E21DF228-2CEC-43A7-9F25-7AC8A78E6440}" type="pres">
      <dgm:prSet presAssocID="{82381B6A-4949-4401-9154-4B4E44A2E739}" presName="spaceA" presStyleCnt="0"/>
      <dgm:spPr/>
    </dgm:pt>
  </dgm:ptLst>
  <dgm:cxnLst>
    <dgm:cxn modelId="{44D2410B-7726-477D-9F12-A423D88B5E60}" type="presOf" srcId="{351B7DE3-2871-428A-B493-28A73D9596E6}" destId="{938B7942-8BD3-4899-8A74-6DE5B2266BAE}" srcOrd="0" destOrd="0" presId="urn:microsoft.com/office/officeart/2005/8/layout/hProcess11"/>
    <dgm:cxn modelId="{1D8DA815-484A-44B5-8A66-F6934F93AF09}" type="presOf" srcId="{F932F56B-1B22-420B-913C-C3A9E38D3935}" destId="{B88F7867-94FE-43F5-AD6D-1FD0684BE705}" srcOrd="0" destOrd="0" presId="urn:microsoft.com/office/officeart/2005/8/layout/hProcess11"/>
    <dgm:cxn modelId="{EF39B41E-24A4-49F1-9200-A04844782691}" type="presOf" srcId="{82381B6A-4949-4401-9154-4B4E44A2E739}" destId="{EF71A8A1-B8ED-47E7-B652-988789A29139}" srcOrd="0" destOrd="0" presId="urn:microsoft.com/office/officeart/2005/8/layout/hProcess11"/>
    <dgm:cxn modelId="{D1F9232B-3686-4085-A9CD-8D36BD052CBC}" srcId="{E4C15AF7-8696-4D24-BA09-0D14D4E1F058}" destId="{9B695816-1957-4E5A-8EFC-38728BB578EC}" srcOrd="3" destOrd="0" parTransId="{A9E9BC18-50E8-4B9C-ADFA-57C4B9A36B37}" sibTransId="{F3713748-77D6-4C64-8F79-9793B9B30935}"/>
    <dgm:cxn modelId="{A7236565-8C5A-40EB-91D7-114B9BB9FE8C}" type="presOf" srcId="{02BD963B-BE51-4D85-B330-7B026DD7B14B}" destId="{A8EC8ECD-7E88-4A88-942C-7D2D8E0F6D11}" srcOrd="0" destOrd="0" presId="urn:microsoft.com/office/officeart/2005/8/layout/hProcess11"/>
    <dgm:cxn modelId="{23E5584F-6C3A-4913-9406-823251E83829}" type="presOf" srcId="{9B695816-1957-4E5A-8EFC-38728BB578EC}" destId="{109DA40E-D478-4E33-A324-CA0894DD717B}" srcOrd="0" destOrd="0" presId="urn:microsoft.com/office/officeart/2005/8/layout/hProcess11"/>
    <dgm:cxn modelId="{BB737C77-E378-4A19-BB0D-5DE239BBB27D}" type="presOf" srcId="{E4C15AF7-8696-4D24-BA09-0D14D4E1F058}" destId="{110A6B50-C486-4F47-8677-1BCBF9DB0E75}" srcOrd="0" destOrd="0" presId="urn:microsoft.com/office/officeart/2005/8/layout/hProcess11"/>
    <dgm:cxn modelId="{3C616D96-147E-4168-8395-A7577F496FFE}" srcId="{E4C15AF7-8696-4D24-BA09-0D14D4E1F058}" destId="{82381B6A-4949-4401-9154-4B4E44A2E739}" srcOrd="8" destOrd="0" parTransId="{4C608BFB-2ADA-4B57-9A53-5A4C429E790F}" sibTransId="{B86D1B48-0147-4512-B07F-AD4E008F81D7}"/>
    <dgm:cxn modelId="{D3CE8E97-FC16-47DC-B463-C39A3DB1FB7D}" type="presOf" srcId="{2E483917-3574-4BE9-AF23-D5D5041AE4B6}" destId="{A247D67B-82A4-4CF0-A703-5138DB86AC31}" srcOrd="0" destOrd="0" presId="urn:microsoft.com/office/officeart/2005/8/layout/hProcess11"/>
    <dgm:cxn modelId="{1D8368A4-7D40-4316-B012-8592890749CB}" srcId="{E4C15AF7-8696-4D24-BA09-0D14D4E1F058}" destId="{5BA591EC-FF84-411A-B5FB-8FE2F32C11DB}" srcOrd="7" destOrd="0" parTransId="{E229C51C-4414-4EAB-A0B2-82736031C788}" sibTransId="{B47DB41A-FF38-4416-BEF6-534CB788A0CC}"/>
    <dgm:cxn modelId="{1649BDAA-E81B-4FD6-BCFD-633E6743A87F}" type="presOf" srcId="{06BF52ED-AD07-4A59-9EC6-B949D67769D2}" destId="{809EF77C-5817-4066-A391-88FB2EB824EB}" srcOrd="0" destOrd="0" presId="urn:microsoft.com/office/officeart/2005/8/layout/hProcess11"/>
    <dgm:cxn modelId="{040E03B5-8A55-41C7-883B-3F4196F378B4}" srcId="{E4C15AF7-8696-4D24-BA09-0D14D4E1F058}" destId="{02BD963B-BE51-4D85-B330-7B026DD7B14B}" srcOrd="2" destOrd="0" parTransId="{D6E07E83-0D7B-4BFB-862E-0090CBF4AB9B}" sibTransId="{7C2D10D1-641F-4996-93A4-AAAC30EE6284}"/>
    <dgm:cxn modelId="{7A3CEEC0-3F46-4E63-B3DE-DA70845F0AF3}" srcId="{E4C15AF7-8696-4D24-BA09-0D14D4E1F058}" destId="{351B7DE3-2871-428A-B493-28A73D9596E6}" srcOrd="1" destOrd="0" parTransId="{3FD326CB-8AA2-4CA7-B7D4-FE5BF306CB06}" sibTransId="{22B3DF08-EC3F-4EAA-B2A0-9B370BBD36FC}"/>
    <dgm:cxn modelId="{CCC1B6C7-AE68-41CE-A86C-033CD6705279}" srcId="{E4C15AF7-8696-4D24-BA09-0D14D4E1F058}" destId="{F932F56B-1B22-420B-913C-C3A9E38D3935}" srcOrd="6" destOrd="0" parTransId="{9D06F292-BC60-44E1-88F7-6BCE9D5E6006}" sibTransId="{62C28B74-EF42-4B58-8076-243C788B101A}"/>
    <dgm:cxn modelId="{087B8BC8-69AC-4A75-9D14-B39F4E14170C}" type="presOf" srcId="{89317BC2-BCED-45D0-9164-3F23AFF95B72}" destId="{2D9839BE-49B5-45AB-B1AC-E287CF0D23CD}" srcOrd="0" destOrd="0" presId="urn:microsoft.com/office/officeart/2005/8/layout/hProcess11"/>
    <dgm:cxn modelId="{88B112CC-97B0-4D2A-8B14-8973C97A3F8C}" srcId="{E4C15AF7-8696-4D24-BA09-0D14D4E1F058}" destId="{89317BC2-BCED-45D0-9164-3F23AFF95B72}" srcOrd="5" destOrd="0" parTransId="{3B28DF86-C919-478B-A5F3-BA9027FE6436}" sibTransId="{A755E977-4E61-4EA3-839A-9998D9E3D378}"/>
    <dgm:cxn modelId="{911938E3-5E01-4EFC-81A8-05CB0F0A1857}" srcId="{E4C15AF7-8696-4D24-BA09-0D14D4E1F058}" destId="{06BF52ED-AD07-4A59-9EC6-B949D67769D2}" srcOrd="4" destOrd="0" parTransId="{C04A6518-26F8-43DA-BA47-D320045D9C1D}" sibTransId="{F4DAF6F1-C959-4D14-A807-ABA9B71B2DF6}"/>
    <dgm:cxn modelId="{443C77E4-DFF0-4A34-8CA4-362A5A9D21E9}" srcId="{E4C15AF7-8696-4D24-BA09-0D14D4E1F058}" destId="{2E483917-3574-4BE9-AF23-D5D5041AE4B6}" srcOrd="0" destOrd="0" parTransId="{02AFB06C-9303-442F-A575-0CA44E1E21E1}" sibTransId="{E4BE87F0-EB62-4C4D-9121-63112B2B92ED}"/>
    <dgm:cxn modelId="{FB1BB8EE-904C-4450-9C20-C01CB2D87F78}" type="presOf" srcId="{5BA591EC-FF84-411A-B5FB-8FE2F32C11DB}" destId="{F03F5808-11C5-42AA-9A3F-97D153CF08E7}" srcOrd="0" destOrd="0" presId="urn:microsoft.com/office/officeart/2005/8/layout/hProcess11"/>
    <dgm:cxn modelId="{F931C762-891A-4114-8C2F-83616B98D2D2}" type="presParOf" srcId="{110A6B50-C486-4F47-8677-1BCBF9DB0E75}" destId="{F61B32D9-A89E-4B3F-9776-4CC196B6DD96}" srcOrd="0" destOrd="0" presId="urn:microsoft.com/office/officeart/2005/8/layout/hProcess11"/>
    <dgm:cxn modelId="{351C8100-8E64-437D-819A-897BFEB35BAF}" type="presParOf" srcId="{110A6B50-C486-4F47-8677-1BCBF9DB0E75}" destId="{A45F2CA6-CE7D-42E1-AB70-903F48C7902C}" srcOrd="1" destOrd="0" presId="urn:microsoft.com/office/officeart/2005/8/layout/hProcess11"/>
    <dgm:cxn modelId="{C078209C-681D-4BD1-8DD6-168FF696F5D5}" type="presParOf" srcId="{A45F2CA6-CE7D-42E1-AB70-903F48C7902C}" destId="{ACE54BEC-F537-479F-8AE8-16CE07D7EB31}" srcOrd="0" destOrd="0" presId="urn:microsoft.com/office/officeart/2005/8/layout/hProcess11"/>
    <dgm:cxn modelId="{F27CF3C1-D8A8-4B02-A047-43A47B4923C8}" type="presParOf" srcId="{ACE54BEC-F537-479F-8AE8-16CE07D7EB31}" destId="{A247D67B-82A4-4CF0-A703-5138DB86AC31}" srcOrd="0" destOrd="0" presId="urn:microsoft.com/office/officeart/2005/8/layout/hProcess11"/>
    <dgm:cxn modelId="{10008232-0066-46F2-AAE9-686469F76B07}" type="presParOf" srcId="{ACE54BEC-F537-479F-8AE8-16CE07D7EB31}" destId="{93EF1AB2-5EDB-48DA-B563-8D7D061064D1}" srcOrd="1" destOrd="0" presId="urn:microsoft.com/office/officeart/2005/8/layout/hProcess11"/>
    <dgm:cxn modelId="{02D60E50-D085-4CA1-9EB6-8A8D9D769216}" type="presParOf" srcId="{ACE54BEC-F537-479F-8AE8-16CE07D7EB31}" destId="{E1EEDB0C-8851-4227-8A82-D81A5E422B5E}" srcOrd="2" destOrd="0" presId="urn:microsoft.com/office/officeart/2005/8/layout/hProcess11"/>
    <dgm:cxn modelId="{9544A05C-2700-4DBF-8A46-273242DF1E7D}" type="presParOf" srcId="{A45F2CA6-CE7D-42E1-AB70-903F48C7902C}" destId="{A2E46037-83F2-46EA-87D9-92BF47F1F3A7}" srcOrd="1" destOrd="0" presId="urn:microsoft.com/office/officeart/2005/8/layout/hProcess11"/>
    <dgm:cxn modelId="{A18684D6-5812-49C6-821F-D2716A0B8A65}" type="presParOf" srcId="{A45F2CA6-CE7D-42E1-AB70-903F48C7902C}" destId="{F4B9F43F-1298-438A-8A67-5C2F32EDFACA}" srcOrd="2" destOrd="0" presId="urn:microsoft.com/office/officeart/2005/8/layout/hProcess11"/>
    <dgm:cxn modelId="{377D7166-B5D5-4192-B79D-870A9FE36EB6}" type="presParOf" srcId="{F4B9F43F-1298-438A-8A67-5C2F32EDFACA}" destId="{938B7942-8BD3-4899-8A74-6DE5B2266BAE}" srcOrd="0" destOrd="0" presId="urn:microsoft.com/office/officeart/2005/8/layout/hProcess11"/>
    <dgm:cxn modelId="{47016E85-7576-417B-940E-D0B858D963B6}" type="presParOf" srcId="{F4B9F43F-1298-438A-8A67-5C2F32EDFACA}" destId="{5AF6B1D5-3ADA-48DE-9127-5F895F9E3FAE}" srcOrd="1" destOrd="0" presId="urn:microsoft.com/office/officeart/2005/8/layout/hProcess11"/>
    <dgm:cxn modelId="{8EDE4958-6D4E-4985-942F-8DDA0649E93C}" type="presParOf" srcId="{F4B9F43F-1298-438A-8A67-5C2F32EDFACA}" destId="{7E848BFF-D754-4F28-9D47-316340A6508B}" srcOrd="2" destOrd="0" presId="urn:microsoft.com/office/officeart/2005/8/layout/hProcess11"/>
    <dgm:cxn modelId="{2D10775A-4FCB-45EC-9C6A-F371E45861A8}" type="presParOf" srcId="{A45F2CA6-CE7D-42E1-AB70-903F48C7902C}" destId="{B3C3F00A-290D-4CA4-A252-E41FDAE98634}" srcOrd="3" destOrd="0" presId="urn:microsoft.com/office/officeart/2005/8/layout/hProcess11"/>
    <dgm:cxn modelId="{EF476931-E31C-42A1-8C34-B11478E86535}" type="presParOf" srcId="{A45F2CA6-CE7D-42E1-AB70-903F48C7902C}" destId="{4D58ACC7-42BD-4465-A50A-2929CD71081E}" srcOrd="4" destOrd="0" presId="urn:microsoft.com/office/officeart/2005/8/layout/hProcess11"/>
    <dgm:cxn modelId="{2546C2D3-CB9D-481B-8BD2-5133154C8834}" type="presParOf" srcId="{4D58ACC7-42BD-4465-A50A-2929CD71081E}" destId="{A8EC8ECD-7E88-4A88-942C-7D2D8E0F6D11}" srcOrd="0" destOrd="0" presId="urn:microsoft.com/office/officeart/2005/8/layout/hProcess11"/>
    <dgm:cxn modelId="{33B1BB78-5AF2-474C-BEA7-B8DD2E6AEEF9}" type="presParOf" srcId="{4D58ACC7-42BD-4465-A50A-2929CD71081E}" destId="{CD945DFE-0DE9-4526-85C1-4FF1A7680912}" srcOrd="1" destOrd="0" presId="urn:microsoft.com/office/officeart/2005/8/layout/hProcess11"/>
    <dgm:cxn modelId="{0F7C35D6-DC9F-43E6-AB4D-6FE072F556D6}" type="presParOf" srcId="{4D58ACC7-42BD-4465-A50A-2929CD71081E}" destId="{E0ABE6F7-17C2-48B0-9C41-BD64BBD3FCCF}" srcOrd="2" destOrd="0" presId="urn:microsoft.com/office/officeart/2005/8/layout/hProcess11"/>
    <dgm:cxn modelId="{F78D3A25-7FED-47E6-B879-ECA84325407E}" type="presParOf" srcId="{A45F2CA6-CE7D-42E1-AB70-903F48C7902C}" destId="{DAFC43D2-42AE-4F16-BC9F-3246F219230F}" srcOrd="5" destOrd="0" presId="urn:microsoft.com/office/officeart/2005/8/layout/hProcess11"/>
    <dgm:cxn modelId="{9DAD171C-1816-4FCC-8DE7-292F857E645B}" type="presParOf" srcId="{A45F2CA6-CE7D-42E1-AB70-903F48C7902C}" destId="{7BA8C63A-D8D9-4C4D-BA5F-B580016B1CD2}" srcOrd="6" destOrd="0" presId="urn:microsoft.com/office/officeart/2005/8/layout/hProcess11"/>
    <dgm:cxn modelId="{44D26AC7-F711-43A8-BC43-816FB7F314A0}" type="presParOf" srcId="{7BA8C63A-D8D9-4C4D-BA5F-B580016B1CD2}" destId="{109DA40E-D478-4E33-A324-CA0894DD717B}" srcOrd="0" destOrd="0" presId="urn:microsoft.com/office/officeart/2005/8/layout/hProcess11"/>
    <dgm:cxn modelId="{167C6941-9B9D-4542-80F6-CEBB51522EEA}" type="presParOf" srcId="{7BA8C63A-D8D9-4C4D-BA5F-B580016B1CD2}" destId="{221D7BCD-AF80-47C4-A38A-F16DE147ED7E}" srcOrd="1" destOrd="0" presId="urn:microsoft.com/office/officeart/2005/8/layout/hProcess11"/>
    <dgm:cxn modelId="{562094BA-95D8-44E0-A308-8E5366C81BC3}" type="presParOf" srcId="{7BA8C63A-D8D9-4C4D-BA5F-B580016B1CD2}" destId="{4FCAE31E-1353-464A-B878-FCCE3C1EB2A4}" srcOrd="2" destOrd="0" presId="urn:microsoft.com/office/officeart/2005/8/layout/hProcess11"/>
    <dgm:cxn modelId="{93593449-2013-4818-8DCE-019A791C44C7}" type="presParOf" srcId="{A45F2CA6-CE7D-42E1-AB70-903F48C7902C}" destId="{63D8E222-3190-4F25-8480-0E82D1CCD33F}" srcOrd="7" destOrd="0" presId="urn:microsoft.com/office/officeart/2005/8/layout/hProcess11"/>
    <dgm:cxn modelId="{32620107-F187-4A5C-8D1D-A354A47595DF}" type="presParOf" srcId="{A45F2CA6-CE7D-42E1-AB70-903F48C7902C}" destId="{E9AAD1A7-7036-4BAE-9268-0FF38D304126}" srcOrd="8" destOrd="0" presId="urn:microsoft.com/office/officeart/2005/8/layout/hProcess11"/>
    <dgm:cxn modelId="{40AD0A2E-8C07-4B25-8F15-60A4C67DD2ED}" type="presParOf" srcId="{E9AAD1A7-7036-4BAE-9268-0FF38D304126}" destId="{809EF77C-5817-4066-A391-88FB2EB824EB}" srcOrd="0" destOrd="0" presId="urn:microsoft.com/office/officeart/2005/8/layout/hProcess11"/>
    <dgm:cxn modelId="{36065444-A790-48D9-A416-5B0717A223D1}" type="presParOf" srcId="{E9AAD1A7-7036-4BAE-9268-0FF38D304126}" destId="{A555E792-2E8B-45D6-8F06-589A65546603}" srcOrd="1" destOrd="0" presId="urn:microsoft.com/office/officeart/2005/8/layout/hProcess11"/>
    <dgm:cxn modelId="{126579A4-03C4-4198-9DE6-CD08531B4852}" type="presParOf" srcId="{E9AAD1A7-7036-4BAE-9268-0FF38D304126}" destId="{0898E501-3921-481E-A29C-8F1CE135ED2C}" srcOrd="2" destOrd="0" presId="urn:microsoft.com/office/officeart/2005/8/layout/hProcess11"/>
    <dgm:cxn modelId="{878D226A-CC12-4553-9D18-EDBBD0352418}" type="presParOf" srcId="{A45F2CA6-CE7D-42E1-AB70-903F48C7902C}" destId="{74EE8C51-1528-4E32-A135-5E09C129A92B}" srcOrd="9" destOrd="0" presId="urn:microsoft.com/office/officeart/2005/8/layout/hProcess11"/>
    <dgm:cxn modelId="{31F17687-89A0-41DB-B006-7A2AF807278A}" type="presParOf" srcId="{A45F2CA6-CE7D-42E1-AB70-903F48C7902C}" destId="{A6F56E23-F365-4897-B6D3-89A5EA1A8024}" srcOrd="10" destOrd="0" presId="urn:microsoft.com/office/officeart/2005/8/layout/hProcess11"/>
    <dgm:cxn modelId="{54D28975-6A5B-43F0-A6EF-DE9404ADF1A0}" type="presParOf" srcId="{A6F56E23-F365-4897-B6D3-89A5EA1A8024}" destId="{2D9839BE-49B5-45AB-B1AC-E287CF0D23CD}" srcOrd="0" destOrd="0" presId="urn:microsoft.com/office/officeart/2005/8/layout/hProcess11"/>
    <dgm:cxn modelId="{3A64F148-9222-4E5B-9E4C-CA9EF3E84BA8}" type="presParOf" srcId="{A6F56E23-F365-4897-B6D3-89A5EA1A8024}" destId="{175FE7E8-0DC0-4D15-A985-1B4E546E20F8}" srcOrd="1" destOrd="0" presId="urn:microsoft.com/office/officeart/2005/8/layout/hProcess11"/>
    <dgm:cxn modelId="{07DD5E4D-457E-416C-830A-C3C235ACD8F5}" type="presParOf" srcId="{A6F56E23-F365-4897-B6D3-89A5EA1A8024}" destId="{2664A79E-4964-4F6D-9896-477B05401A29}" srcOrd="2" destOrd="0" presId="urn:microsoft.com/office/officeart/2005/8/layout/hProcess11"/>
    <dgm:cxn modelId="{66918F27-5D74-4384-B938-D89CA5F8934E}" type="presParOf" srcId="{A45F2CA6-CE7D-42E1-AB70-903F48C7902C}" destId="{EB1A0BB1-9744-4E20-8D89-956BD32FBB88}" srcOrd="11" destOrd="0" presId="urn:microsoft.com/office/officeart/2005/8/layout/hProcess11"/>
    <dgm:cxn modelId="{A2BFFF21-3BF2-4237-8878-EDC34A4599D3}" type="presParOf" srcId="{A45F2CA6-CE7D-42E1-AB70-903F48C7902C}" destId="{D9530CA6-16C8-4D29-9CC8-CAD5A2CF9BFA}" srcOrd="12" destOrd="0" presId="urn:microsoft.com/office/officeart/2005/8/layout/hProcess11"/>
    <dgm:cxn modelId="{43889438-9A30-427C-846F-7A92650AD3F9}" type="presParOf" srcId="{D9530CA6-16C8-4D29-9CC8-CAD5A2CF9BFA}" destId="{B88F7867-94FE-43F5-AD6D-1FD0684BE705}" srcOrd="0" destOrd="0" presId="urn:microsoft.com/office/officeart/2005/8/layout/hProcess11"/>
    <dgm:cxn modelId="{5F754D80-DD23-4297-8F1D-331C534657E9}" type="presParOf" srcId="{D9530CA6-16C8-4D29-9CC8-CAD5A2CF9BFA}" destId="{EFB30698-CCAE-4361-B636-6887F15945F1}" srcOrd="1" destOrd="0" presId="urn:microsoft.com/office/officeart/2005/8/layout/hProcess11"/>
    <dgm:cxn modelId="{E85DF242-11DD-42F3-B592-92C4345359C6}" type="presParOf" srcId="{D9530CA6-16C8-4D29-9CC8-CAD5A2CF9BFA}" destId="{E8C79FEA-F2BC-443D-ADAD-056301780F68}" srcOrd="2" destOrd="0" presId="urn:microsoft.com/office/officeart/2005/8/layout/hProcess11"/>
    <dgm:cxn modelId="{9AA96FD8-136A-4F87-98E4-309F0DF4CAD7}" type="presParOf" srcId="{A45F2CA6-CE7D-42E1-AB70-903F48C7902C}" destId="{B7DBF3FA-2DDA-448B-A58E-2BB7E2C3B847}" srcOrd="13" destOrd="0" presId="urn:microsoft.com/office/officeart/2005/8/layout/hProcess11"/>
    <dgm:cxn modelId="{DEEE4FE9-124F-4A57-B494-E71C15E2F647}" type="presParOf" srcId="{A45F2CA6-CE7D-42E1-AB70-903F48C7902C}" destId="{A77C0B04-934C-47D0-8A50-B7748D46EA5E}" srcOrd="14" destOrd="0" presId="urn:microsoft.com/office/officeart/2005/8/layout/hProcess11"/>
    <dgm:cxn modelId="{8B358DB9-385B-4EDB-B0F1-1A9D99B4B5BC}" type="presParOf" srcId="{A77C0B04-934C-47D0-8A50-B7748D46EA5E}" destId="{F03F5808-11C5-42AA-9A3F-97D153CF08E7}" srcOrd="0" destOrd="0" presId="urn:microsoft.com/office/officeart/2005/8/layout/hProcess11"/>
    <dgm:cxn modelId="{8EBA22A4-79B7-4AC1-8D35-46167A6E27F6}" type="presParOf" srcId="{A77C0B04-934C-47D0-8A50-B7748D46EA5E}" destId="{30FCF771-D2F5-4B5F-97C2-8BA06105AEDB}" srcOrd="1" destOrd="0" presId="urn:microsoft.com/office/officeart/2005/8/layout/hProcess11"/>
    <dgm:cxn modelId="{B85BF180-AAB7-4602-89C2-DE254EF91B80}" type="presParOf" srcId="{A77C0B04-934C-47D0-8A50-B7748D46EA5E}" destId="{E79B1736-C23F-48AE-A011-D28692481696}" srcOrd="2" destOrd="0" presId="urn:microsoft.com/office/officeart/2005/8/layout/hProcess11"/>
    <dgm:cxn modelId="{EEC5454E-0CD6-4AB3-A3E4-76096989ABD7}" type="presParOf" srcId="{A45F2CA6-CE7D-42E1-AB70-903F48C7902C}" destId="{1E1DC76D-A6AC-4C1B-AFDD-4EA1E5F8553C}" srcOrd="15" destOrd="0" presId="urn:microsoft.com/office/officeart/2005/8/layout/hProcess11"/>
    <dgm:cxn modelId="{00A5311B-C3F4-4844-B99E-ED639D676363}" type="presParOf" srcId="{A45F2CA6-CE7D-42E1-AB70-903F48C7902C}" destId="{54E0B3F0-D693-4306-B3CF-6ECFE7B4D1CB}" srcOrd="16" destOrd="0" presId="urn:microsoft.com/office/officeart/2005/8/layout/hProcess11"/>
    <dgm:cxn modelId="{A47E0A94-B20D-43F8-8B62-564A57F7F5E3}" type="presParOf" srcId="{54E0B3F0-D693-4306-B3CF-6ECFE7B4D1CB}" destId="{EF71A8A1-B8ED-47E7-B652-988789A29139}" srcOrd="0" destOrd="0" presId="urn:microsoft.com/office/officeart/2005/8/layout/hProcess11"/>
    <dgm:cxn modelId="{7CC94941-88BD-4F4F-84D5-102AAD6E0910}" type="presParOf" srcId="{54E0B3F0-D693-4306-B3CF-6ECFE7B4D1CB}" destId="{DA9BA519-44A0-4F9D-A7A6-2BAA8E121E57}" srcOrd="1" destOrd="0" presId="urn:microsoft.com/office/officeart/2005/8/layout/hProcess11"/>
    <dgm:cxn modelId="{F518B4E8-A7CB-4705-B5F3-E86515CFFD86}" type="presParOf" srcId="{54E0B3F0-D693-4306-B3CF-6ECFE7B4D1CB}" destId="{E21DF228-2CEC-43A7-9F25-7AC8A78E6440}" srcOrd="2" destOrd="0" presId="urn:microsoft.com/office/officeart/2005/8/layout/hProcess1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743F72-7102-4A98-96B1-FEF467651926}" type="doc">
      <dgm:prSet loTypeId="urn:microsoft.com/office/officeart/2005/8/layout/chevronAccent+Icon" loCatId="process" qsTypeId="urn:microsoft.com/office/officeart/2005/8/quickstyle/3d3" qsCatId="3D" csTypeId="urn:microsoft.com/office/officeart/2005/8/colors/accent3_5" csCatId="accent3" phldr="1"/>
      <dgm:spPr/>
      <dgm:t>
        <a:bodyPr/>
        <a:lstStyle/>
        <a:p>
          <a:endParaRPr lang="en-US"/>
        </a:p>
      </dgm:t>
    </dgm:pt>
    <dgm:pt modelId="{2CA3D74A-3852-4836-A94E-F3E9B5FB76A7}">
      <dgm:prSet phldrT="[Text]"/>
      <dgm:spPr/>
      <dgm:t>
        <a:bodyPr/>
        <a:lstStyle/>
        <a:p>
          <a:r>
            <a:rPr lang="fr-FR" dirty="0">
              <a:ln/>
            </a:rPr>
            <a:t>Chargement et normalisation</a:t>
          </a:r>
          <a:endParaRPr lang="en-US" dirty="0">
            <a:ln/>
          </a:endParaRPr>
        </a:p>
      </dgm:t>
    </dgm:pt>
    <dgm:pt modelId="{690EA8CC-ACB2-4BE3-84EA-4CC1F880CE82}" type="parTrans" cxnId="{D0FBB453-61A9-4452-8574-1E62B5D24B0B}">
      <dgm:prSet/>
      <dgm:spPr/>
      <dgm:t>
        <a:bodyPr/>
        <a:lstStyle/>
        <a:p>
          <a:endParaRPr lang="en-US">
            <a:ln>
              <a:noFill/>
            </a:ln>
            <a:solidFill>
              <a:srgbClr val="1E3A8A"/>
            </a:solidFill>
          </a:endParaRPr>
        </a:p>
      </dgm:t>
    </dgm:pt>
    <dgm:pt modelId="{EF92B046-327F-45AC-91EE-00F54B89CDF8}" type="sibTrans" cxnId="{D0FBB453-61A9-4452-8574-1E62B5D24B0B}">
      <dgm:prSet/>
      <dgm:spPr/>
      <dgm:t>
        <a:bodyPr/>
        <a:lstStyle/>
        <a:p>
          <a:endParaRPr lang="en-US">
            <a:ln>
              <a:noFill/>
            </a:ln>
            <a:solidFill>
              <a:srgbClr val="1E3A8A"/>
            </a:solidFill>
          </a:endParaRPr>
        </a:p>
      </dgm:t>
    </dgm:pt>
    <dgm:pt modelId="{3C473D4F-34E9-4986-8D3B-784257BBABC7}">
      <dgm:prSet phldrT="[Text]"/>
      <dgm:spPr/>
      <dgm:t>
        <a:bodyPr/>
        <a:lstStyle/>
        <a:p>
          <a:r>
            <a:rPr lang="en-US">
              <a:ln/>
            </a:rPr>
            <a:t>Augmentation des données</a:t>
          </a:r>
          <a:endParaRPr lang="en-US" dirty="0">
            <a:ln/>
          </a:endParaRPr>
        </a:p>
      </dgm:t>
    </dgm:pt>
    <dgm:pt modelId="{6B10F392-2C4F-4376-85EC-6948934FAD0A}" type="parTrans" cxnId="{9F23D529-A36C-4DE2-A135-44283D23AD48}">
      <dgm:prSet/>
      <dgm:spPr/>
      <dgm:t>
        <a:bodyPr/>
        <a:lstStyle/>
        <a:p>
          <a:endParaRPr lang="en-US">
            <a:ln>
              <a:noFill/>
            </a:ln>
            <a:solidFill>
              <a:srgbClr val="1E3A8A"/>
            </a:solidFill>
          </a:endParaRPr>
        </a:p>
      </dgm:t>
    </dgm:pt>
    <dgm:pt modelId="{1698FD5A-8838-417C-AD56-BB6923E3CBA5}" type="sibTrans" cxnId="{9F23D529-A36C-4DE2-A135-44283D23AD48}">
      <dgm:prSet/>
      <dgm:spPr/>
      <dgm:t>
        <a:bodyPr/>
        <a:lstStyle/>
        <a:p>
          <a:endParaRPr lang="en-US">
            <a:ln>
              <a:noFill/>
            </a:ln>
            <a:solidFill>
              <a:srgbClr val="1E3A8A"/>
            </a:solidFill>
          </a:endParaRPr>
        </a:p>
      </dgm:t>
    </dgm:pt>
    <dgm:pt modelId="{6FC1F981-F919-431A-B41B-5B5A6DED6E9A}">
      <dgm:prSet/>
      <dgm:spPr/>
      <dgm:t>
        <a:bodyPr/>
        <a:lstStyle/>
        <a:p>
          <a:r>
            <a:rPr lang="en-US">
              <a:ln/>
            </a:rPr>
            <a:t>Extraction des caractéristiques</a:t>
          </a:r>
          <a:endParaRPr lang="en-US" dirty="0">
            <a:ln/>
          </a:endParaRPr>
        </a:p>
      </dgm:t>
    </dgm:pt>
    <dgm:pt modelId="{485F6D58-8D3F-4736-8567-779E12906EF0}" type="parTrans" cxnId="{8617B8DF-2E40-4BCA-ABB9-667862507FCD}">
      <dgm:prSet/>
      <dgm:spPr/>
      <dgm:t>
        <a:bodyPr/>
        <a:lstStyle/>
        <a:p>
          <a:endParaRPr lang="en-US">
            <a:ln>
              <a:noFill/>
            </a:ln>
            <a:solidFill>
              <a:srgbClr val="1E3A8A"/>
            </a:solidFill>
          </a:endParaRPr>
        </a:p>
      </dgm:t>
    </dgm:pt>
    <dgm:pt modelId="{C517D942-C9DE-45FC-8DCD-1C1B8E903F2D}" type="sibTrans" cxnId="{8617B8DF-2E40-4BCA-ABB9-667862507FCD}">
      <dgm:prSet/>
      <dgm:spPr/>
      <dgm:t>
        <a:bodyPr/>
        <a:lstStyle/>
        <a:p>
          <a:endParaRPr lang="en-US">
            <a:ln>
              <a:noFill/>
            </a:ln>
            <a:solidFill>
              <a:srgbClr val="1E3A8A"/>
            </a:solidFill>
          </a:endParaRPr>
        </a:p>
      </dgm:t>
    </dgm:pt>
    <dgm:pt modelId="{D23B133C-FCA1-49A6-BC65-0017AA9FF398}">
      <dgm:prSet/>
      <dgm:spPr/>
      <dgm:t>
        <a:bodyPr/>
        <a:lstStyle/>
        <a:p>
          <a:r>
            <a:rPr lang="en-US" dirty="0" err="1">
              <a:ln/>
            </a:rPr>
            <a:t>Préparation</a:t>
          </a:r>
          <a:r>
            <a:rPr lang="en-US" dirty="0">
              <a:ln/>
            </a:rPr>
            <a:t> pour </a:t>
          </a:r>
          <a:r>
            <a:rPr lang="en-US" dirty="0" err="1">
              <a:ln/>
            </a:rPr>
            <a:t>l’apprentissage</a:t>
          </a:r>
          <a:endParaRPr lang="en-US" dirty="0">
            <a:ln/>
          </a:endParaRPr>
        </a:p>
      </dgm:t>
    </dgm:pt>
    <dgm:pt modelId="{7A098636-8E5E-41BF-8047-0D893CBE37BC}" type="parTrans" cxnId="{156436C0-02AC-47B4-99C8-A2B3DA045FE7}">
      <dgm:prSet/>
      <dgm:spPr/>
      <dgm:t>
        <a:bodyPr/>
        <a:lstStyle/>
        <a:p>
          <a:endParaRPr lang="en-US">
            <a:ln>
              <a:noFill/>
            </a:ln>
            <a:solidFill>
              <a:srgbClr val="1E3A8A"/>
            </a:solidFill>
          </a:endParaRPr>
        </a:p>
      </dgm:t>
    </dgm:pt>
    <dgm:pt modelId="{673D1477-C71F-4B26-B74B-242F8AF77CD5}" type="sibTrans" cxnId="{156436C0-02AC-47B4-99C8-A2B3DA045FE7}">
      <dgm:prSet/>
      <dgm:spPr/>
      <dgm:t>
        <a:bodyPr/>
        <a:lstStyle/>
        <a:p>
          <a:endParaRPr lang="en-US">
            <a:ln>
              <a:noFill/>
            </a:ln>
            <a:solidFill>
              <a:srgbClr val="1E3A8A"/>
            </a:solidFill>
          </a:endParaRPr>
        </a:p>
      </dgm:t>
    </dgm:pt>
    <dgm:pt modelId="{574BBF9D-A000-497E-8E37-DBD235272ADB}" type="pres">
      <dgm:prSet presAssocID="{2D743F72-7102-4A98-96B1-FEF467651926}" presName="Name0" presStyleCnt="0">
        <dgm:presLayoutVars>
          <dgm:dir/>
          <dgm:resizeHandles val="exact"/>
        </dgm:presLayoutVars>
      </dgm:prSet>
      <dgm:spPr/>
    </dgm:pt>
    <dgm:pt modelId="{CE4CAADA-C18E-4182-AA75-6B1B7EA192D9}" type="pres">
      <dgm:prSet presAssocID="{2CA3D74A-3852-4836-A94E-F3E9B5FB76A7}" presName="composite" presStyleCnt="0"/>
      <dgm:spPr/>
    </dgm:pt>
    <dgm:pt modelId="{457D0144-CD52-417E-B340-A45A63C81B19}" type="pres">
      <dgm:prSet presAssocID="{2CA3D74A-3852-4836-A94E-F3E9B5FB76A7}" presName="bgChev" presStyleLbl="node1" presStyleIdx="0" presStyleCnt="4"/>
      <dgm:spPr/>
    </dgm:pt>
    <dgm:pt modelId="{C55124F1-879C-48F8-A0DA-730BFE9B5A32}" type="pres">
      <dgm:prSet presAssocID="{2CA3D74A-3852-4836-A94E-F3E9B5FB76A7}" presName="txNode" presStyleLbl="fgAcc1" presStyleIdx="0" presStyleCnt="4">
        <dgm:presLayoutVars>
          <dgm:bulletEnabled val="1"/>
        </dgm:presLayoutVars>
      </dgm:prSet>
      <dgm:spPr/>
    </dgm:pt>
    <dgm:pt modelId="{64E10D82-8E0E-4F3B-956C-8A956083B58A}" type="pres">
      <dgm:prSet presAssocID="{EF92B046-327F-45AC-91EE-00F54B89CDF8}" presName="compositeSpace" presStyleCnt="0"/>
      <dgm:spPr/>
    </dgm:pt>
    <dgm:pt modelId="{A6C5B332-A245-4569-A387-700502B9640E}" type="pres">
      <dgm:prSet presAssocID="{3C473D4F-34E9-4986-8D3B-784257BBABC7}" presName="composite" presStyleCnt="0"/>
      <dgm:spPr/>
    </dgm:pt>
    <dgm:pt modelId="{2E148D94-1F92-45DA-B23E-DC77D1ECF33C}" type="pres">
      <dgm:prSet presAssocID="{3C473D4F-34E9-4986-8D3B-784257BBABC7}" presName="bgChev" presStyleLbl="node1" presStyleIdx="1" presStyleCnt="4"/>
      <dgm:spPr/>
    </dgm:pt>
    <dgm:pt modelId="{A0D09158-2B27-49C4-ADB7-BFBD218DED5F}" type="pres">
      <dgm:prSet presAssocID="{3C473D4F-34E9-4986-8D3B-784257BBABC7}" presName="txNode" presStyleLbl="fgAcc1" presStyleIdx="1" presStyleCnt="4">
        <dgm:presLayoutVars>
          <dgm:bulletEnabled val="1"/>
        </dgm:presLayoutVars>
      </dgm:prSet>
      <dgm:spPr/>
    </dgm:pt>
    <dgm:pt modelId="{C0FDF2B2-1D91-476F-81CA-A137D788ED59}" type="pres">
      <dgm:prSet presAssocID="{1698FD5A-8838-417C-AD56-BB6923E3CBA5}" presName="compositeSpace" presStyleCnt="0"/>
      <dgm:spPr/>
    </dgm:pt>
    <dgm:pt modelId="{47D3B518-C537-4694-985C-48F273EC9EC6}" type="pres">
      <dgm:prSet presAssocID="{6FC1F981-F919-431A-B41B-5B5A6DED6E9A}" presName="composite" presStyleCnt="0"/>
      <dgm:spPr/>
    </dgm:pt>
    <dgm:pt modelId="{63B8EC44-6F69-419A-84E7-DF62F0245131}" type="pres">
      <dgm:prSet presAssocID="{6FC1F981-F919-431A-B41B-5B5A6DED6E9A}" presName="bgChev" presStyleLbl="node1" presStyleIdx="2" presStyleCnt="4"/>
      <dgm:spPr/>
    </dgm:pt>
    <dgm:pt modelId="{BA49C719-DA16-4316-B00C-33B6F3EB82EB}" type="pres">
      <dgm:prSet presAssocID="{6FC1F981-F919-431A-B41B-5B5A6DED6E9A}" presName="txNode" presStyleLbl="fgAcc1" presStyleIdx="2" presStyleCnt="4">
        <dgm:presLayoutVars>
          <dgm:bulletEnabled val="1"/>
        </dgm:presLayoutVars>
      </dgm:prSet>
      <dgm:spPr/>
    </dgm:pt>
    <dgm:pt modelId="{92B7EE72-6252-4990-B345-2B3DF40E84EB}" type="pres">
      <dgm:prSet presAssocID="{C517D942-C9DE-45FC-8DCD-1C1B8E903F2D}" presName="compositeSpace" presStyleCnt="0"/>
      <dgm:spPr/>
    </dgm:pt>
    <dgm:pt modelId="{7D982E91-08CB-4633-89E1-49077180EB6C}" type="pres">
      <dgm:prSet presAssocID="{D23B133C-FCA1-49A6-BC65-0017AA9FF398}" presName="composite" presStyleCnt="0"/>
      <dgm:spPr/>
    </dgm:pt>
    <dgm:pt modelId="{62DDFCDF-6A2B-4B00-9031-BDC48FDEF6AD}" type="pres">
      <dgm:prSet presAssocID="{D23B133C-FCA1-49A6-BC65-0017AA9FF398}" presName="bgChev" presStyleLbl="node1" presStyleIdx="3" presStyleCnt="4"/>
      <dgm:spPr/>
    </dgm:pt>
    <dgm:pt modelId="{C352602F-FCCF-4A6F-98AD-053655B38ED8}" type="pres">
      <dgm:prSet presAssocID="{D23B133C-FCA1-49A6-BC65-0017AA9FF398}" presName="txNode" presStyleLbl="fgAcc1" presStyleIdx="3" presStyleCnt="4">
        <dgm:presLayoutVars>
          <dgm:bulletEnabled val="1"/>
        </dgm:presLayoutVars>
      </dgm:prSet>
      <dgm:spPr/>
    </dgm:pt>
  </dgm:ptLst>
  <dgm:cxnLst>
    <dgm:cxn modelId="{9F23D529-A36C-4DE2-A135-44283D23AD48}" srcId="{2D743F72-7102-4A98-96B1-FEF467651926}" destId="{3C473D4F-34E9-4986-8D3B-784257BBABC7}" srcOrd="1" destOrd="0" parTransId="{6B10F392-2C4F-4376-85EC-6948934FAD0A}" sibTransId="{1698FD5A-8838-417C-AD56-BB6923E3CBA5}"/>
    <dgm:cxn modelId="{8FC5E12B-612D-4D9F-B0D3-D9C4CB6CBEE2}" type="presOf" srcId="{2D743F72-7102-4A98-96B1-FEF467651926}" destId="{574BBF9D-A000-497E-8E37-DBD235272ADB}" srcOrd="0" destOrd="0" presId="urn:microsoft.com/office/officeart/2005/8/layout/chevronAccent+Icon"/>
    <dgm:cxn modelId="{1253C54C-0967-4422-8946-DD910F186591}" type="presOf" srcId="{D23B133C-FCA1-49A6-BC65-0017AA9FF398}" destId="{C352602F-FCCF-4A6F-98AD-053655B38ED8}" srcOrd="0" destOrd="0" presId="urn:microsoft.com/office/officeart/2005/8/layout/chevronAccent+Icon"/>
    <dgm:cxn modelId="{32859A71-BC8C-45DE-9A1D-E1F5A4C3F645}" type="presOf" srcId="{3C473D4F-34E9-4986-8D3B-784257BBABC7}" destId="{A0D09158-2B27-49C4-ADB7-BFBD218DED5F}" srcOrd="0" destOrd="0" presId="urn:microsoft.com/office/officeart/2005/8/layout/chevronAccent+Icon"/>
    <dgm:cxn modelId="{D0FBB453-61A9-4452-8574-1E62B5D24B0B}" srcId="{2D743F72-7102-4A98-96B1-FEF467651926}" destId="{2CA3D74A-3852-4836-A94E-F3E9B5FB76A7}" srcOrd="0" destOrd="0" parTransId="{690EA8CC-ACB2-4BE3-84EA-4CC1F880CE82}" sibTransId="{EF92B046-327F-45AC-91EE-00F54B89CDF8}"/>
    <dgm:cxn modelId="{6F0083B4-BFED-4047-829A-EB063A3B6567}" type="presOf" srcId="{2CA3D74A-3852-4836-A94E-F3E9B5FB76A7}" destId="{C55124F1-879C-48F8-A0DA-730BFE9B5A32}" srcOrd="0" destOrd="0" presId="urn:microsoft.com/office/officeart/2005/8/layout/chevronAccent+Icon"/>
    <dgm:cxn modelId="{156436C0-02AC-47B4-99C8-A2B3DA045FE7}" srcId="{2D743F72-7102-4A98-96B1-FEF467651926}" destId="{D23B133C-FCA1-49A6-BC65-0017AA9FF398}" srcOrd="3" destOrd="0" parTransId="{7A098636-8E5E-41BF-8047-0D893CBE37BC}" sibTransId="{673D1477-C71F-4B26-B74B-242F8AF77CD5}"/>
    <dgm:cxn modelId="{8617B8DF-2E40-4BCA-ABB9-667862507FCD}" srcId="{2D743F72-7102-4A98-96B1-FEF467651926}" destId="{6FC1F981-F919-431A-B41B-5B5A6DED6E9A}" srcOrd="2" destOrd="0" parTransId="{485F6D58-8D3F-4736-8567-779E12906EF0}" sibTransId="{C517D942-C9DE-45FC-8DCD-1C1B8E903F2D}"/>
    <dgm:cxn modelId="{4704B3F6-66A4-4A70-8CB0-06D20B266A2C}" type="presOf" srcId="{6FC1F981-F919-431A-B41B-5B5A6DED6E9A}" destId="{BA49C719-DA16-4316-B00C-33B6F3EB82EB}" srcOrd="0" destOrd="0" presId="urn:microsoft.com/office/officeart/2005/8/layout/chevronAccent+Icon"/>
    <dgm:cxn modelId="{D7BBCC14-DCDC-4F8B-8918-E5B0F8E97DBA}" type="presParOf" srcId="{574BBF9D-A000-497E-8E37-DBD235272ADB}" destId="{CE4CAADA-C18E-4182-AA75-6B1B7EA192D9}" srcOrd="0" destOrd="0" presId="urn:microsoft.com/office/officeart/2005/8/layout/chevronAccent+Icon"/>
    <dgm:cxn modelId="{F533B48A-39CC-4EA3-8B23-0D81D55118B7}" type="presParOf" srcId="{CE4CAADA-C18E-4182-AA75-6B1B7EA192D9}" destId="{457D0144-CD52-417E-B340-A45A63C81B19}" srcOrd="0" destOrd="0" presId="urn:microsoft.com/office/officeart/2005/8/layout/chevronAccent+Icon"/>
    <dgm:cxn modelId="{A5B5323F-F148-4165-A636-94963D178A90}" type="presParOf" srcId="{CE4CAADA-C18E-4182-AA75-6B1B7EA192D9}" destId="{C55124F1-879C-48F8-A0DA-730BFE9B5A32}" srcOrd="1" destOrd="0" presId="urn:microsoft.com/office/officeart/2005/8/layout/chevronAccent+Icon"/>
    <dgm:cxn modelId="{EF0C1A01-3D18-4459-8004-6A22CDD20042}" type="presParOf" srcId="{574BBF9D-A000-497E-8E37-DBD235272ADB}" destId="{64E10D82-8E0E-4F3B-956C-8A956083B58A}" srcOrd="1" destOrd="0" presId="urn:microsoft.com/office/officeart/2005/8/layout/chevronAccent+Icon"/>
    <dgm:cxn modelId="{52FD21EF-7EB1-4CE9-B307-32DD1AC6A81B}" type="presParOf" srcId="{574BBF9D-A000-497E-8E37-DBD235272ADB}" destId="{A6C5B332-A245-4569-A387-700502B9640E}" srcOrd="2" destOrd="0" presId="urn:microsoft.com/office/officeart/2005/8/layout/chevronAccent+Icon"/>
    <dgm:cxn modelId="{ABD284A4-5C3C-465F-891A-F9383E88A334}" type="presParOf" srcId="{A6C5B332-A245-4569-A387-700502B9640E}" destId="{2E148D94-1F92-45DA-B23E-DC77D1ECF33C}" srcOrd="0" destOrd="0" presId="urn:microsoft.com/office/officeart/2005/8/layout/chevronAccent+Icon"/>
    <dgm:cxn modelId="{A69C8BBD-9310-4701-B17D-0846DF09B981}" type="presParOf" srcId="{A6C5B332-A245-4569-A387-700502B9640E}" destId="{A0D09158-2B27-49C4-ADB7-BFBD218DED5F}" srcOrd="1" destOrd="0" presId="urn:microsoft.com/office/officeart/2005/8/layout/chevronAccent+Icon"/>
    <dgm:cxn modelId="{185226C7-75ED-4629-A728-1B1C79EB9A40}" type="presParOf" srcId="{574BBF9D-A000-497E-8E37-DBD235272ADB}" destId="{C0FDF2B2-1D91-476F-81CA-A137D788ED59}" srcOrd="3" destOrd="0" presId="urn:microsoft.com/office/officeart/2005/8/layout/chevronAccent+Icon"/>
    <dgm:cxn modelId="{ED8CFBE5-DF1D-4846-8D01-0182D513A53A}" type="presParOf" srcId="{574BBF9D-A000-497E-8E37-DBD235272ADB}" destId="{47D3B518-C537-4694-985C-48F273EC9EC6}" srcOrd="4" destOrd="0" presId="urn:microsoft.com/office/officeart/2005/8/layout/chevronAccent+Icon"/>
    <dgm:cxn modelId="{89121AF1-3E6A-4659-B39F-C3DFEEF81F50}" type="presParOf" srcId="{47D3B518-C537-4694-985C-48F273EC9EC6}" destId="{63B8EC44-6F69-419A-84E7-DF62F0245131}" srcOrd="0" destOrd="0" presId="urn:microsoft.com/office/officeart/2005/8/layout/chevronAccent+Icon"/>
    <dgm:cxn modelId="{67403611-6EB1-49B5-AFC8-B7071C9C25AF}" type="presParOf" srcId="{47D3B518-C537-4694-985C-48F273EC9EC6}" destId="{BA49C719-DA16-4316-B00C-33B6F3EB82EB}" srcOrd="1" destOrd="0" presId="urn:microsoft.com/office/officeart/2005/8/layout/chevronAccent+Icon"/>
    <dgm:cxn modelId="{45013CEB-B368-4B3C-9718-518797BAF773}" type="presParOf" srcId="{574BBF9D-A000-497E-8E37-DBD235272ADB}" destId="{92B7EE72-6252-4990-B345-2B3DF40E84EB}" srcOrd="5" destOrd="0" presId="urn:microsoft.com/office/officeart/2005/8/layout/chevronAccent+Icon"/>
    <dgm:cxn modelId="{047FC807-06E4-4A96-B3A6-45C6CEFBB72C}" type="presParOf" srcId="{574BBF9D-A000-497E-8E37-DBD235272ADB}" destId="{7D982E91-08CB-4633-89E1-49077180EB6C}" srcOrd="6" destOrd="0" presId="urn:microsoft.com/office/officeart/2005/8/layout/chevronAccent+Icon"/>
    <dgm:cxn modelId="{AC6A670F-6EDC-48F9-87E1-8DCA910CA1BD}" type="presParOf" srcId="{7D982E91-08CB-4633-89E1-49077180EB6C}" destId="{62DDFCDF-6A2B-4B00-9031-BDC48FDEF6AD}" srcOrd="0" destOrd="0" presId="urn:microsoft.com/office/officeart/2005/8/layout/chevronAccent+Icon"/>
    <dgm:cxn modelId="{4F3D2A20-A01C-4E0E-B46C-1AA2B6B807B7}" type="presParOf" srcId="{7D982E91-08CB-4633-89E1-49077180EB6C}" destId="{C352602F-FCCF-4A6F-98AD-053655B38ED8}" srcOrd="1" destOrd="0" presId="urn:microsoft.com/office/officeart/2005/8/layout/chevronAccent+Icon"/>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1B32D9-A89E-4B3F-9776-4CC196B6DD96}">
      <dsp:nvSpPr>
        <dsp:cNvPr id="0" name=""/>
        <dsp:cNvSpPr/>
      </dsp:nvSpPr>
      <dsp:spPr>
        <a:xfrm>
          <a:off x="0" y="1392936"/>
          <a:ext cx="12192000" cy="1857248"/>
        </a:xfrm>
        <a:prstGeom prst="notchedRightArrow">
          <a:avLst/>
        </a:prstGeom>
        <a:solidFill>
          <a:schemeClr val="accent1">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247D67B-82A4-4CF0-A703-5138DB86AC31}">
      <dsp:nvSpPr>
        <dsp:cNvPr id="0" name=""/>
        <dsp:cNvSpPr/>
      </dsp:nvSpPr>
      <dsp:spPr>
        <a:xfrm>
          <a:off x="392" y="0"/>
          <a:ext cx="1285944"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Introduction : Contexte du projet</a:t>
          </a:r>
          <a:endParaRPr lang="en-US" sz="1100" kern="1200" dirty="0">
            <a:ln>
              <a:noFill/>
            </a:ln>
            <a:solidFill>
              <a:srgbClr val="1E3A8A"/>
            </a:solidFill>
            <a:latin typeface="Arial Black" panose="020B0A04020102020204" pitchFamily="34" charset="0"/>
          </a:endParaRPr>
        </a:p>
      </dsp:txBody>
      <dsp:txXfrm>
        <a:off x="392" y="0"/>
        <a:ext cx="1285944" cy="1857248"/>
      </dsp:txXfrm>
    </dsp:sp>
    <dsp:sp modelId="{93EF1AB2-5EDB-48DA-B563-8D7D061064D1}">
      <dsp:nvSpPr>
        <dsp:cNvPr id="0" name=""/>
        <dsp:cNvSpPr/>
      </dsp:nvSpPr>
      <dsp:spPr>
        <a:xfrm>
          <a:off x="411209" y="2089404"/>
          <a:ext cx="464312" cy="464312"/>
        </a:xfrm>
        <a:prstGeom prst="ellipse">
          <a:avLst/>
        </a:prstGeom>
        <a:solidFill>
          <a:schemeClr val="accent1">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38B7942-8BD3-4899-8A74-6DE5B2266BAE}">
      <dsp:nvSpPr>
        <dsp:cNvPr id="0" name=""/>
        <dsp:cNvSpPr/>
      </dsp:nvSpPr>
      <dsp:spPr>
        <a:xfrm>
          <a:off x="1337571" y="2785872"/>
          <a:ext cx="1304973"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Problématique et Objectifs</a:t>
          </a:r>
          <a:endParaRPr lang="en-US" sz="1100" kern="1200" dirty="0">
            <a:ln>
              <a:noFill/>
            </a:ln>
            <a:solidFill>
              <a:srgbClr val="1E3A8A"/>
            </a:solidFill>
            <a:latin typeface="Arial Black" panose="020B0A04020102020204" pitchFamily="34" charset="0"/>
          </a:endParaRPr>
        </a:p>
      </dsp:txBody>
      <dsp:txXfrm>
        <a:off x="1337571" y="2785872"/>
        <a:ext cx="1304973" cy="1857248"/>
      </dsp:txXfrm>
    </dsp:sp>
    <dsp:sp modelId="{5AF6B1D5-3ADA-48DE-9127-5F895F9E3FAE}">
      <dsp:nvSpPr>
        <dsp:cNvPr id="0" name=""/>
        <dsp:cNvSpPr/>
      </dsp:nvSpPr>
      <dsp:spPr>
        <a:xfrm>
          <a:off x="1757902" y="2089404"/>
          <a:ext cx="464312" cy="464312"/>
        </a:xfrm>
        <a:prstGeom prst="ellipse">
          <a:avLst/>
        </a:prstGeom>
        <a:solidFill>
          <a:schemeClr val="accent1">
            <a:shade val="50000"/>
            <a:hueOff val="89443"/>
            <a:satOff val="-2178"/>
            <a:lumOff val="953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8EC8ECD-7E88-4A88-942C-7D2D8E0F6D11}">
      <dsp:nvSpPr>
        <dsp:cNvPr id="0" name=""/>
        <dsp:cNvSpPr/>
      </dsp:nvSpPr>
      <dsp:spPr>
        <a:xfrm>
          <a:off x="2693778" y="0"/>
          <a:ext cx="1024681"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a:ln>
                <a:noFill/>
              </a:ln>
              <a:solidFill>
                <a:srgbClr val="1E3A8A"/>
              </a:solidFill>
              <a:latin typeface="Arial Black" panose="020B0A04020102020204" pitchFamily="34" charset="0"/>
            </a:rPr>
            <a:t>Données utilisées</a:t>
          </a:r>
          <a:endParaRPr lang="en-US" sz="1100" kern="1200" dirty="0">
            <a:ln>
              <a:noFill/>
            </a:ln>
            <a:solidFill>
              <a:srgbClr val="1E3A8A"/>
            </a:solidFill>
            <a:latin typeface="Arial Black" panose="020B0A04020102020204" pitchFamily="34" charset="0"/>
          </a:endParaRPr>
        </a:p>
      </dsp:txBody>
      <dsp:txXfrm>
        <a:off x="2693778" y="0"/>
        <a:ext cx="1024681" cy="1857248"/>
      </dsp:txXfrm>
    </dsp:sp>
    <dsp:sp modelId="{CD945DFE-0DE9-4526-85C1-4FF1A7680912}">
      <dsp:nvSpPr>
        <dsp:cNvPr id="0" name=""/>
        <dsp:cNvSpPr/>
      </dsp:nvSpPr>
      <dsp:spPr>
        <a:xfrm>
          <a:off x="2973963" y="2089404"/>
          <a:ext cx="464312" cy="464312"/>
        </a:xfrm>
        <a:prstGeom prst="ellipse">
          <a:avLst/>
        </a:prstGeom>
        <a:solidFill>
          <a:schemeClr val="accent1">
            <a:shade val="50000"/>
            <a:hueOff val="178886"/>
            <a:satOff val="-4356"/>
            <a:lumOff val="190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109DA40E-D478-4E33-A324-CA0894DD717B}">
      <dsp:nvSpPr>
        <dsp:cNvPr id="0" name=""/>
        <dsp:cNvSpPr/>
      </dsp:nvSpPr>
      <dsp:spPr>
        <a:xfrm>
          <a:off x="3769694" y="2785872"/>
          <a:ext cx="1024681"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Pipeline de traitement audio</a:t>
          </a:r>
          <a:endParaRPr lang="en-US" sz="1100" kern="1200" dirty="0">
            <a:ln>
              <a:noFill/>
            </a:ln>
            <a:solidFill>
              <a:srgbClr val="1E3A8A"/>
            </a:solidFill>
            <a:latin typeface="Arial Black" panose="020B0A04020102020204" pitchFamily="34" charset="0"/>
          </a:endParaRPr>
        </a:p>
      </dsp:txBody>
      <dsp:txXfrm>
        <a:off x="3769694" y="2785872"/>
        <a:ext cx="1024681" cy="1857248"/>
      </dsp:txXfrm>
    </dsp:sp>
    <dsp:sp modelId="{221D7BCD-AF80-47C4-A38A-F16DE147ED7E}">
      <dsp:nvSpPr>
        <dsp:cNvPr id="0" name=""/>
        <dsp:cNvSpPr/>
      </dsp:nvSpPr>
      <dsp:spPr>
        <a:xfrm>
          <a:off x="4049879" y="2089404"/>
          <a:ext cx="464312" cy="464312"/>
        </a:xfrm>
        <a:prstGeom prst="ellipse">
          <a:avLst/>
        </a:prstGeom>
        <a:solidFill>
          <a:schemeClr val="accent1">
            <a:shade val="50000"/>
            <a:hueOff val="268329"/>
            <a:satOff val="-6535"/>
            <a:lumOff val="285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09EF77C-5817-4066-A391-88FB2EB824EB}">
      <dsp:nvSpPr>
        <dsp:cNvPr id="0" name=""/>
        <dsp:cNvSpPr/>
      </dsp:nvSpPr>
      <dsp:spPr>
        <a:xfrm>
          <a:off x="4845610" y="0"/>
          <a:ext cx="1225140"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Architecture du modèle CNN-</a:t>
          </a:r>
          <a:r>
            <a:rPr lang="fr-FR" sz="1100" kern="1200" dirty="0" err="1">
              <a:ln>
                <a:noFill/>
              </a:ln>
              <a:solidFill>
                <a:srgbClr val="1E3A8A"/>
              </a:solidFill>
              <a:latin typeface="Arial Black" panose="020B0A04020102020204" pitchFamily="34" charset="0"/>
            </a:rPr>
            <a:t>BiLSTM</a:t>
          </a:r>
          <a:endParaRPr lang="en-US" sz="1100" kern="1200" dirty="0">
            <a:ln>
              <a:noFill/>
            </a:ln>
            <a:solidFill>
              <a:srgbClr val="1E3A8A"/>
            </a:solidFill>
            <a:latin typeface="Arial Black" panose="020B0A04020102020204" pitchFamily="34" charset="0"/>
          </a:endParaRPr>
        </a:p>
      </dsp:txBody>
      <dsp:txXfrm>
        <a:off x="4845610" y="0"/>
        <a:ext cx="1225140" cy="1857248"/>
      </dsp:txXfrm>
    </dsp:sp>
    <dsp:sp modelId="{A555E792-2E8B-45D6-8F06-589A65546603}">
      <dsp:nvSpPr>
        <dsp:cNvPr id="0" name=""/>
        <dsp:cNvSpPr/>
      </dsp:nvSpPr>
      <dsp:spPr>
        <a:xfrm>
          <a:off x="5226024" y="2089404"/>
          <a:ext cx="464312" cy="464312"/>
        </a:xfrm>
        <a:prstGeom prst="ellipse">
          <a:avLst/>
        </a:prstGeom>
        <a:solidFill>
          <a:schemeClr val="accent1">
            <a:shade val="50000"/>
            <a:hueOff val="357772"/>
            <a:satOff val="-8713"/>
            <a:lumOff val="3813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D9839BE-49B5-45AB-B1AC-E287CF0D23CD}">
      <dsp:nvSpPr>
        <dsp:cNvPr id="0" name=""/>
        <dsp:cNvSpPr/>
      </dsp:nvSpPr>
      <dsp:spPr>
        <a:xfrm>
          <a:off x="6121984" y="2785872"/>
          <a:ext cx="1024681"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a:ln>
                <a:noFill/>
              </a:ln>
              <a:solidFill>
                <a:srgbClr val="1E3A8A"/>
              </a:solidFill>
              <a:latin typeface="Arial Black" panose="020B0A04020102020204" pitchFamily="34" charset="0"/>
            </a:rPr>
            <a:t>Résultats obtenus</a:t>
          </a:r>
          <a:endParaRPr lang="en-US" sz="1100" kern="1200" dirty="0">
            <a:ln>
              <a:noFill/>
            </a:ln>
            <a:solidFill>
              <a:srgbClr val="1E3A8A"/>
            </a:solidFill>
            <a:latin typeface="Arial Black" panose="020B0A04020102020204" pitchFamily="34" charset="0"/>
          </a:endParaRPr>
        </a:p>
      </dsp:txBody>
      <dsp:txXfrm>
        <a:off x="6121984" y="2785872"/>
        <a:ext cx="1024681" cy="1857248"/>
      </dsp:txXfrm>
    </dsp:sp>
    <dsp:sp modelId="{175FE7E8-0DC0-4D15-A985-1B4E546E20F8}">
      <dsp:nvSpPr>
        <dsp:cNvPr id="0" name=""/>
        <dsp:cNvSpPr/>
      </dsp:nvSpPr>
      <dsp:spPr>
        <a:xfrm>
          <a:off x="6402169" y="2089404"/>
          <a:ext cx="464312" cy="464312"/>
        </a:xfrm>
        <a:prstGeom prst="ellipse">
          <a:avLst/>
        </a:prstGeom>
        <a:solidFill>
          <a:schemeClr val="accent1">
            <a:shade val="50000"/>
            <a:hueOff val="357772"/>
            <a:satOff val="-8713"/>
            <a:lumOff val="3813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88F7867-94FE-43F5-AD6D-1FD0684BE705}">
      <dsp:nvSpPr>
        <dsp:cNvPr id="0" name=""/>
        <dsp:cNvSpPr/>
      </dsp:nvSpPr>
      <dsp:spPr>
        <a:xfrm>
          <a:off x="7197900" y="0"/>
          <a:ext cx="1187462"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a:ln>
                <a:noFill/>
              </a:ln>
              <a:solidFill>
                <a:srgbClr val="1E3A8A"/>
              </a:solidFill>
              <a:latin typeface="Arial Black" panose="020B0A04020102020204" pitchFamily="34" charset="0"/>
            </a:rPr>
            <a:t>Comparaison avec d’autres modèles</a:t>
          </a:r>
          <a:endParaRPr lang="en-US" sz="1100" kern="1200" dirty="0">
            <a:ln>
              <a:noFill/>
            </a:ln>
            <a:solidFill>
              <a:srgbClr val="1E3A8A"/>
            </a:solidFill>
            <a:latin typeface="Arial Black" panose="020B0A04020102020204" pitchFamily="34" charset="0"/>
          </a:endParaRPr>
        </a:p>
      </dsp:txBody>
      <dsp:txXfrm>
        <a:off x="7197900" y="0"/>
        <a:ext cx="1187462" cy="1857248"/>
      </dsp:txXfrm>
    </dsp:sp>
    <dsp:sp modelId="{EFB30698-CCAE-4361-B636-6887F15945F1}">
      <dsp:nvSpPr>
        <dsp:cNvPr id="0" name=""/>
        <dsp:cNvSpPr/>
      </dsp:nvSpPr>
      <dsp:spPr>
        <a:xfrm>
          <a:off x="7559475" y="2089404"/>
          <a:ext cx="464312" cy="464312"/>
        </a:xfrm>
        <a:prstGeom prst="ellipse">
          <a:avLst/>
        </a:prstGeom>
        <a:solidFill>
          <a:schemeClr val="accent1">
            <a:shade val="50000"/>
            <a:hueOff val="268329"/>
            <a:satOff val="-6535"/>
            <a:lumOff val="285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03F5808-11C5-42AA-9A3F-97D153CF08E7}">
      <dsp:nvSpPr>
        <dsp:cNvPr id="0" name=""/>
        <dsp:cNvSpPr/>
      </dsp:nvSpPr>
      <dsp:spPr>
        <a:xfrm>
          <a:off x="8436596" y="2785872"/>
          <a:ext cx="1146557"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Déploiement de l’application</a:t>
          </a:r>
          <a:endParaRPr lang="en-US" sz="1100" kern="1200" dirty="0">
            <a:ln>
              <a:noFill/>
            </a:ln>
            <a:solidFill>
              <a:srgbClr val="1E3A8A"/>
            </a:solidFill>
            <a:latin typeface="Arial Black" panose="020B0A04020102020204" pitchFamily="34" charset="0"/>
          </a:endParaRPr>
        </a:p>
      </dsp:txBody>
      <dsp:txXfrm>
        <a:off x="8436596" y="2785872"/>
        <a:ext cx="1146557" cy="1857248"/>
      </dsp:txXfrm>
    </dsp:sp>
    <dsp:sp modelId="{30FCF771-D2F5-4B5F-97C2-8BA06105AEDB}">
      <dsp:nvSpPr>
        <dsp:cNvPr id="0" name=""/>
        <dsp:cNvSpPr/>
      </dsp:nvSpPr>
      <dsp:spPr>
        <a:xfrm>
          <a:off x="8777719" y="2089404"/>
          <a:ext cx="464312" cy="464312"/>
        </a:xfrm>
        <a:prstGeom prst="ellipse">
          <a:avLst/>
        </a:prstGeom>
        <a:solidFill>
          <a:schemeClr val="accent1">
            <a:shade val="50000"/>
            <a:hueOff val="178886"/>
            <a:satOff val="-4356"/>
            <a:lumOff val="190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EF71A8A1-B8ED-47E7-B652-988789A29139}">
      <dsp:nvSpPr>
        <dsp:cNvPr id="0" name=""/>
        <dsp:cNvSpPr/>
      </dsp:nvSpPr>
      <dsp:spPr>
        <a:xfrm>
          <a:off x="9634388" y="0"/>
          <a:ext cx="1338019"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Conclusion et perspectives</a:t>
          </a:r>
          <a:endParaRPr lang="en-US" sz="1100" kern="1200" dirty="0">
            <a:ln>
              <a:noFill/>
            </a:ln>
            <a:solidFill>
              <a:srgbClr val="1E3A8A"/>
            </a:solidFill>
            <a:latin typeface="Arial Black" panose="020B0A04020102020204" pitchFamily="34" charset="0"/>
          </a:endParaRPr>
        </a:p>
      </dsp:txBody>
      <dsp:txXfrm>
        <a:off x="9634388" y="0"/>
        <a:ext cx="1338019" cy="1857248"/>
      </dsp:txXfrm>
    </dsp:sp>
    <dsp:sp modelId="{DA9BA519-44A0-4F9D-A7A6-2BAA8E121E57}">
      <dsp:nvSpPr>
        <dsp:cNvPr id="0" name=""/>
        <dsp:cNvSpPr/>
      </dsp:nvSpPr>
      <dsp:spPr>
        <a:xfrm>
          <a:off x="10071241" y="2089404"/>
          <a:ext cx="464312" cy="464312"/>
        </a:xfrm>
        <a:prstGeom prst="ellipse">
          <a:avLst/>
        </a:prstGeom>
        <a:solidFill>
          <a:schemeClr val="accent1">
            <a:shade val="50000"/>
            <a:hueOff val="89443"/>
            <a:satOff val="-2178"/>
            <a:lumOff val="953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1B32D9-A89E-4B3F-9776-4CC196B6DD96}">
      <dsp:nvSpPr>
        <dsp:cNvPr id="0" name=""/>
        <dsp:cNvSpPr/>
      </dsp:nvSpPr>
      <dsp:spPr>
        <a:xfrm>
          <a:off x="0" y="1392936"/>
          <a:ext cx="12192000" cy="1857248"/>
        </a:xfrm>
        <a:prstGeom prst="notchedRightArrow">
          <a:avLst/>
        </a:prstGeom>
        <a:solidFill>
          <a:schemeClr val="accent1">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247D67B-82A4-4CF0-A703-5138DB86AC31}">
      <dsp:nvSpPr>
        <dsp:cNvPr id="0" name=""/>
        <dsp:cNvSpPr/>
      </dsp:nvSpPr>
      <dsp:spPr>
        <a:xfrm>
          <a:off x="392" y="0"/>
          <a:ext cx="1285944"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Introduction : Contexte du projet</a:t>
          </a:r>
          <a:endParaRPr lang="en-US" sz="1100" kern="1200" dirty="0">
            <a:ln>
              <a:noFill/>
            </a:ln>
            <a:solidFill>
              <a:srgbClr val="1E3A8A"/>
            </a:solidFill>
            <a:latin typeface="Arial Black" panose="020B0A04020102020204" pitchFamily="34" charset="0"/>
          </a:endParaRPr>
        </a:p>
      </dsp:txBody>
      <dsp:txXfrm>
        <a:off x="392" y="0"/>
        <a:ext cx="1285944" cy="1857248"/>
      </dsp:txXfrm>
    </dsp:sp>
    <dsp:sp modelId="{93EF1AB2-5EDB-48DA-B563-8D7D061064D1}">
      <dsp:nvSpPr>
        <dsp:cNvPr id="0" name=""/>
        <dsp:cNvSpPr/>
      </dsp:nvSpPr>
      <dsp:spPr>
        <a:xfrm>
          <a:off x="411209" y="2089404"/>
          <a:ext cx="464312" cy="464312"/>
        </a:xfrm>
        <a:prstGeom prst="ellipse">
          <a:avLst/>
        </a:prstGeom>
        <a:solidFill>
          <a:schemeClr val="accent1">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38B7942-8BD3-4899-8A74-6DE5B2266BAE}">
      <dsp:nvSpPr>
        <dsp:cNvPr id="0" name=""/>
        <dsp:cNvSpPr/>
      </dsp:nvSpPr>
      <dsp:spPr>
        <a:xfrm>
          <a:off x="1337571" y="2785872"/>
          <a:ext cx="1304973"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Problématique et Objectifs</a:t>
          </a:r>
          <a:endParaRPr lang="en-US" sz="1100" kern="1200" dirty="0">
            <a:ln>
              <a:noFill/>
            </a:ln>
            <a:solidFill>
              <a:srgbClr val="1E3A8A"/>
            </a:solidFill>
            <a:latin typeface="Arial Black" panose="020B0A04020102020204" pitchFamily="34" charset="0"/>
          </a:endParaRPr>
        </a:p>
      </dsp:txBody>
      <dsp:txXfrm>
        <a:off x="1337571" y="2785872"/>
        <a:ext cx="1304973" cy="1857248"/>
      </dsp:txXfrm>
    </dsp:sp>
    <dsp:sp modelId="{5AF6B1D5-3ADA-48DE-9127-5F895F9E3FAE}">
      <dsp:nvSpPr>
        <dsp:cNvPr id="0" name=""/>
        <dsp:cNvSpPr/>
      </dsp:nvSpPr>
      <dsp:spPr>
        <a:xfrm>
          <a:off x="1757902" y="2089404"/>
          <a:ext cx="464312" cy="464312"/>
        </a:xfrm>
        <a:prstGeom prst="ellipse">
          <a:avLst/>
        </a:prstGeom>
        <a:solidFill>
          <a:schemeClr val="accent1">
            <a:shade val="50000"/>
            <a:hueOff val="89443"/>
            <a:satOff val="-2178"/>
            <a:lumOff val="953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8EC8ECD-7E88-4A88-942C-7D2D8E0F6D11}">
      <dsp:nvSpPr>
        <dsp:cNvPr id="0" name=""/>
        <dsp:cNvSpPr/>
      </dsp:nvSpPr>
      <dsp:spPr>
        <a:xfrm>
          <a:off x="2693778" y="0"/>
          <a:ext cx="1024681"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a:ln>
                <a:noFill/>
              </a:ln>
              <a:solidFill>
                <a:srgbClr val="1E3A8A"/>
              </a:solidFill>
              <a:latin typeface="Arial Black" panose="020B0A04020102020204" pitchFamily="34" charset="0"/>
            </a:rPr>
            <a:t>Données utilisées</a:t>
          </a:r>
          <a:endParaRPr lang="en-US" sz="1100" kern="1200" dirty="0">
            <a:ln>
              <a:noFill/>
            </a:ln>
            <a:solidFill>
              <a:srgbClr val="1E3A8A"/>
            </a:solidFill>
            <a:latin typeface="Arial Black" panose="020B0A04020102020204" pitchFamily="34" charset="0"/>
          </a:endParaRPr>
        </a:p>
      </dsp:txBody>
      <dsp:txXfrm>
        <a:off x="2693778" y="0"/>
        <a:ext cx="1024681" cy="1857248"/>
      </dsp:txXfrm>
    </dsp:sp>
    <dsp:sp modelId="{CD945DFE-0DE9-4526-85C1-4FF1A7680912}">
      <dsp:nvSpPr>
        <dsp:cNvPr id="0" name=""/>
        <dsp:cNvSpPr/>
      </dsp:nvSpPr>
      <dsp:spPr>
        <a:xfrm>
          <a:off x="2973963" y="2089404"/>
          <a:ext cx="464312" cy="464312"/>
        </a:xfrm>
        <a:prstGeom prst="ellipse">
          <a:avLst/>
        </a:prstGeom>
        <a:solidFill>
          <a:schemeClr val="accent1">
            <a:shade val="50000"/>
            <a:hueOff val="178886"/>
            <a:satOff val="-4356"/>
            <a:lumOff val="190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109DA40E-D478-4E33-A324-CA0894DD717B}">
      <dsp:nvSpPr>
        <dsp:cNvPr id="0" name=""/>
        <dsp:cNvSpPr/>
      </dsp:nvSpPr>
      <dsp:spPr>
        <a:xfrm>
          <a:off x="3769694" y="2785872"/>
          <a:ext cx="1024681"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Pipeline de traitement audio</a:t>
          </a:r>
          <a:endParaRPr lang="en-US" sz="1100" kern="1200" dirty="0">
            <a:ln>
              <a:noFill/>
            </a:ln>
            <a:solidFill>
              <a:srgbClr val="1E3A8A"/>
            </a:solidFill>
            <a:latin typeface="Arial Black" panose="020B0A04020102020204" pitchFamily="34" charset="0"/>
          </a:endParaRPr>
        </a:p>
      </dsp:txBody>
      <dsp:txXfrm>
        <a:off x="3769694" y="2785872"/>
        <a:ext cx="1024681" cy="1857248"/>
      </dsp:txXfrm>
    </dsp:sp>
    <dsp:sp modelId="{221D7BCD-AF80-47C4-A38A-F16DE147ED7E}">
      <dsp:nvSpPr>
        <dsp:cNvPr id="0" name=""/>
        <dsp:cNvSpPr/>
      </dsp:nvSpPr>
      <dsp:spPr>
        <a:xfrm>
          <a:off x="4049879" y="2089404"/>
          <a:ext cx="464312" cy="464312"/>
        </a:xfrm>
        <a:prstGeom prst="ellipse">
          <a:avLst/>
        </a:prstGeom>
        <a:solidFill>
          <a:schemeClr val="accent1">
            <a:shade val="50000"/>
            <a:hueOff val="268329"/>
            <a:satOff val="-6535"/>
            <a:lumOff val="285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09EF77C-5817-4066-A391-88FB2EB824EB}">
      <dsp:nvSpPr>
        <dsp:cNvPr id="0" name=""/>
        <dsp:cNvSpPr/>
      </dsp:nvSpPr>
      <dsp:spPr>
        <a:xfrm>
          <a:off x="4845610" y="0"/>
          <a:ext cx="1225140"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Architecture du modèle CNN-</a:t>
          </a:r>
          <a:r>
            <a:rPr lang="fr-FR" sz="1100" kern="1200" dirty="0" err="1">
              <a:ln>
                <a:noFill/>
              </a:ln>
              <a:solidFill>
                <a:srgbClr val="1E3A8A"/>
              </a:solidFill>
              <a:latin typeface="Arial Black" panose="020B0A04020102020204" pitchFamily="34" charset="0"/>
            </a:rPr>
            <a:t>BiLSTM</a:t>
          </a:r>
          <a:endParaRPr lang="en-US" sz="1100" kern="1200" dirty="0">
            <a:ln>
              <a:noFill/>
            </a:ln>
            <a:solidFill>
              <a:srgbClr val="1E3A8A"/>
            </a:solidFill>
            <a:latin typeface="Arial Black" panose="020B0A04020102020204" pitchFamily="34" charset="0"/>
          </a:endParaRPr>
        </a:p>
      </dsp:txBody>
      <dsp:txXfrm>
        <a:off x="4845610" y="0"/>
        <a:ext cx="1225140" cy="1857248"/>
      </dsp:txXfrm>
    </dsp:sp>
    <dsp:sp modelId="{A555E792-2E8B-45D6-8F06-589A65546603}">
      <dsp:nvSpPr>
        <dsp:cNvPr id="0" name=""/>
        <dsp:cNvSpPr/>
      </dsp:nvSpPr>
      <dsp:spPr>
        <a:xfrm>
          <a:off x="5226024" y="2089404"/>
          <a:ext cx="464312" cy="464312"/>
        </a:xfrm>
        <a:prstGeom prst="ellipse">
          <a:avLst/>
        </a:prstGeom>
        <a:solidFill>
          <a:schemeClr val="accent1">
            <a:shade val="50000"/>
            <a:hueOff val="357772"/>
            <a:satOff val="-8713"/>
            <a:lumOff val="3813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D9839BE-49B5-45AB-B1AC-E287CF0D23CD}">
      <dsp:nvSpPr>
        <dsp:cNvPr id="0" name=""/>
        <dsp:cNvSpPr/>
      </dsp:nvSpPr>
      <dsp:spPr>
        <a:xfrm>
          <a:off x="6121984" y="2785872"/>
          <a:ext cx="1024681"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a:ln>
                <a:noFill/>
              </a:ln>
              <a:solidFill>
                <a:srgbClr val="1E3A8A"/>
              </a:solidFill>
              <a:latin typeface="Arial Black" panose="020B0A04020102020204" pitchFamily="34" charset="0"/>
            </a:rPr>
            <a:t>Résultats obtenus</a:t>
          </a:r>
          <a:endParaRPr lang="en-US" sz="1100" kern="1200" dirty="0">
            <a:ln>
              <a:noFill/>
            </a:ln>
            <a:solidFill>
              <a:srgbClr val="1E3A8A"/>
            </a:solidFill>
            <a:latin typeface="Arial Black" panose="020B0A04020102020204" pitchFamily="34" charset="0"/>
          </a:endParaRPr>
        </a:p>
      </dsp:txBody>
      <dsp:txXfrm>
        <a:off x="6121984" y="2785872"/>
        <a:ext cx="1024681" cy="1857248"/>
      </dsp:txXfrm>
    </dsp:sp>
    <dsp:sp modelId="{175FE7E8-0DC0-4D15-A985-1B4E546E20F8}">
      <dsp:nvSpPr>
        <dsp:cNvPr id="0" name=""/>
        <dsp:cNvSpPr/>
      </dsp:nvSpPr>
      <dsp:spPr>
        <a:xfrm>
          <a:off x="6402169" y="2089404"/>
          <a:ext cx="464312" cy="464312"/>
        </a:xfrm>
        <a:prstGeom prst="ellipse">
          <a:avLst/>
        </a:prstGeom>
        <a:solidFill>
          <a:schemeClr val="accent1">
            <a:shade val="50000"/>
            <a:hueOff val="357772"/>
            <a:satOff val="-8713"/>
            <a:lumOff val="3813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88F7867-94FE-43F5-AD6D-1FD0684BE705}">
      <dsp:nvSpPr>
        <dsp:cNvPr id="0" name=""/>
        <dsp:cNvSpPr/>
      </dsp:nvSpPr>
      <dsp:spPr>
        <a:xfrm>
          <a:off x="7197900" y="0"/>
          <a:ext cx="1187462"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a:ln>
                <a:noFill/>
              </a:ln>
              <a:solidFill>
                <a:srgbClr val="1E3A8A"/>
              </a:solidFill>
              <a:latin typeface="Arial Black" panose="020B0A04020102020204" pitchFamily="34" charset="0"/>
            </a:rPr>
            <a:t>Comparaison avec d’autres modèles</a:t>
          </a:r>
          <a:endParaRPr lang="en-US" sz="1100" kern="1200" dirty="0">
            <a:ln>
              <a:noFill/>
            </a:ln>
            <a:solidFill>
              <a:srgbClr val="1E3A8A"/>
            </a:solidFill>
            <a:latin typeface="Arial Black" panose="020B0A04020102020204" pitchFamily="34" charset="0"/>
          </a:endParaRPr>
        </a:p>
      </dsp:txBody>
      <dsp:txXfrm>
        <a:off x="7197900" y="0"/>
        <a:ext cx="1187462" cy="1857248"/>
      </dsp:txXfrm>
    </dsp:sp>
    <dsp:sp modelId="{EFB30698-CCAE-4361-B636-6887F15945F1}">
      <dsp:nvSpPr>
        <dsp:cNvPr id="0" name=""/>
        <dsp:cNvSpPr/>
      </dsp:nvSpPr>
      <dsp:spPr>
        <a:xfrm>
          <a:off x="7559475" y="2089404"/>
          <a:ext cx="464312" cy="464312"/>
        </a:xfrm>
        <a:prstGeom prst="ellipse">
          <a:avLst/>
        </a:prstGeom>
        <a:solidFill>
          <a:schemeClr val="accent1">
            <a:shade val="50000"/>
            <a:hueOff val="268329"/>
            <a:satOff val="-6535"/>
            <a:lumOff val="285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03F5808-11C5-42AA-9A3F-97D153CF08E7}">
      <dsp:nvSpPr>
        <dsp:cNvPr id="0" name=""/>
        <dsp:cNvSpPr/>
      </dsp:nvSpPr>
      <dsp:spPr>
        <a:xfrm>
          <a:off x="8436596" y="2785872"/>
          <a:ext cx="1146557"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Déploiement de l’application</a:t>
          </a:r>
          <a:endParaRPr lang="en-US" sz="1100" kern="1200" dirty="0">
            <a:ln>
              <a:noFill/>
            </a:ln>
            <a:solidFill>
              <a:srgbClr val="1E3A8A"/>
            </a:solidFill>
            <a:latin typeface="Arial Black" panose="020B0A04020102020204" pitchFamily="34" charset="0"/>
          </a:endParaRPr>
        </a:p>
      </dsp:txBody>
      <dsp:txXfrm>
        <a:off x="8436596" y="2785872"/>
        <a:ext cx="1146557" cy="1857248"/>
      </dsp:txXfrm>
    </dsp:sp>
    <dsp:sp modelId="{30FCF771-D2F5-4B5F-97C2-8BA06105AEDB}">
      <dsp:nvSpPr>
        <dsp:cNvPr id="0" name=""/>
        <dsp:cNvSpPr/>
      </dsp:nvSpPr>
      <dsp:spPr>
        <a:xfrm>
          <a:off x="8777719" y="2089404"/>
          <a:ext cx="464312" cy="464312"/>
        </a:xfrm>
        <a:prstGeom prst="ellipse">
          <a:avLst/>
        </a:prstGeom>
        <a:solidFill>
          <a:schemeClr val="accent1">
            <a:shade val="50000"/>
            <a:hueOff val="178886"/>
            <a:satOff val="-4356"/>
            <a:lumOff val="190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EF71A8A1-B8ED-47E7-B652-988789A29139}">
      <dsp:nvSpPr>
        <dsp:cNvPr id="0" name=""/>
        <dsp:cNvSpPr/>
      </dsp:nvSpPr>
      <dsp:spPr>
        <a:xfrm>
          <a:off x="9634388" y="0"/>
          <a:ext cx="1338019" cy="18572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fr-FR" sz="1100" kern="1200" dirty="0">
              <a:ln>
                <a:noFill/>
              </a:ln>
              <a:solidFill>
                <a:srgbClr val="1E3A8A"/>
              </a:solidFill>
              <a:latin typeface="Arial Black" panose="020B0A04020102020204" pitchFamily="34" charset="0"/>
            </a:rPr>
            <a:t>Conclusion</a:t>
          </a:r>
          <a:endParaRPr lang="en-US" sz="1100" kern="1200" dirty="0">
            <a:ln>
              <a:noFill/>
            </a:ln>
            <a:solidFill>
              <a:srgbClr val="1E3A8A"/>
            </a:solidFill>
            <a:latin typeface="Arial Black" panose="020B0A04020102020204" pitchFamily="34" charset="0"/>
          </a:endParaRPr>
        </a:p>
      </dsp:txBody>
      <dsp:txXfrm>
        <a:off x="9634388" y="0"/>
        <a:ext cx="1338019" cy="1857248"/>
      </dsp:txXfrm>
    </dsp:sp>
    <dsp:sp modelId="{DA9BA519-44A0-4F9D-A7A6-2BAA8E121E57}">
      <dsp:nvSpPr>
        <dsp:cNvPr id="0" name=""/>
        <dsp:cNvSpPr/>
      </dsp:nvSpPr>
      <dsp:spPr>
        <a:xfrm>
          <a:off x="10071241" y="2089404"/>
          <a:ext cx="464312" cy="464312"/>
        </a:xfrm>
        <a:prstGeom prst="ellipse">
          <a:avLst/>
        </a:prstGeom>
        <a:solidFill>
          <a:schemeClr val="accent1">
            <a:shade val="50000"/>
            <a:hueOff val="89443"/>
            <a:satOff val="-2178"/>
            <a:lumOff val="953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D0144-CD52-417E-B340-A45A63C81B19}">
      <dsp:nvSpPr>
        <dsp:cNvPr id="0" name=""/>
        <dsp:cNvSpPr/>
      </dsp:nvSpPr>
      <dsp:spPr>
        <a:xfrm>
          <a:off x="4754" y="807684"/>
          <a:ext cx="2237616" cy="863719"/>
        </a:xfrm>
        <a:prstGeom prst="chevron">
          <a:avLst>
            <a:gd name="adj" fmla="val 40000"/>
          </a:avLst>
        </a:prstGeom>
        <a:solidFill>
          <a:schemeClr val="accent3">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55124F1-879C-48F8-A0DA-730BFE9B5A32}">
      <dsp:nvSpPr>
        <dsp:cNvPr id="0" name=""/>
        <dsp:cNvSpPr/>
      </dsp:nvSpPr>
      <dsp:spPr>
        <a:xfrm>
          <a:off x="601451" y="1023614"/>
          <a:ext cx="1889542" cy="863719"/>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fr-FR" sz="1800" kern="1200" dirty="0">
              <a:ln/>
            </a:rPr>
            <a:t>Chargement et normalisation</a:t>
          </a:r>
          <a:endParaRPr lang="en-US" sz="1800" kern="1200" dirty="0">
            <a:ln/>
          </a:endParaRPr>
        </a:p>
      </dsp:txBody>
      <dsp:txXfrm>
        <a:off x="626748" y="1048911"/>
        <a:ext cx="1838948" cy="813125"/>
      </dsp:txXfrm>
    </dsp:sp>
    <dsp:sp modelId="{2E148D94-1F92-45DA-B23E-DC77D1ECF33C}">
      <dsp:nvSpPr>
        <dsp:cNvPr id="0" name=""/>
        <dsp:cNvSpPr/>
      </dsp:nvSpPr>
      <dsp:spPr>
        <a:xfrm>
          <a:off x="2560608" y="807684"/>
          <a:ext cx="2237616" cy="863719"/>
        </a:xfrm>
        <a:prstGeom prst="chevron">
          <a:avLst>
            <a:gd name="adj" fmla="val 40000"/>
          </a:avLst>
        </a:prstGeom>
        <a:solidFill>
          <a:schemeClr val="accent3">
            <a:alpha val="90000"/>
            <a:hueOff val="0"/>
            <a:satOff val="0"/>
            <a:lumOff val="0"/>
            <a:alphaOff val="-13333"/>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0D09158-2B27-49C4-ADB7-BFBD218DED5F}">
      <dsp:nvSpPr>
        <dsp:cNvPr id="0" name=""/>
        <dsp:cNvSpPr/>
      </dsp:nvSpPr>
      <dsp:spPr>
        <a:xfrm>
          <a:off x="3157306" y="1023614"/>
          <a:ext cx="1889542" cy="863719"/>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n/>
            </a:rPr>
            <a:t>Augmentation des données</a:t>
          </a:r>
          <a:endParaRPr lang="en-US" sz="1800" kern="1200" dirty="0">
            <a:ln/>
          </a:endParaRPr>
        </a:p>
      </dsp:txBody>
      <dsp:txXfrm>
        <a:off x="3182603" y="1048911"/>
        <a:ext cx="1838948" cy="813125"/>
      </dsp:txXfrm>
    </dsp:sp>
    <dsp:sp modelId="{63B8EC44-6F69-419A-84E7-DF62F0245131}">
      <dsp:nvSpPr>
        <dsp:cNvPr id="0" name=""/>
        <dsp:cNvSpPr/>
      </dsp:nvSpPr>
      <dsp:spPr>
        <a:xfrm>
          <a:off x="5116463" y="807684"/>
          <a:ext cx="2237616" cy="863719"/>
        </a:xfrm>
        <a:prstGeom prst="chevron">
          <a:avLst>
            <a:gd name="adj" fmla="val 40000"/>
          </a:avLst>
        </a:prstGeom>
        <a:solidFill>
          <a:schemeClr val="accent3">
            <a:alpha val="90000"/>
            <a:hueOff val="0"/>
            <a:satOff val="0"/>
            <a:lumOff val="0"/>
            <a:alphaOff val="-26667"/>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49C719-DA16-4316-B00C-33B6F3EB82EB}">
      <dsp:nvSpPr>
        <dsp:cNvPr id="0" name=""/>
        <dsp:cNvSpPr/>
      </dsp:nvSpPr>
      <dsp:spPr>
        <a:xfrm>
          <a:off x="5713161" y="1023614"/>
          <a:ext cx="1889542" cy="863719"/>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n/>
            </a:rPr>
            <a:t>Extraction des caractéristiques</a:t>
          </a:r>
          <a:endParaRPr lang="en-US" sz="1800" kern="1200" dirty="0">
            <a:ln/>
          </a:endParaRPr>
        </a:p>
      </dsp:txBody>
      <dsp:txXfrm>
        <a:off x="5738458" y="1048911"/>
        <a:ext cx="1838948" cy="813125"/>
      </dsp:txXfrm>
    </dsp:sp>
    <dsp:sp modelId="{62DDFCDF-6A2B-4B00-9031-BDC48FDEF6AD}">
      <dsp:nvSpPr>
        <dsp:cNvPr id="0" name=""/>
        <dsp:cNvSpPr/>
      </dsp:nvSpPr>
      <dsp:spPr>
        <a:xfrm>
          <a:off x="7672318" y="807684"/>
          <a:ext cx="2237616" cy="863719"/>
        </a:xfrm>
        <a:prstGeom prst="chevron">
          <a:avLst>
            <a:gd name="adj" fmla="val 40000"/>
          </a:avLst>
        </a:prstGeom>
        <a:solidFill>
          <a:schemeClr val="accent3">
            <a:alpha val="90000"/>
            <a:hueOff val="0"/>
            <a:satOff val="0"/>
            <a:lumOff val="0"/>
            <a:alphaOff val="-4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352602F-FCCF-4A6F-98AD-053655B38ED8}">
      <dsp:nvSpPr>
        <dsp:cNvPr id="0" name=""/>
        <dsp:cNvSpPr/>
      </dsp:nvSpPr>
      <dsp:spPr>
        <a:xfrm>
          <a:off x="8269016" y="1023614"/>
          <a:ext cx="1889542" cy="863719"/>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ln/>
            </a:rPr>
            <a:t>Préparation</a:t>
          </a:r>
          <a:r>
            <a:rPr lang="en-US" sz="1800" kern="1200" dirty="0">
              <a:ln/>
            </a:rPr>
            <a:t> pour </a:t>
          </a:r>
          <a:r>
            <a:rPr lang="en-US" sz="1800" kern="1200" dirty="0" err="1">
              <a:ln/>
            </a:rPr>
            <a:t>l’apprentissage</a:t>
          </a:r>
          <a:endParaRPr lang="en-US" sz="1800" kern="1200" dirty="0">
            <a:ln/>
          </a:endParaRPr>
        </a:p>
      </dsp:txBody>
      <dsp:txXfrm>
        <a:off x="8294313" y="1048911"/>
        <a:ext cx="1838948" cy="81312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D1B9E-5769-442E-958A-3A6BDA3FC494}" type="datetimeFigureOut">
              <a:rPr lang="en-US" smtClean="0"/>
              <a:t>6/18/2025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1BD73-E2DB-441D-9D05-9B7CC8FE82E9}" type="slidenum">
              <a:rPr lang="en-US" smtClean="0"/>
              <a:t>‹#›</a:t>
            </a:fld>
            <a:endParaRPr lang="en-US"/>
          </a:p>
        </p:txBody>
      </p:sp>
    </p:spTree>
    <p:extLst>
      <p:ext uri="{BB962C8B-B14F-4D97-AF65-F5344CB8AC3E}">
        <p14:creationId xmlns:p14="http://schemas.microsoft.com/office/powerpoint/2010/main" val="2618646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a:t>
            </a:fld>
            <a:endParaRPr lang="en-US"/>
          </a:p>
        </p:txBody>
      </p:sp>
    </p:spTree>
    <p:extLst>
      <p:ext uri="{BB962C8B-B14F-4D97-AF65-F5344CB8AC3E}">
        <p14:creationId xmlns:p14="http://schemas.microsoft.com/office/powerpoint/2010/main" val="757559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plan de ma présentation : je vais commencer par une introduction et le contexte du projet, puis parler des données utilisées, de la problématique et des objectifs, du pipeline de traitement audio, de l’architecture de mon modèle CNN-</a:t>
            </a:r>
            <a:r>
              <a:rPr lang="fr-FR" dirty="0" err="1"/>
              <a:t>BiLSTM</a:t>
            </a:r>
            <a:r>
              <a:rPr lang="fr-FR" dirty="0"/>
              <a:t>, des résultats obtenus, de la comparaison avec d’autres modèles, du déploiement de l’application, et enfin conclure avec des perspectives.</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2</a:t>
            </a:fld>
            <a:endParaRPr lang="en-US"/>
          </a:p>
        </p:txBody>
      </p:sp>
    </p:spTree>
    <p:extLst>
      <p:ext uri="{BB962C8B-B14F-4D97-AF65-F5344CB8AC3E}">
        <p14:creationId xmlns:p14="http://schemas.microsoft.com/office/powerpoint/2010/main" val="1845067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introduire, le contexte de ce projet s’inscrit dans l’évolution des interactions homme-machine, qui deviennent de plus en plus naturelles. Pensez aux assistants vocaux comme Alexa ou Google Assistant, aux robots sociaux, ou encore aux plateformes d’e-learning.</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3</a:t>
            </a:fld>
            <a:endParaRPr lang="en-US"/>
          </a:p>
        </p:txBody>
      </p:sp>
    </p:spTree>
    <p:extLst>
      <p:ext uri="{BB962C8B-B14F-4D97-AF65-F5344CB8AC3E}">
        <p14:creationId xmlns:p14="http://schemas.microsoft.com/office/powerpoint/2010/main" val="3986232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"Reconnaître les émotions dans la parole est un défi majeur. Pourquoi ? Parce que chaque voix est unique, les émotions sont subtiles et varient selon la culture, la langue ou le contexte. De plus, les signaux vocaux peuvent être courts, bruités ou ambigus."</a:t>
            </a:r>
          </a:p>
          <a:p>
            <a:r>
              <a:rPr lang="fr-FR" dirty="0"/>
              <a:t>- "Ce projet a deux objectifs : d’un côté, concevoir un pipeline de traitement audio robuste et entraîner un modèle performant basé sur une architecture hybride CNN-</a:t>
            </a:r>
            <a:r>
              <a:rPr lang="fr-FR" dirty="0" err="1"/>
              <a:t>BiLSTM</a:t>
            </a:r>
            <a:r>
              <a:rPr lang="fr-FR" dirty="0"/>
              <a:t>, tout en comparant ses résultats à des modèles classiques. De l’autre, développer une application web où les utilisateurs peuvent uploader un fichier audio pour que le modèle prédise et affiche l’émotion, améliorant ainsi l’interaction homme-machine."</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4</a:t>
            </a:fld>
            <a:endParaRPr lang="en-US"/>
          </a:p>
        </p:txBody>
      </p:sp>
    </p:spTree>
    <p:extLst>
      <p:ext uri="{BB962C8B-B14F-4D97-AF65-F5344CB8AC3E}">
        <p14:creationId xmlns:p14="http://schemas.microsoft.com/office/powerpoint/2010/main" val="2053682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"Pour entraîner un modèle robuste, il faut des données variées. J’ai donc utilisé plusieurs bases de données reconnues : RAVDESS avec 24 acteurs et 8 émotions en qualité studio, CREMA-D avec 91 acteurs et 6 émotions, TESS avec 2 locutrices canadiennes et 7 émotions, et SAVEE avec 4 locuteurs britanniques et 7 émotions."</a:t>
            </a:r>
          </a:p>
          <a:p>
            <a:r>
              <a:rPr lang="fr-FR" dirty="0"/>
              <a:t>- "Ces bases combinées offrent une diversité en termes de voix, d’intonations et d’expressions émotionnelles."</a:t>
            </a:r>
          </a:p>
        </p:txBody>
      </p:sp>
      <p:sp>
        <p:nvSpPr>
          <p:cNvPr id="4" name="Slide Number Placeholder 3"/>
          <p:cNvSpPr>
            <a:spLocks noGrp="1"/>
          </p:cNvSpPr>
          <p:nvPr>
            <p:ph type="sldNum" sz="quarter" idx="5"/>
          </p:nvPr>
        </p:nvSpPr>
        <p:spPr/>
        <p:txBody>
          <a:bodyPr/>
          <a:lstStyle/>
          <a:p>
            <a:fld id="{3AB1BD73-E2DB-441D-9D05-9B7CC8FE82E9}" type="slidenum">
              <a:rPr lang="en-US" smtClean="0"/>
              <a:t>5</a:t>
            </a:fld>
            <a:endParaRPr lang="en-US"/>
          </a:p>
        </p:txBody>
      </p:sp>
    </p:spTree>
    <p:extLst>
      <p:ext uri="{BB962C8B-B14F-4D97-AF65-F5344CB8AC3E}">
        <p14:creationId xmlns:p14="http://schemas.microsoft.com/office/powerpoint/2010/main" val="3284593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a:p>
            <a:r>
              <a:rPr lang="fr-FR" dirty="0"/>
              <a:t>*Ce graphique à barres horizontales représente la </a:t>
            </a:r>
            <a:r>
              <a:rPr lang="fr-FR" b="1" dirty="0"/>
              <a:t>répartition des émotions</a:t>
            </a:r>
            <a:r>
              <a:rPr lang="fr-FR" dirty="0"/>
              <a:t> dans un jeu de données audio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Les émotions analysées sont</a:t>
            </a:r>
            <a:r>
              <a:rPr lang="fr-FR" dirty="0"/>
              <a:t> : neutral, surprise, </a:t>
            </a:r>
            <a:r>
              <a:rPr lang="fr-FR" dirty="0" err="1"/>
              <a:t>sad</a:t>
            </a:r>
            <a:r>
              <a:rPr lang="fr-FR" dirty="0"/>
              <a:t>, happy, </a:t>
            </a:r>
            <a:r>
              <a:rPr lang="fr-FR" dirty="0" err="1"/>
              <a:t>disgust</a:t>
            </a:r>
            <a:r>
              <a:rPr lang="fr-FR" dirty="0"/>
              <a:t>, </a:t>
            </a:r>
            <a:r>
              <a:rPr lang="fr-FR" dirty="0" err="1"/>
              <a:t>fear</a:t>
            </a:r>
            <a:r>
              <a:rPr lang="fr-FR" dirty="0"/>
              <a:t>, et </a:t>
            </a:r>
            <a:r>
              <a:rPr lang="fr-FR" dirty="0" err="1"/>
              <a:t>angry</a:t>
            </a:r>
            <a:r>
              <a:rPr lang="fr-FR" dirty="0"/>
              <a:t>.</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6</a:t>
            </a:fld>
            <a:endParaRPr lang="en-US"/>
          </a:p>
        </p:txBody>
      </p:sp>
    </p:spTree>
    <p:extLst>
      <p:ext uri="{BB962C8B-B14F-4D97-AF65-F5344CB8AC3E}">
        <p14:creationId xmlns:p14="http://schemas.microsoft.com/office/powerpoint/2010/main" val="3199620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fr-FR" dirty="0"/>
              <a:t>"Je vais maintenant vous parler du pipeline de traitement audio, qui est une étape clé pour préparer les données avant de les passer au modèle.« </a:t>
            </a:r>
          </a:p>
          <a:p>
            <a:pPr marL="171450" indent="-171450">
              <a:buFontTx/>
              <a:buChar char="-"/>
            </a:pPr>
            <a:endParaRPr lang="fr-FR" dirty="0"/>
          </a:p>
          <a:p>
            <a:r>
              <a:rPr lang="fr-FR" dirty="0"/>
              <a:t>- **</a:t>
            </a:r>
            <a:r>
              <a:rPr lang="fr-FR" dirty="0" err="1"/>
              <a:t>Librosa</a:t>
            </a:r>
            <a:r>
              <a:rPr lang="fr-FR" dirty="0"/>
              <a:t>** : Bibliothèque Python pour l'analyse et le traitement de signaux audio, offrant des outils pour l'extraction de caractéristiques et la visualisation.</a:t>
            </a:r>
          </a:p>
          <a:p>
            <a:r>
              <a:rPr lang="fr-FR" dirty="0"/>
              <a:t>- **</a:t>
            </a:r>
            <a:r>
              <a:rPr lang="fr-FR" dirty="0" err="1"/>
              <a:t>Joblib</a:t>
            </a:r>
            <a:r>
              <a:rPr lang="fr-FR" dirty="0"/>
              <a:t>** : Bibliothèque Python pour la parallélisation et la mise en cache, facilitant l'exécution efficace de tâches de calcul intensif.</a:t>
            </a:r>
          </a:p>
          <a:p>
            <a:pPr marL="171450" indent="-171450">
              <a:buFontTx/>
              <a:buChar char="-"/>
            </a:pPr>
            <a:r>
              <a:rPr lang="en-US" dirty="0"/>
              <a:t>- **</a:t>
            </a:r>
            <a:r>
              <a:rPr lang="en-US" dirty="0" err="1"/>
              <a:t>CuPy</a:t>
            </a:r>
            <a:r>
              <a:rPr lang="en-US" dirty="0"/>
              <a:t>** : </a:t>
            </a:r>
            <a:r>
              <a:rPr lang="en-US" dirty="0" err="1"/>
              <a:t>Calcul</a:t>
            </a:r>
            <a:r>
              <a:rPr lang="en-US" dirty="0"/>
              <a:t> sur GPU compatible avec NumPy </a:t>
            </a:r>
            <a:r>
              <a:rPr lang="en-US" dirty="0" err="1"/>
              <a:t>en</a:t>
            </a:r>
            <a:r>
              <a:rPr lang="en-US" dirty="0"/>
              <a:t> Python.</a:t>
            </a:r>
          </a:p>
          <a:p>
            <a:pPr marL="171450" indent="-171450">
              <a:buFontTx/>
              <a:buChar char="-"/>
            </a:pPr>
            <a:r>
              <a:rPr lang="en-US" dirty="0"/>
              <a:t>- **Scikit-learn** : </a:t>
            </a:r>
            <a:r>
              <a:rPr lang="en-US" dirty="0" err="1"/>
              <a:t>Outils</a:t>
            </a:r>
            <a:r>
              <a:rPr lang="en-US" dirty="0"/>
              <a:t> </a:t>
            </a:r>
            <a:r>
              <a:rPr lang="en-US" dirty="0" err="1"/>
              <a:t>d'apprentissage</a:t>
            </a:r>
            <a:r>
              <a:rPr lang="en-US" dirty="0"/>
              <a:t> </a:t>
            </a:r>
            <a:r>
              <a:rPr lang="en-US" dirty="0" err="1"/>
              <a:t>automatique</a:t>
            </a:r>
            <a:r>
              <a:rPr lang="en-US" dirty="0"/>
              <a:t> pour Python.</a:t>
            </a:r>
          </a:p>
        </p:txBody>
      </p:sp>
      <p:sp>
        <p:nvSpPr>
          <p:cNvPr id="4" name="Slide Number Placeholder 3"/>
          <p:cNvSpPr>
            <a:spLocks noGrp="1"/>
          </p:cNvSpPr>
          <p:nvPr>
            <p:ph type="sldNum" sz="quarter" idx="5"/>
          </p:nvPr>
        </p:nvSpPr>
        <p:spPr/>
        <p:txBody>
          <a:bodyPr/>
          <a:lstStyle/>
          <a:p>
            <a:fld id="{3AB1BD73-E2DB-441D-9D05-9B7CC8FE82E9}" type="slidenum">
              <a:rPr lang="en-US" smtClean="0"/>
              <a:t>7</a:t>
            </a:fld>
            <a:endParaRPr lang="en-US"/>
          </a:p>
        </p:txBody>
      </p:sp>
    </p:spTree>
    <p:extLst>
      <p:ext uri="{BB962C8B-B14F-4D97-AF65-F5344CB8AC3E}">
        <p14:creationId xmlns:p14="http://schemas.microsoft.com/office/powerpoint/2010/main" val="795120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fr-FR" sz="2400" dirty="0">
                <a:solidFill>
                  <a:srgbClr val="1E3A8A"/>
                </a:solidFill>
                <a:latin typeface="Arial Black" panose="020B0A04020102020204" pitchFamily="34" charset="0"/>
              </a:rPr>
              <a:t>Ajout de bruit : Simulation d'un environnement bruyant avec un léger souffle (ex: rue, appel téléphonique).</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Étirement/Ralentissement : Modification de la vitesse de la voix sans altérer la tonalité (ex: parler plus vite ou lentement).</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Décalage temporel : Décalage léger du début de l'audio pour simuler un démarrage prématuré ou tardif.</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Modification de la hauteur (pitch) : Changement de tonalité pour imiter une voix plus aiguë ou grave (ex: autre locuteur).</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Variation du volume : Ajustement du volume pour donner l'impression d'une distance variable du micro.</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fr-FR" sz="3600" dirty="0"/>
              <a:t>Ces transformations permettent au modèle d’apprendre dans des situations plus réalistes et de mieux </a:t>
            </a:r>
            <a:r>
              <a:rPr lang="fr-FR" sz="3600" b="1" dirty="0"/>
              <a:t>généraliser</a:t>
            </a:r>
            <a:r>
              <a:rPr lang="fr-FR" sz="3600" dirty="0"/>
              <a:t>.</a:t>
            </a:r>
          </a:p>
          <a:p>
            <a:r>
              <a:rPr lang="fr-FR" sz="3600" dirty="0" err="1"/>
              <a:t>Voisi</a:t>
            </a:r>
            <a:r>
              <a:rPr lang="fr-FR" sz="3600" dirty="0"/>
              <a:t> un exemple concret</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9</a:t>
            </a:fld>
            <a:endParaRPr lang="en-US"/>
          </a:p>
        </p:txBody>
      </p:sp>
    </p:spTree>
    <p:extLst>
      <p:ext uri="{BB962C8B-B14F-4D97-AF65-F5344CB8AC3E}">
        <p14:creationId xmlns:p14="http://schemas.microsoft.com/office/powerpoint/2010/main" val="1917315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fr-FR" sz="2400" dirty="0">
                <a:solidFill>
                  <a:srgbClr val="1E3A8A"/>
                </a:solidFill>
                <a:latin typeface="Arial Black" panose="020B0A04020102020204" pitchFamily="34" charset="0"/>
              </a:rPr>
              <a:t>Ajout de bruit : Simulation d'un environnement bruyant avec un léger souffle (ex: rue, appel téléphonique).</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Étirement/Ralentissement : Modification de la vitesse de la voix sans altérer la tonalité (ex: parler plus vite ou lentement).</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Décalage temporel : Décalage léger du début de l'audio pour simuler un démarrage prématuré ou tardif.</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Modification de la hauteur (pitch) : Changement de tonalité pour imiter une voix plus aiguë ou grave (ex: autre locuteur).</a:t>
            </a:r>
          </a:p>
          <a:p>
            <a:pPr marL="342900" indent="-342900">
              <a:buFont typeface="+mj-lt"/>
              <a:buAutoNum type="arabicPeriod"/>
            </a:pPr>
            <a:endParaRPr lang="fr-FR" sz="2400" dirty="0">
              <a:solidFill>
                <a:srgbClr val="1E3A8A"/>
              </a:solidFill>
              <a:latin typeface="Arial Black" panose="020B0A04020102020204" pitchFamily="34" charset="0"/>
            </a:endParaRPr>
          </a:p>
          <a:p>
            <a:pPr marL="342900" indent="-342900">
              <a:buFont typeface="+mj-lt"/>
              <a:buAutoNum type="arabicPeriod"/>
            </a:pPr>
            <a:r>
              <a:rPr lang="fr-FR" sz="2400" dirty="0">
                <a:solidFill>
                  <a:srgbClr val="1E3A8A"/>
                </a:solidFill>
                <a:latin typeface="Arial Black" panose="020B0A04020102020204" pitchFamily="34" charset="0"/>
              </a:rPr>
              <a:t>Variation du volume : Ajustement du volume pour donner l'impression d'une distance variable du micro.</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10</a:t>
            </a:fld>
            <a:endParaRPr lang="en-US"/>
          </a:p>
        </p:txBody>
      </p:sp>
    </p:spTree>
    <p:extLst>
      <p:ext uri="{BB962C8B-B14F-4D97-AF65-F5344CB8AC3E}">
        <p14:creationId xmlns:p14="http://schemas.microsoft.com/office/powerpoint/2010/main" val="77576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"Avant d’entraîner le modèle, j’ai préparé les données. D’abord, j’ai encodé les émotions comme ‘</a:t>
            </a:r>
            <a:r>
              <a:rPr lang="fr-FR" dirty="0" err="1"/>
              <a:t>joy</a:t>
            </a:r>
            <a:r>
              <a:rPr lang="fr-FR" dirty="0"/>
              <a:t>’, ‘</a:t>
            </a:r>
            <a:r>
              <a:rPr lang="fr-FR" dirty="0" err="1"/>
              <a:t>sad</a:t>
            </a:r>
            <a:r>
              <a:rPr lang="fr-FR" dirty="0"/>
              <a:t>’ ou ‘</a:t>
            </a:r>
            <a:r>
              <a:rPr lang="fr-FR" dirty="0" err="1"/>
              <a:t>angry</a:t>
            </a:r>
            <a:r>
              <a:rPr lang="fr-FR" dirty="0"/>
              <a:t>’ en nombres avec </a:t>
            </a:r>
            <a:r>
              <a:rPr lang="fr-FR" dirty="0" err="1"/>
              <a:t>LabelEncoder</a:t>
            </a:r>
            <a:r>
              <a:rPr lang="fr-FR" dirty="0"/>
              <a:t>, car les modèles ne comprennent que les chiffres."</a:t>
            </a:r>
          </a:p>
          <a:p>
            <a:r>
              <a:rPr lang="fr-FR" dirty="0"/>
              <a:t>- "Ensuite, pour équilibrer les classes, j’ai utilisé SMOTE, une méthode qui génère artificiellement des exemples pour les émotions sous-représentées, comme le dégoût, afin que le modèle ne favorise pas les émotions majoritaires comme la colère."</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11</a:t>
            </a:fld>
            <a:endParaRPr lang="en-US"/>
          </a:p>
        </p:txBody>
      </p:sp>
    </p:spTree>
    <p:extLst>
      <p:ext uri="{BB962C8B-B14F-4D97-AF65-F5344CB8AC3E}">
        <p14:creationId xmlns:p14="http://schemas.microsoft.com/office/powerpoint/2010/main" val="2624752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fr-FR" dirty="0"/>
              <a:t>"Pour continuer la préparation, j’ai normalisé les données avec </a:t>
            </a:r>
            <a:r>
              <a:rPr lang="fr-FR" dirty="0" err="1"/>
              <a:t>StandardScaler</a:t>
            </a:r>
            <a:r>
              <a:rPr lang="fr-FR" dirty="0"/>
              <a:t> pour mettre toutes les caractéristiques à la même échelle, évitant ainsi qu’une caractéristique domine les autres."</a:t>
            </a:r>
          </a:p>
          <a:p>
            <a:pPr>
              <a:buFont typeface="Arial" panose="020B0604020202020204" pitchFamily="34" charset="0"/>
              <a:buChar char="•"/>
            </a:pPr>
            <a:r>
              <a:rPr lang="fr-FR" dirty="0"/>
              <a:t>"Enfin, j’ai reformulé les données dans un format spécifique pour le modèle CNN-</a:t>
            </a:r>
            <a:r>
              <a:rPr lang="fr-FR" dirty="0" err="1"/>
              <a:t>BiLSTM</a:t>
            </a:r>
            <a:r>
              <a:rPr lang="fr-FR" dirty="0"/>
              <a:t>, comme une séquence, permettant au CNN d’analyser les motifs locaux et au LSTM de capturer la dynamique temporelle."</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12</a:t>
            </a:fld>
            <a:endParaRPr lang="en-US"/>
          </a:p>
        </p:txBody>
      </p:sp>
    </p:spTree>
    <p:extLst>
      <p:ext uri="{BB962C8B-B14F-4D97-AF65-F5344CB8AC3E}">
        <p14:creationId xmlns:p14="http://schemas.microsoft.com/office/powerpoint/2010/main" val="2816289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"Pourquoi combiner CNN et LSTM ? Parce que ces réseaux sont complémentaires : le CNN capte les motifs locaux, comme les variations de fréquence, tandis que le LSTM comprend l’évolution des émotions dans le temps." "Mon architecture inclut trois couches </a:t>
            </a:r>
            <a:r>
              <a:rPr lang="fr-FR" dirty="0" err="1"/>
              <a:t>convolutionnelles</a:t>
            </a:r>
            <a:r>
              <a:rPr lang="fr-FR" dirty="0"/>
              <a:t> pour analyser le signal en profondeur, des couches de </a:t>
            </a:r>
            <a:r>
              <a:rPr lang="fr-FR" dirty="0" err="1"/>
              <a:t>MaxPooling</a:t>
            </a:r>
            <a:r>
              <a:rPr lang="fr-FR" dirty="0"/>
              <a:t> pour réduire la taille des données, une </a:t>
            </a:r>
            <a:r>
              <a:rPr lang="fr-FR" dirty="0" err="1"/>
              <a:t>BiLSTM</a:t>
            </a:r>
            <a:r>
              <a:rPr lang="fr-FR" dirty="0"/>
              <a:t> qui lit la séquence dans les deux sens pour mieux contextualiser, une LSTM classique pour consolider, et enfin des couches Dense avec </a:t>
            </a:r>
            <a:r>
              <a:rPr lang="fr-FR" dirty="0" err="1"/>
              <a:t>Softmax</a:t>
            </a:r>
            <a:r>
              <a:rPr lang="fr-FR" dirty="0"/>
              <a:t> pour classer les 7 émotions.« </a:t>
            </a:r>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Pourquoi </a:t>
            </a:r>
            <a:r>
              <a:rPr lang="fr-FR" b="1" dirty="0" err="1"/>
              <a:t>BiLSTM</a:t>
            </a:r>
            <a:r>
              <a:rPr lang="fr-FR" b="1" dirty="0"/>
              <a:t> ?</a:t>
            </a:r>
            <a:br>
              <a:rPr lang="fr-FR" dirty="0"/>
            </a:br>
            <a:r>
              <a:rPr lang="fr-FR" dirty="0"/>
              <a:t>Les émotions ne dépendent pas uniquement de ce qu’on dit, </a:t>
            </a:r>
            <a:r>
              <a:rPr lang="fr-FR" b="1" dirty="0"/>
              <a:t>mais aussi de comment ça évolue</a:t>
            </a:r>
            <a:r>
              <a:rPr lang="fr-FR" dirty="0"/>
              <a:t> dans le temps. Une voix qui monte ou qui ralentit peut totalement changer la perception.</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13</a:t>
            </a:fld>
            <a:endParaRPr lang="en-US"/>
          </a:p>
        </p:txBody>
      </p:sp>
    </p:spTree>
    <p:extLst>
      <p:ext uri="{BB962C8B-B14F-4D97-AF65-F5344CB8AC3E}">
        <p14:creationId xmlns:p14="http://schemas.microsoft.com/office/powerpoint/2010/main" val="601836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"Pour éviter le surapprentissage, j’ai utilisé plusieurs techniques : un Dropout de 0.3 à 0.5 pour désactiver aléatoirement des neurones, une régularisation L2 pour pénaliser les poids extrêmes, et une </a:t>
            </a:r>
            <a:r>
              <a:rPr lang="fr-FR" dirty="0" err="1">
                <a:effectLst/>
              </a:rPr>
              <a:t>BatchNormalization</a:t>
            </a:r>
            <a:r>
              <a:rPr lang="fr-FR" dirty="0">
                <a:effectLst/>
              </a:rPr>
              <a:t> pour stabiliser et accélérer l’entraînement."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Pourquoi </a:t>
            </a:r>
            <a:r>
              <a:rPr lang="fr-FR" b="1" dirty="0" err="1"/>
              <a:t>BiLSTM</a:t>
            </a:r>
            <a:r>
              <a:rPr lang="fr-FR" b="1" dirty="0"/>
              <a:t> ?</a:t>
            </a:r>
            <a:br>
              <a:rPr lang="fr-FR" dirty="0"/>
            </a:br>
            <a:r>
              <a:rPr lang="fr-FR" dirty="0"/>
              <a:t>Les émotions ne dépendent pas uniquement de ce qu’on dit, </a:t>
            </a:r>
            <a:r>
              <a:rPr lang="fr-FR" b="1" dirty="0"/>
              <a:t>mais aussi de comment ça évolue</a:t>
            </a:r>
            <a:r>
              <a:rPr lang="fr-FR" dirty="0"/>
              <a:t> dans le temps. Une voix qui monte ou qui ralentit peut totalement changer la perception.</a:t>
            </a:r>
          </a:p>
          <a:p>
            <a:endParaRPr lang="en-US" dirty="0"/>
          </a:p>
          <a:p>
            <a:r>
              <a:rPr lang="fr-FR" dirty="0"/>
              <a:t>La régularisation L1 favorise la sélection de variables en annulant certains poids, tandis que L2 réduit tous les poids pour améliorer la généralisation du modèle.</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14</a:t>
            </a:fld>
            <a:endParaRPr lang="en-US"/>
          </a:p>
        </p:txBody>
      </p:sp>
    </p:spTree>
    <p:extLst>
      <p:ext uri="{BB962C8B-B14F-4D97-AF65-F5344CB8AC3E}">
        <p14:creationId xmlns:p14="http://schemas.microsoft.com/office/powerpoint/2010/main" val="2585103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fr-FR" dirty="0"/>
              <a:t>"Pour optimiser le modèle, j’ai choisi l’optimiseur Adam, qui ajuste automatiquement le taux d’apprentissage pour un apprentissage rapide et stable, idéal pour les données audio."</a:t>
            </a:r>
          </a:p>
          <a:p>
            <a:pPr>
              <a:buFont typeface="Arial" panose="020B0604020202020204" pitchFamily="34" charset="0"/>
              <a:buChar char="•"/>
            </a:pPr>
            <a:r>
              <a:rPr lang="fr-FR" dirty="0"/>
              <a:t>"J’ai utilisé la fonction de perte </a:t>
            </a:r>
            <a:r>
              <a:rPr lang="fr-FR" dirty="0" err="1"/>
              <a:t>sparse_categorical_crossentropy</a:t>
            </a:r>
            <a:r>
              <a:rPr lang="fr-FR" dirty="0"/>
              <a:t>, parfaite pour une classification multi-classes avec des étiquettes entières."</a:t>
            </a:r>
          </a:p>
          <a:p>
            <a:pPr>
              <a:buFont typeface="Arial" panose="020B0604020202020204" pitchFamily="34" charset="0"/>
              <a:buChar char="•"/>
            </a:pPr>
            <a:r>
              <a:rPr lang="fr-FR" dirty="0"/>
              <a:t>"J’ai aussi intégré des callbacks : </a:t>
            </a:r>
          </a:p>
          <a:p>
            <a:pPr>
              <a:buFont typeface="Arial" panose="020B0604020202020204" pitchFamily="34" charset="0"/>
              <a:buChar char="•"/>
            </a:pPr>
            <a:r>
              <a:rPr lang="fr-FR" dirty="0" err="1"/>
              <a:t>EarlyStopping</a:t>
            </a:r>
            <a:r>
              <a:rPr lang="fr-FR" dirty="0"/>
              <a:t> pour arrêter l’entraînement si la validation stagne,</a:t>
            </a:r>
          </a:p>
          <a:p>
            <a:pPr>
              <a:buFont typeface="Arial" panose="020B0604020202020204" pitchFamily="34" charset="0"/>
              <a:buChar char="•"/>
            </a:pPr>
            <a:r>
              <a:rPr lang="fr-FR" dirty="0"/>
              <a:t> </a:t>
            </a:r>
            <a:r>
              <a:rPr lang="fr-FR" dirty="0" err="1"/>
              <a:t>ReduceLRONPlateau</a:t>
            </a:r>
            <a:r>
              <a:rPr lang="fr-FR" dirty="0"/>
              <a:t> pour réduire le taux d’apprentissage en cas de stagnation, et </a:t>
            </a:r>
          </a:p>
          <a:p>
            <a:pPr>
              <a:buFont typeface="Arial" panose="020B0604020202020204" pitchFamily="34" charset="0"/>
              <a:buChar char="•"/>
            </a:pPr>
            <a:r>
              <a:rPr lang="fr-FR" dirty="0" err="1"/>
              <a:t>ModelCheckpoint</a:t>
            </a:r>
            <a:r>
              <a:rPr lang="fr-FR" dirty="0"/>
              <a:t> pour sauvegarder le meilleur modèle."</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15</a:t>
            </a:fld>
            <a:endParaRPr lang="en-US"/>
          </a:p>
        </p:txBody>
      </p:sp>
    </p:spTree>
    <p:extLst>
      <p:ext uri="{BB962C8B-B14F-4D97-AF65-F5344CB8AC3E}">
        <p14:creationId xmlns:p14="http://schemas.microsoft.com/office/powerpoint/2010/main" val="1362091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"Les résultats sont excellents : un F1-score moyen de 91 %, une précision de 0.91, un rappel de 0.91, et une </a:t>
            </a:r>
            <a:r>
              <a:rPr lang="fr-FR" dirty="0" err="1"/>
              <a:t>accuracy</a:t>
            </a:r>
            <a:r>
              <a:rPr lang="fr-FR" dirty="0"/>
              <a:t> globale d’environ 91 %, </a:t>
            </a:r>
          </a:p>
          <a:p>
            <a:r>
              <a:rPr lang="fr-FR" dirty="0"/>
              <a:t>soit 9 audios sur 10 correctement classés." « </a:t>
            </a:r>
          </a:p>
          <a:p>
            <a:r>
              <a:rPr lang="fr-FR" dirty="0"/>
              <a:t>Ces performances s’expliquent par un pipeline bien conçu avec augmentation, équilibrage et normalisation, une architecture CNN-</a:t>
            </a:r>
            <a:r>
              <a:rPr lang="fr-FR" dirty="0" err="1"/>
              <a:t>BiLSTM</a:t>
            </a:r>
            <a:r>
              <a:rPr lang="fr-FR" dirty="0"/>
              <a:t> adaptée, et des techniques anti-surapprentissage efficaces."</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16</a:t>
            </a:fld>
            <a:endParaRPr lang="en-US"/>
          </a:p>
        </p:txBody>
      </p:sp>
    </p:spTree>
    <p:extLst>
      <p:ext uri="{BB962C8B-B14F-4D97-AF65-F5344CB8AC3E}">
        <p14:creationId xmlns:p14="http://schemas.microsoft.com/office/powerpoint/2010/main" val="829121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évaluer mon modèle, je l’ai comparé à des approches classiques sur les mêmes données." "Les résultats montrent que SVM atteint 70 %, </a:t>
            </a:r>
            <a:r>
              <a:rPr lang="fr-FR" dirty="0" err="1"/>
              <a:t>Random</a:t>
            </a:r>
            <a:r>
              <a:rPr lang="fr-FR" dirty="0"/>
              <a:t> Forest 74 %, </a:t>
            </a:r>
            <a:r>
              <a:rPr lang="fr-FR" dirty="0" err="1"/>
              <a:t>XGBoost</a:t>
            </a:r>
            <a:r>
              <a:rPr lang="fr-FR" dirty="0"/>
              <a:t> 78 %, tandis que mon modèle CNN-</a:t>
            </a:r>
            <a:r>
              <a:rPr lang="fr-FR" dirty="0" err="1"/>
              <a:t>BiLSTM</a:t>
            </a:r>
            <a:r>
              <a:rPr lang="fr-FR" dirty="0"/>
              <a:t> atteint 91 % en F1-score moyen, grâce à sa capacité à gérer à la fois la structure locale et temporelle des données.</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17</a:t>
            </a:fld>
            <a:endParaRPr lang="en-US"/>
          </a:p>
        </p:txBody>
      </p:sp>
    </p:spTree>
    <p:extLst>
      <p:ext uri="{BB962C8B-B14F-4D97-AF65-F5344CB8AC3E}">
        <p14:creationId xmlns:p14="http://schemas.microsoft.com/office/powerpoint/2010/main" val="892307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"En conclusion, les modèles classiques sont limités sur des données complexes comme l’audio. Mon modèle CNN-</a:t>
            </a:r>
            <a:r>
              <a:rPr lang="fr-FR" dirty="0" err="1">
                <a:effectLst/>
              </a:rPr>
              <a:t>BiLSTM</a:t>
            </a:r>
            <a:r>
              <a:rPr lang="fr-FR" dirty="0">
                <a:effectLst/>
              </a:rPr>
              <a:t> excelle car il capture mieux les variations dans la voix, ce qui explique sa supériorité."</a:t>
            </a:r>
          </a:p>
          <a:p>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18</a:t>
            </a:fld>
            <a:endParaRPr lang="en-US"/>
          </a:p>
        </p:txBody>
      </p:sp>
    </p:spTree>
    <p:extLst>
      <p:ext uri="{BB962C8B-B14F-4D97-AF65-F5344CB8AC3E}">
        <p14:creationId xmlns:p14="http://schemas.microsoft.com/office/powerpoint/2010/main" val="1735378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"L’objectif du déploiement était de rendre le modèle accessible via une interface simple. J’ai utilisé Flask pour créer une application web, avec HTML et CSS pour une interface intuitive." "L’utilisateur téléverse un fichier audio, qui est prétraité avec </a:t>
            </a:r>
            <a:r>
              <a:rPr lang="fr-FR" dirty="0" err="1"/>
              <a:t>Librosa</a:t>
            </a:r>
            <a:r>
              <a:rPr lang="fr-FR" dirty="0"/>
              <a:t> pour extraire les MFCC. Le modèle CNN-</a:t>
            </a:r>
            <a:r>
              <a:rPr lang="fr-FR" dirty="0" err="1"/>
              <a:t>BiLSTM</a:t>
            </a:r>
            <a:r>
              <a:rPr lang="fr-FR" dirty="0"/>
              <a:t> prédit l’émotion dominante, et le résultat s’affiche clairement sur la page."</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19</a:t>
            </a:fld>
            <a:endParaRPr lang="en-US"/>
          </a:p>
        </p:txBody>
      </p:sp>
    </p:spTree>
    <p:extLst>
      <p:ext uri="{BB962C8B-B14F-4D97-AF65-F5344CB8AC3E}">
        <p14:creationId xmlns:p14="http://schemas.microsoft.com/office/powerpoint/2010/main" val="29651624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1" dirty="0">
                <a:solidFill>
                  <a:srgbClr val="404040"/>
                </a:solidFill>
                <a:effectLst/>
                <a:latin typeface="quote-cjk-patch"/>
              </a:rPr>
              <a:t>Voici une capture d'écran de notre interface web en action. Comme vous pouvez le voir, le modèle CNN-</a:t>
            </a:r>
            <a:r>
              <a:rPr lang="fr-FR" b="0" i="1" dirty="0" err="1">
                <a:solidFill>
                  <a:srgbClr val="404040"/>
                </a:solidFill>
                <a:effectLst/>
                <a:latin typeface="quote-cjk-patch"/>
              </a:rPr>
              <a:t>BiLSTM</a:t>
            </a:r>
            <a:r>
              <a:rPr lang="fr-FR" b="0" i="1" dirty="0">
                <a:solidFill>
                  <a:srgbClr val="404040"/>
                </a:solidFill>
                <a:effectLst/>
                <a:latin typeface="quote-cjk-patch"/>
              </a:rPr>
              <a:t> a correctement prédit [exemple de résultat]</a:t>
            </a:r>
          </a:p>
        </p:txBody>
      </p:sp>
      <p:sp>
        <p:nvSpPr>
          <p:cNvPr id="4" name="Slide Number Placeholder 3"/>
          <p:cNvSpPr>
            <a:spLocks noGrp="1"/>
          </p:cNvSpPr>
          <p:nvPr>
            <p:ph type="sldNum" sz="quarter" idx="5"/>
          </p:nvPr>
        </p:nvSpPr>
        <p:spPr/>
        <p:txBody>
          <a:bodyPr/>
          <a:lstStyle/>
          <a:p>
            <a:fld id="{3AB1BD73-E2DB-441D-9D05-9B7CC8FE82E9}" type="slidenum">
              <a:rPr lang="en-US" smtClean="0"/>
              <a:t>20</a:t>
            </a:fld>
            <a:endParaRPr lang="en-US"/>
          </a:p>
        </p:txBody>
      </p:sp>
    </p:spTree>
    <p:extLst>
      <p:ext uri="{BB962C8B-B14F-4D97-AF65-F5344CB8AC3E}">
        <p14:creationId xmlns:p14="http://schemas.microsoft.com/office/powerpoint/2010/main" val="1371022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résumé, ce projet a permis de créer un pipeline complet pour reconnaître les émotions dans la voix, avec un modèle CNN-</a:t>
            </a:r>
            <a:r>
              <a:rPr lang="fr-FR" dirty="0" err="1"/>
              <a:t>BiLSTM</a:t>
            </a:r>
            <a:r>
              <a:rPr lang="fr-FR" dirty="0"/>
              <a:t> atteignant un F1-score de 91 %, surpassant les approches classiques, et une application web fonctionnelle." "Pour l’avenir, deux axes d’amélioration : tester le modèle sur des enregistrements réels pour renforcer sa robustesse au bruit, et explorer une approche multimodale en combinant la voix avec l’image ou le texte pour une détection encore plus précise.</a:t>
            </a:r>
            <a:endParaRPr lang="en-US" dirty="0"/>
          </a:p>
        </p:txBody>
      </p:sp>
      <p:sp>
        <p:nvSpPr>
          <p:cNvPr id="4" name="Slide Number Placeholder 3"/>
          <p:cNvSpPr>
            <a:spLocks noGrp="1"/>
          </p:cNvSpPr>
          <p:nvPr>
            <p:ph type="sldNum" sz="quarter" idx="5"/>
          </p:nvPr>
        </p:nvSpPr>
        <p:spPr/>
        <p:txBody>
          <a:bodyPr/>
          <a:lstStyle/>
          <a:p>
            <a:fld id="{3AB1BD73-E2DB-441D-9D05-9B7CC8FE82E9}" type="slidenum">
              <a:rPr lang="en-US" smtClean="0"/>
              <a:t>21</a:t>
            </a:fld>
            <a:endParaRPr lang="en-US"/>
          </a:p>
        </p:txBody>
      </p:sp>
    </p:spTree>
    <p:extLst>
      <p:ext uri="{BB962C8B-B14F-4D97-AF65-F5344CB8AC3E}">
        <p14:creationId xmlns:p14="http://schemas.microsoft.com/office/powerpoint/2010/main" val="289380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1E0FD-3B28-4436-B17A-16D94A17CF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9ACFD9-ED7F-4CA1-A1E2-CDA2F6B3D2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FC0E1C-7129-4D42-A2E1-E633CA344F39}"/>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5" name="Footer Placeholder 4">
            <a:extLst>
              <a:ext uri="{FF2B5EF4-FFF2-40B4-BE49-F238E27FC236}">
                <a16:creationId xmlns:a16="http://schemas.microsoft.com/office/drawing/2014/main" id="{AC7B73DD-DCE4-48B8-842A-29E72F35DD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81A52-000D-46DA-9313-4868F45D82FE}"/>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526191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166C-2DB0-4D9A-A80D-CAA90CB897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08BFFC-1693-4BF5-A158-94DA345BA9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647CB9-3564-4669-940D-D380F08BDA67}"/>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5" name="Footer Placeholder 4">
            <a:extLst>
              <a:ext uri="{FF2B5EF4-FFF2-40B4-BE49-F238E27FC236}">
                <a16:creationId xmlns:a16="http://schemas.microsoft.com/office/drawing/2014/main" id="{25C44681-B56D-4AC0-BA32-FA0F78A8E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B2A54B-C2DC-4ACB-A178-48D1BE97394A}"/>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3554101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6B95-1E12-46AC-979A-AA5A409DF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A608A4-BC97-4CC2-8A3E-BB78B76B5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DB98EF-37EE-442A-A8D3-B56DEF377D96}"/>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5" name="Footer Placeholder 4">
            <a:extLst>
              <a:ext uri="{FF2B5EF4-FFF2-40B4-BE49-F238E27FC236}">
                <a16:creationId xmlns:a16="http://schemas.microsoft.com/office/drawing/2014/main" id="{E684396C-FA1B-4FC6-8044-E1DD2472C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1B430-9656-4BCD-A380-EF266DBE8BEB}"/>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634692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B127C-A1B7-4B39-8810-200085F01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117A5C-AA56-45BB-8076-667669910C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0804AD-9912-4907-9484-2BA8161CE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C63B87-F852-4BD1-9640-4B1274B59FB2}"/>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6" name="Footer Placeholder 5">
            <a:extLst>
              <a:ext uri="{FF2B5EF4-FFF2-40B4-BE49-F238E27FC236}">
                <a16:creationId xmlns:a16="http://schemas.microsoft.com/office/drawing/2014/main" id="{1CA2FB83-9609-4172-AA97-7E3C94223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FF632C-3109-4D41-BC9E-1FF08350A852}"/>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4226361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65F3F-FF4A-44A7-9E90-DFA6CF4B89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A04314-2D73-4341-9D21-0369A1387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A8D1F-46EE-4E36-8C8E-42B92C2DF5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88DA19-0BE2-4E4C-8A87-8BCA7B3545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5CE7DB-8C8D-401B-9B3D-0D39503604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2EADD1-C76C-4D70-BEBE-385A7448874A}"/>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8" name="Footer Placeholder 7">
            <a:extLst>
              <a:ext uri="{FF2B5EF4-FFF2-40B4-BE49-F238E27FC236}">
                <a16:creationId xmlns:a16="http://schemas.microsoft.com/office/drawing/2014/main" id="{AB918F52-8D10-4EF5-8647-E3B4956898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163D8-3B8B-41CB-AC28-793A68D7338D}"/>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153530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8530-67AB-4D01-96C7-1C62C04E17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48B10B-E2E1-4FE7-BD0E-28D0BDF3365D}"/>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4" name="Footer Placeholder 3">
            <a:extLst>
              <a:ext uri="{FF2B5EF4-FFF2-40B4-BE49-F238E27FC236}">
                <a16:creationId xmlns:a16="http://schemas.microsoft.com/office/drawing/2014/main" id="{1C7BB9EA-6653-4598-80CD-F0AB87D688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131304-A846-4158-925D-26E8B6A40436}"/>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42496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4BCF56-E96E-4EC6-AC22-950A6B84A513}"/>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3" name="Footer Placeholder 2">
            <a:extLst>
              <a:ext uri="{FF2B5EF4-FFF2-40B4-BE49-F238E27FC236}">
                <a16:creationId xmlns:a16="http://schemas.microsoft.com/office/drawing/2014/main" id="{E4841501-1524-43F2-A6AB-6449B2C717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C8E3A9-0F5B-4377-8A57-C57890EB89A0}"/>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195081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CDF4-8C2F-449C-89C7-2BB972C879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73C1F7-76DA-468E-8C76-4D903EF3F6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BF2675-1023-4B8A-986C-DDADA5D6F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7B2FD8-4618-411D-AC48-B1FEB2E05C1A}"/>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6" name="Footer Placeholder 5">
            <a:extLst>
              <a:ext uri="{FF2B5EF4-FFF2-40B4-BE49-F238E27FC236}">
                <a16:creationId xmlns:a16="http://schemas.microsoft.com/office/drawing/2014/main" id="{3E1417DB-CA5E-42A2-B929-A7A91B7B1A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CC0124-9F41-4812-9FF2-83ED79C9D129}"/>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142767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053D7-3F47-482F-A4AA-686D0F2C1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9CDADC-1D2A-4552-8F84-BDBAEB775E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8ABF82-2197-4D21-9EE9-D2FF25567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3D36AF-E3B4-47AE-B97E-62E8B1CC0856}"/>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6" name="Footer Placeholder 5">
            <a:extLst>
              <a:ext uri="{FF2B5EF4-FFF2-40B4-BE49-F238E27FC236}">
                <a16:creationId xmlns:a16="http://schemas.microsoft.com/office/drawing/2014/main" id="{4EBB512D-826E-47EF-8A2B-CB34F1EDF8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56DE95-2AA3-4099-ABF8-4330A73DB5C6}"/>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420283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75E9-FD5C-42B1-AC1E-E0E22A3AD9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E571AA-2DF3-4D6C-A2B8-4D6E88D06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E5E5C4-DABF-4425-BCD4-4DA051F1AAB0}"/>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5" name="Footer Placeholder 4">
            <a:extLst>
              <a:ext uri="{FF2B5EF4-FFF2-40B4-BE49-F238E27FC236}">
                <a16:creationId xmlns:a16="http://schemas.microsoft.com/office/drawing/2014/main" id="{BD0738E6-9191-478D-AAB3-525EAAB83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A753B3-9071-45F4-8FC9-B8B9770C3EBD}"/>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238202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40ECF7-CC3A-441E-BB12-08D56C44DB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C37115-25BF-4FFC-9D42-3ECCF9AB34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AABD83-AA40-4D9D-B516-71D1A03A5B79}"/>
              </a:ext>
            </a:extLst>
          </p:cNvPr>
          <p:cNvSpPr>
            <a:spLocks noGrp="1"/>
          </p:cNvSpPr>
          <p:nvPr>
            <p:ph type="dt" sz="half" idx="10"/>
          </p:nvPr>
        </p:nvSpPr>
        <p:spPr/>
        <p:txBody>
          <a:bodyPr/>
          <a:lstStyle/>
          <a:p>
            <a:fld id="{4B6054E6-E796-4832-83DF-19DB079B5A72}" type="datetimeFigureOut">
              <a:rPr lang="en-US" smtClean="0"/>
              <a:t>6/18/2025</a:t>
            </a:fld>
            <a:endParaRPr lang="en-US"/>
          </a:p>
        </p:txBody>
      </p:sp>
      <p:sp>
        <p:nvSpPr>
          <p:cNvPr id="5" name="Footer Placeholder 4">
            <a:extLst>
              <a:ext uri="{FF2B5EF4-FFF2-40B4-BE49-F238E27FC236}">
                <a16:creationId xmlns:a16="http://schemas.microsoft.com/office/drawing/2014/main" id="{F8988B59-4AD3-4A76-9473-543981EF8E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69CA0C-C620-4BD1-907E-5F3318FC63F4}"/>
              </a:ext>
            </a:extLst>
          </p:cNvPr>
          <p:cNvSpPr>
            <a:spLocks noGrp="1"/>
          </p:cNvSpPr>
          <p:nvPr>
            <p:ph type="sldNum" sz="quarter" idx="12"/>
          </p:nvPr>
        </p:nvSpPr>
        <p:spPr/>
        <p:txBody>
          <a:bodyPr/>
          <a:lstStyle/>
          <a:p>
            <a:fld id="{AA1B16C2-EFC8-4B8C-ABB4-86A5A5E98E81}" type="slidenum">
              <a:rPr lang="en-US" smtClean="0"/>
              <a:t>‹#›</a:t>
            </a:fld>
            <a:endParaRPr lang="en-US"/>
          </a:p>
        </p:txBody>
      </p:sp>
    </p:spTree>
    <p:extLst>
      <p:ext uri="{BB962C8B-B14F-4D97-AF65-F5344CB8AC3E}">
        <p14:creationId xmlns:p14="http://schemas.microsoft.com/office/powerpoint/2010/main" val="389557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78311-8346-4F1B-A388-6ADDEAD375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BDF68F-D9ED-40A2-85C0-53F607FF94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C6F0CE-5C2D-4B7C-BBE1-FBEF41269C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6054E6-E796-4832-83DF-19DB079B5A72}" type="datetimeFigureOut">
              <a:rPr lang="en-US" smtClean="0"/>
              <a:t>6/18/2025</a:t>
            </a:fld>
            <a:endParaRPr lang="en-US"/>
          </a:p>
        </p:txBody>
      </p:sp>
      <p:sp>
        <p:nvSpPr>
          <p:cNvPr id="5" name="Footer Placeholder 4">
            <a:extLst>
              <a:ext uri="{FF2B5EF4-FFF2-40B4-BE49-F238E27FC236}">
                <a16:creationId xmlns:a16="http://schemas.microsoft.com/office/drawing/2014/main" id="{10E4F118-B1F5-48AE-91A5-FDED352BD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0DE152-7639-45BF-AD5D-5D187E6E3C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B16C2-EFC8-4B8C-ABB4-86A5A5E98E81}" type="slidenum">
              <a:rPr lang="en-US" smtClean="0"/>
              <a:t>‹#›</a:t>
            </a:fld>
            <a:endParaRPr lang="en-US"/>
          </a:p>
        </p:txBody>
      </p:sp>
    </p:spTree>
    <p:extLst>
      <p:ext uri="{BB962C8B-B14F-4D97-AF65-F5344CB8AC3E}">
        <p14:creationId xmlns:p14="http://schemas.microsoft.com/office/powerpoint/2010/main" val="1177010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png"/><Relationship Id="rId7" Type="http://schemas.openxmlformats.org/officeDocument/2006/relationships/diagramLayout" Target="../diagrams/layout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Data" Target="../diagrams/data1.xml"/><Relationship Id="rId5" Type="http://schemas.openxmlformats.org/officeDocument/2006/relationships/image" Target="../media/image3.jpeg"/><Relationship Id="rId10" Type="http://schemas.microsoft.com/office/2007/relationships/diagramDrawing" Target="../diagrams/drawing1.xml"/><Relationship Id="rId4" Type="http://schemas.openxmlformats.org/officeDocument/2006/relationships/image" Target="../media/image2.jpeg"/><Relationship Id="rId9" Type="http://schemas.openxmlformats.org/officeDocument/2006/relationships/diagramColors" Target="../diagrams/colors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4.png"/><Relationship Id="rId7" Type="http://schemas.openxmlformats.org/officeDocument/2006/relationships/diagramLayout" Target="../diagrams/layout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openxmlformats.org/officeDocument/2006/relationships/image" Target="../media/image5.png"/><Relationship Id="rId10" Type="http://schemas.microsoft.com/office/2007/relationships/diagramDrawing" Target="../diagrams/drawing2.xml"/><Relationship Id="rId4" Type="http://schemas.microsoft.com/office/2007/relationships/hdphoto" Target="../media/hdphoto1.wdp"/><Relationship Id="rId9" Type="http://schemas.openxmlformats.org/officeDocument/2006/relationships/diagramColors" Target="../diagrams/colors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12"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3.xml"/><Relationship Id="rId11" Type="http://schemas.openxmlformats.org/officeDocument/2006/relationships/image" Target="../media/image12.png"/><Relationship Id="rId5" Type="http://schemas.openxmlformats.org/officeDocument/2006/relationships/diagramLayout" Target="../diagrams/layout3.xml"/><Relationship Id="rId10" Type="http://schemas.openxmlformats.org/officeDocument/2006/relationships/image" Target="../media/image11.png"/><Relationship Id="rId4" Type="http://schemas.openxmlformats.org/officeDocument/2006/relationships/diagramData" Target="../diagrams/data3.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audio" Target="../media/media4.wav"/><Relationship Id="rId13" Type="http://schemas.openxmlformats.org/officeDocument/2006/relationships/slideLayout" Target="../slideLayouts/slideLayout2.xml"/><Relationship Id="rId3" Type="http://schemas.microsoft.com/office/2007/relationships/media" Target="../media/media2.wav"/><Relationship Id="rId7" Type="http://schemas.microsoft.com/office/2007/relationships/media" Target="../media/media4.wav"/><Relationship Id="rId12" Type="http://schemas.openxmlformats.org/officeDocument/2006/relationships/audio" Target="../media/media6.wav"/><Relationship Id="rId17" Type="http://schemas.openxmlformats.org/officeDocument/2006/relationships/image" Target="../media/image16.png"/><Relationship Id="rId2" Type="http://schemas.openxmlformats.org/officeDocument/2006/relationships/audio" Target="../media/media1.wav"/><Relationship Id="rId16" Type="http://schemas.openxmlformats.org/officeDocument/2006/relationships/image" Target="../media/image15.png"/><Relationship Id="rId1" Type="http://schemas.microsoft.com/office/2007/relationships/media" Target="../media/media1.wav"/><Relationship Id="rId6" Type="http://schemas.openxmlformats.org/officeDocument/2006/relationships/audio" Target="../media/media3.wav"/><Relationship Id="rId11" Type="http://schemas.microsoft.com/office/2007/relationships/media" Target="../media/media6.wav"/><Relationship Id="rId5" Type="http://schemas.microsoft.com/office/2007/relationships/media" Target="../media/media3.wav"/><Relationship Id="rId15" Type="http://schemas.openxmlformats.org/officeDocument/2006/relationships/image" Target="../media/image9.png"/><Relationship Id="rId10" Type="http://schemas.openxmlformats.org/officeDocument/2006/relationships/audio" Target="../media/media5.wav"/><Relationship Id="rId4" Type="http://schemas.openxmlformats.org/officeDocument/2006/relationships/audio" Target="../media/media2.wav"/><Relationship Id="rId9" Type="http://schemas.microsoft.com/office/2007/relationships/media" Target="../media/media5.wav"/><Relationship Id="rId1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E66353C-3B6A-4AB0-8661-383C4D2EAEE4}"/>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0207" cy="6858000"/>
          </a:xfrm>
          <a:prstGeom prst="rect">
            <a:avLst/>
          </a:prstGeom>
        </p:spPr>
      </p:pic>
      <p:pic>
        <p:nvPicPr>
          <p:cNvPr id="2" name="Image 24" descr="Le ministère de l'Éducation nationale, du Préscolaire et des Sports adopte  un nouvel organigramme">
            <a:extLst>
              <a:ext uri="{FF2B5EF4-FFF2-40B4-BE49-F238E27FC236}">
                <a16:creationId xmlns:a16="http://schemas.microsoft.com/office/drawing/2014/main" id="{FEE9C6DB-925E-441E-88E9-28A57E75B9C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3" y="6148"/>
            <a:ext cx="2495774" cy="2160000"/>
          </a:xfrm>
          <a:prstGeom prst="rect">
            <a:avLst/>
          </a:prstGeom>
          <a:noFill/>
          <a:ln>
            <a:noFill/>
          </a:ln>
        </p:spPr>
      </p:pic>
      <p:pic>
        <p:nvPicPr>
          <p:cNvPr id="4" name="Image 1">
            <a:extLst>
              <a:ext uri="{FF2B5EF4-FFF2-40B4-BE49-F238E27FC236}">
                <a16:creationId xmlns:a16="http://schemas.microsoft.com/office/drawing/2014/main" id="{63FC438A-5829-47CF-9CEB-8EB60B04695E}"/>
              </a:ext>
            </a:extLst>
          </p:cNvPr>
          <p:cNvPicPr/>
          <p:nvPr/>
        </p:nvPicPr>
        <p:blipFill>
          <a:blip r:embed="rId5" cstate="print"/>
          <a:stretch>
            <a:fillRect/>
          </a:stretch>
        </p:blipFill>
        <p:spPr>
          <a:xfrm>
            <a:off x="9696226" y="6148"/>
            <a:ext cx="2495774" cy="2160000"/>
          </a:xfrm>
          <a:prstGeom prst="rect">
            <a:avLst/>
          </a:prstGeom>
        </p:spPr>
      </p:pic>
      <p:graphicFrame>
        <p:nvGraphicFramePr>
          <p:cNvPr id="5" name="Diagram 4">
            <a:extLst>
              <a:ext uri="{FF2B5EF4-FFF2-40B4-BE49-F238E27FC236}">
                <a16:creationId xmlns:a16="http://schemas.microsoft.com/office/drawing/2014/main" id="{3B12DAAC-0EA1-42B8-BE41-B34C44363BC6}"/>
              </a:ext>
            </a:extLst>
          </p:cNvPr>
          <p:cNvGraphicFramePr/>
          <p:nvPr>
            <p:extLst>
              <p:ext uri="{D42A27DB-BD31-4B8C-83A1-F6EECF244321}">
                <p14:modId xmlns:p14="http://schemas.microsoft.com/office/powerpoint/2010/main" val="161752919"/>
              </p:ext>
            </p:extLst>
          </p:nvPr>
        </p:nvGraphicFramePr>
        <p:xfrm>
          <a:off x="-12212587" y="2428240"/>
          <a:ext cx="12192000" cy="46431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TextBox 8">
            <a:extLst>
              <a:ext uri="{FF2B5EF4-FFF2-40B4-BE49-F238E27FC236}">
                <a16:creationId xmlns:a16="http://schemas.microsoft.com/office/drawing/2014/main" id="{E73AF316-24F3-4B00-9EF7-203EDF5152CB}"/>
              </a:ext>
            </a:extLst>
          </p:cNvPr>
          <p:cNvSpPr txBox="1"/>
          <p:nvPr/>
        </p:nvSpPr>
        <p:spPr>
          <a:xfrm>
            <a:off x="2570024" y="762282"/>
            <a:ext cx="7051952" cy="1938992"/>
          </a:xfrm>
          <a:prstGeom prst="rect">
            <a:avLst/>
          </a:prstGeom>
          <a:noFill/>
        </p:spPr>
        <p:txBody>
          <a:bodyPr wrap="square" rtlCol="0">
            <a:spAutoFit/>
          </a:bodyPr>
          <a:lstStyle/>
          <a:p>
            <a:endParaRPr lang="fr-FR" sz="2400" dirty="0">
              <a:solidFill>
                <a:srgbClr val="1E3A8A"/>
              </a:solidFill>
              <a:latin typeface="Arial Black" panose="020B0A04020102020204" pitchFamily="34" charset="0"/>
            </a:endParaRPr>
          </a:p>
          <a:p>
            <a:r>
              <a:rPr lang="fr-FR" sz="2400" dirty="0">
                <a:solidFill>
                  <a:srgbClr val="1E3A8A"/>
                </a:solidFill>
                <a:latin typeface="Arial Black" panose="020B0A04020102020204" pitchFamily="34" charset="0"/>
              </a:rPr>
              <a:t>Filière : Développement de l’intelligence 		artificiel (DIA)</a:t>
            </a:r>
          </a:p>
          <a:p>
            <a:endParaRPr lang="fr-FR" sz="2400" dirty="0">
              <a:solidFill>
                <a:srgbClr val="1E3A8A"/>
              </a:solidFill>
              <a:latin typeface="Arial Black" panose="020B0A04020102020204" pitchFamily="34" charset="0"/>
            </a:endParaRPr>
          </a:p>
          <a:p>
            <a:endParaRPr lang="en-US" sz="2400" dirty="0">
              <a:solidFill>
                <a:srgbClr val="1E3A8A"/>
              </a:solidFill>
              <a:latin typeface="Arial Black" panose="020B0A04020102020204" pitchFamily="34" charset="0"/>
            </a:endParaRPr>
          </a:p>
        </p:txBody>
      </p:sp>
      <p:sp>
        <p:nvSpPr>
          <p:cNvPr id="11" name="TextBox 10">
            <a:extLst>
              <a:ext uri="{FF2B5EF4-FFF2-40B4-BE49-F238E27FC236}">
                <a16:creationId xmlns:a16="http://schemas.microsoft.com/office/drawing/2014/main" id="{7F5FEEE5-B151-47DC-B461-D28A6F634A07}"/>
              </a:ext>
            </a:extLst>
          </p:cNvPr>
          <p:cNvSpPr txBox="1"/>
          <p:nvPr/>
        </p:nvSpPr>
        <p:spPr>
          <a:xfrm flipH="1">
            <a:off x="7528560" y="4719786"/>
            <a:ext cx="6492240" cy="954107"/>
          </a:xfrm>
          <a:prstGeom prst="rect">
            <a:avLst/>
          </a:prstGeom>
          <a:noFill/>
        </p:spPr>
        <p:txBody>
          <a:bodyPr wrap="square">
            <a:spAutoFit/>
          </a:bodyPr>
          <a:lstStyle/>
          <a:p>
            <a:r>
              <a:rPr lang="fr-FR" sz="2800" u="sng" dirty="0">
                <a:solidFill>
                  <a:srgbClr val="2DD4BF"/>
                </a:solidFill>
                <a:latin typeface="Arial Black" panose="020B0A04020102020204" pitchFamily="34" charset="0"/>
              </a:rPr>
              <a:t>Encadrer par :</a:t>
            </a:r>
          </a:p>
          <a:p>
            <a:r>
              <a:rPr lang="fr-FR" sz="2800" dirty="0">
                <a:solidFill>
                  <a:srgbClr val="1E3A8A"/>
                </a:solidFill>
                <a:latin typeface="Arial Black" panose="020B0A04020102020204" pitchFamily="34" charset="0"/>
              </a:rPr>
              <a:t>Pr. BELARABI Younes</a:t>
            </a:r>
          </a:p>
        </p:txBody>
      </p:sp>
      <p:sp>
        <p:nvSpPr>
          <p:cNvPr id="12" name="TextBox 11">
            <a:extLst>
              <a:ext uri="{FF2B5EF4-FFF2-40B4-BE49-F238E27FC236}">
                <a16:creationId xmlns:a16="http://schemas.microsoft.com/office/drawing/2014/main" id="{8C530429-BA00-42D6-BB63-7FAEB4463AD9}"/>
              </a:ext>
            </a:extLst>
          </p:cNvPr>
          <p:cNvSpPr txBox="1"/>
          <p:nvPr/>
        </p:nvSpPr>
        <p:spPr>
          <a:xfrm flipH="1">
            <a:off x="365760" y="4759166"/>
            <a:ext cx="6492240" cy="954107"/>
          </a:xfrm>
          <a:prstGeom prst="rect">
            <a:avLst/>
          </a:prstGeom>
          <a:noFill/>
        </p:spPr>
        <p:txBody>
          <a:bodyPr wrap="square">
            <a:spAutoFit/>
          </a:bodyPr>
          <a:lstStyle/>
          <a:p>
            <a:r>
              <a:rPr lang="fr-FR" sz="2800" u="sng" dirty="0">
                <a:solidFill>
                  <a:srgbClr val="2DD4BF"/>
                </a:solidFill>
                <a:latin typeface="Arial Black" panose="020B0A04020102020204" pitchFamily="34" charset="0"/>
              </a:rPr>
              <a:t>Réalisé par : </a:t>
            </a:r>
          </a:p>
          <a:p>
            <a:r>
              <a:rPr lang="fr-FR" sz="2800" dirty="0">
                <a:solidFill>
                  <a:srgbClr val="1E3A8A"/>
                </a:solidFill>
                <a:latin typeface="Arial Black" panose="020B0A04020102020204" pitchFamily="34" charset="0"/>
              </a:rPr>
              <a:t>AIT CHEIKH </a:t>
            </a:r>
            <a:r>
              <a:rPr lang="fr-FR" sz="2800" dirty="0" err="1">
                <a:solidFill>
                  <a:srgbClr val="1E3A8A"/>
                </a:solidFill>
                <a:latin typeface="Arial Black" panose="020B0A04020102020204" pitchFamily="34" charset="0"/>
              </a:rPr>
              <a:t>Ilyass</a:t>
            </a:r>
            <a:endParaRPr lang="fr-FR" sz="2800" dirty="0">
              <a:solidFill>
                <a:srgbClr val="1E3A8A"/>
              </a:solidFill>
              <a:latin typeface="Arial Black" panose="020B0A04020102020204" pitchFamily="34" charset="0"/>
            </a:endParaRPr>
          </a:p>
        </p:txBody>
      </p:sp>
      <p:sp>
        <p:nvSpPr>
          <p:cNvPr id="14" name="TextBox 13">
            <a:extLst>
              <a:ext uri="{FF2B5EF4-FFF2-40B4-BE49-F238E27FC236}">
                <a16:creationId xmlns:a16="http://schemas.microsoft.com/office/drawing/2014/main" id="{62AB8685-7170-4827-AFCA-16F59A5CA00D}"/>
              </a:ext>
            </a:extLst>
          </p:cNvPr>
          <p:cNvSpPr txBox="1"/>
          <p:nvPr/>
        </p:nvSpPr>
        <p:spPr>
          <a:xfrm>
            <a:off x="2849880" y="6248399"/>
            <a:ext cx="6492240" cy="523220"/>
          </a:xfrm>
          <a:prstGeom prst="rect">
            <a:avLst/>
          </a:prstGeom>
          <a:noFill/>
        </p:spPr>
        <p:txBody>
          <a:bodyPr wrap="square">
            <a:spAutoFit/>
          </a:bodyPr>
          <a:lstStyle/>
          <a:p>
            <a:r>
              <a:rPr lang="en-US" sz="2800" dirty="0" err="1">
                <a:solidFill>
                  <a:srgbClr val="1E3A8A"/>
                </a:solidFill>
                <a:latin typeface="Arial Black" panose="020B0A04020102020204" pitchFamily="34" charset="0"/>
              </a:rPr>
              <a:t>Année</a:t>
            </a:r>
            <a:r>
              <a:rPr lang="en-US" sz="2800" dirty="0">
                <a:solidFill>
                  <a:srgbClr val="1E3A8A"/>
                </a:solidFill>
                <a:latin typeface="Arial Black" panose="020B0A04020102020204" pitchFamily="34" charset="0"/>
              </a:rPr>
              <a:t> </a:t>
            </a:r>
            <a:r>
              <a:rPr lang="en-US" sz="2800" dirty="0" err="1">
                <a:solidFill>
                  <a:srgbClr val="1E3A8A"/>
                </a:solidFill>
                <a:latin typeface="Arial Black" panose="020B0A04020102020204" pitchFamily="34" charset="0"/>
              </a:rPr>
              <a:t>universitaire</a:t>
            </a:r>
            <a:r>
              <a:rPr lang="en-US" sz="2800" dirty="0">
                <a:solidFill>
                  <a:srgbClr val="1E3A8A"/>
                </a:solidFill>
                <a:latin typeface="Arial Black" panose="020B0A04020102020204" pitchFamily="34" charset="0"/>
              </a:rPr>
              <a:t> : 2024-2025</a:t>
            </a:r>
          </a:p>
        </p:txBody>
      </p:sp>
      <p:sp>
        <p:nvSpPr>
          <p:cNvPr id="15" name="Frame 14">
            <a:extLst>
              <a:ext uri="{FF2B5EF4-FFF2-40B4-BE49-F238E27FC236}">
                <a16:creationId xmlns:a16="http://schemas.microsoft.com/office/drawing/2014/main" id="{EA0D37B6-FE1E-41A2-AE45-2FC5F5B929EA}"/>
              </a:ext>
            </a:extLst>
          </p:cNvPr>
          <p:cNvSpPr/>
          <p:nvPr/>
        </p:nvSpPr>
        <p:spPr>
          <a:xfrm>
            <a:off x="2057400" y="2661241"/>
            <a:ext cx="8077200" cy="1535519"/>
          </a:xfrm>
          <a:prstGeom prst="frame">
            <a:avLst/>
          </a:prstGeom>
          <a:solidFill>
            <a:srgbClr val="1E3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solidFill>
                  <a:srgbClr val="1E3A8A"/>
                </a:solidFill>
                <a:latin typeface="Arial Black" panose="020B0A04020102020204" pitchFamily="34" charset="0"/>
              </a:rPr>
              <a:t>Reconnaissance des émotions dans la parole </a:t>
            </a:r>
          </a:p>
        </p:txBody>
      </p:sp>
    </p:spTree>
    <p:extLst>
      <p:ext uri="{BB962C8B-B14F-4D97-AF65-F5344CB8AC3E}">
        <p14:creationId xmlns:p14="http://schemas.microsoft.com/office/powerpoint/2010/main" val="2556899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C7EF2E4-382B-4FED-8421-4BC67C6CC3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flipH="1">
            <a:off x="10286999" y="185912"/>
            <a:ext cx="1752600" cy="1509074"/>
          </a:xfrm>
          <a:prstGeom prst="rect">
            <a:avLst/>
          </a:prstGeom>
          <a:effectLst>
            <a:glow rad="101600">
              <a:schemeClr val="bg2">
                <a:alpha val="48000"/>
              </a:schemeClr>
            </a:glow>
            <a:outerShdw blurRad="50800" dist="50800" dir="9960000" algn="ctr" rotWithShape="0">
              <a:schemeClr val="bg2"/>
            </a:outerShdw>
          </a:effectLst>
        </p:spPr>
      </p:pic>
      <p:sp>
        <p:nvSpPr>
          <p:cNvPr id="7" name="TextBox 6">
            <a:extLst>
              <a:ext uri="{FF2B5EF4-FFF2-40B4-BE49-F238E27FC236}">
                <a16:creationId xmlns:a16="http://schemas.microsoft.com/office/drawing/2014/main" id="{ACA444FB-2C10-4CA6-9AA3-312EC48F124D}"/>
              </a:ext>
            </a:extLst>
          </p:cNvPr>
          <p:cNvSpPr txBox="1"/>
          <p:nvPr/>
        </p:nvSpPr>
        <p:spPr>
          <a:xfrm>
            <a:off x="1234633" y="262635"/>
            <a:ext cx="9722734" cy="769441"/>
          </a:xfrm>
          <a:prstGeom prst="rect">
            <a:avLst/>
          </a:prstGeom>
          <a:noFill/>
        </p:spPr>
        <p:txBody>
          <a:bodyPr wrap="square" rtlCol="0">
            <a:spAutoFit/>
          </a:bodyPr>
          <a:lstStyle/>
          <a:p>
            <a:pPr algn="ctr"/>
            <a:r>
              <a:rPr lang="en-US" sz="4400" u="sng" dirty="0">
                <a:ln w="28575">
                  <a:solidFill>
                    <a:srgbClr val="2DD4BF"/>
                  </a:solidFill>
                </a:ln>
                <a:solidFill>
                  <a:srgbClr val="1E3A8A"/>
                </a:solidFill>
                <a:latin typeface="Arial Black" panose="020B0A04020102020204" pitchFamily="34" charset="0"/>
              </a:rPr>
              <a:t>Plan de la </a:t>
            </a:r>
            <a:r>
              <a:rPr lang="en-US" sz="4400" u="sng" dirty="0" err="1">
                <a:ln w="28575">
                  <a:solidFill>
                    <a:srgbClr val="2DD4BF"/>
                  </a:solidFill>
                </a:ln>
                <a:solidFill>
                  <a:srgbClr val="1E3A8A"/>
                </a:solidFill>
                <a:latin typeface="Arial Black" panose="020B0A04020102020204" pitchFamily="34" charset="0"/>
              </a:rPr>
              <a:t>présentation</a:t>
            </a:r>
            <a:endParaRPr lang="en-US" sz="4400" u="sng" dirty="0">
              <a:ln w="28575">
                <a:solidFill>
                  <a:srgbClr val="2DD4BF"/>
                </a:solidFill>
              </a:ln>
              <a:solidFill>
                <a:srgbClr val="1E3A8A"/>
              </a:solidFill>
              <a:latin typeface="Arial Black" panose="020B0A04020102020204" pitchFamily="34" charset="0"/>
            </a:endParaRPr>
          </a:p>
        </p:txBody>
      </p:sp>
      <p:pic>
        <p:nvPicPr>
          <p:cNvPr id="3" name="Picture 2">
            <a:extLst>
              <a:ext uri="{FF2B5EF4-FFF2-40B4-BE49-F238E27FC236}">
                <a16:creationId xmlns:a16="http://schemas.microsoft.com/office/drawing/2014/main" id="{350754A6-1EE6-43CC-BD1B-59CAA64262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401" y="185912"/>
            <a:ext cx="1752600" cy="1752600"/>
          </a:xfrm>
          <a:prstGeom prst="rect">
            <a:avLst/>
          </a:prstGeom>
        </p:spPr>
      </p:pic>
      <p:graphicFrame>
        <p:nvGraphicFramePr>
          <p:cNvPr id="11" name="Diagram 10">
            <a:extLst>
              <a:ext uri="{FF2B5EF4-FFF2-40B4-BE49-F238E27FC236}">
                <a16:creationId xmlns:a16="http://schemas.microsoft.com/office/drawing/2014/main" id="{ED782263-9477-4384-8A02-397C9FEAD876}"/>
              </a:ext>
            </a:extLst>
          </p:cNvPr>
          <p:cNvGraphicFramePr/>
          <p:nvPr>
            <p:extLst>
              <p:ext uri="{D42A27DB-BD31-4B8C-83A1-F6EECF244321}">
                <p14:modId xmlns:p14="http://schemas.microsoft.com/office/powerpoint/2010/main" val="3852049559"/>
              </p:ext>
            </p:extLst>
          </p:nvPr>
        </p:nvGraphicFramePr>
        <p:xfrm>
          <a:off x="0" y="2428240"/>
          <a:ext cx="12192000" cy="46431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803435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C7EF2E4-382B-4FED-8421-4BC67C6CC36D}"/>
              </a:ext>
            </a:extLst>
          </p:cNvPr>
          <p:cNvPicPr>
            <a:picLocks noChangeAspect="1"/>
          </p:cNvPicPr>
          <p:nvPr/>
        </p:nvPicPr>
        <p:blipFill>
          <a:blip r:embed="rId3">
            <a:alphaModFix amt="50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826151" y="193876"/>
            <a:ext cx="6470248" cy="6470248"/>
          </a:xfrm>
          <a:prstGeom prst="rect">
            <a:avLst/>
          </a:prstGeom>
          <a:effectLst>
            <a:glow rad="101600">
              <a:schemeClr val="bg2">
                <a:alpha val="48000"/>
              </a:schemeClr>
            </a:glow>
            <a:outerShdw blurRad="50800" dist="50800" dir="9960000" algn="ctr" rotWithShape="0">
              <a:schemeClr val="bg2"/>
            </a:outerShdw>
          </a:effectLst>
        </p:spPr>
      </p:pic>
      <p:sp>
        <p:nvSpPr>
          <p:cNvPr id="5" name="TextBox 4">
            <a:extLst>
              <a:ext uri="{FF2B5EF4-FFF2-40B4-BE49-F238E27FC236}">
                <a16:creationId xmlns:a16="http://schemas.microsoft.com/office/drawing/2014/main" id="{8D5AD35E-4806-49A9-AA6C-19EE2F9D9D64}"/>
              </a:ext>
            </a:extLst>
          </p:cNvPr>
          <p:cNvSpPr txBox="1"/>
          <p:nvPr/>
        </p:nvSpPr>
        <p:spPr>
          <a:xfrm>
            <a:off x="208346" y="1353519"/>
            <a:ext cx="4155311" cy="3016210"/>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Contexte</a:t>
            </a:r>
          </a:p>
          <a:p>
            <a:r>
              <a:rPr lang="fr-FR" dirty="0">
                <a:solidFill>
                  <a:srgbClr val="1E3A8A"/>
                </a:solidFill>
                <a:latin typeface="Arial Black" panose="020B0A04020102020204" pitchFamily="34" charset="0"/>
              </a:rPr>
              <a:t>Aujourd’hui, les interactions entre les humains et les machines deviennent de plus en plus naturelles. On pense par exemple aux assistants vocaux comme </a:t>
            </a:r>
            <a:r>
              <a:rPr lang="fr-FR" dirty="0">
                <a:ln>
                  <a:solidFill>
                    <a:srgbClr val="A3E635"/>
                  </a:solidFill>
                </a:ln>
                <a:solidFill>
                  <a:srgbClr val="1E3A8A"/>
                </a:solidFill>
                <a:latin typeface="Arial Black" panose="020B0A04020102020204" pitchFamily="34" charset="0"/>
              </a:rPr>
              <a:t>Siri, Alexa ou Google Assistant</a:t>
            </a:r>
            <a:r>
              <a:rPr lang="fr-FR" dirty="0">
                <a:solidFill>
                  <a:srgbClr val="1E3A8A"/>
                </a:solidFill>
                <a:latin typeface="Arial Black" panose="020B0A04020102020204" pitchFamily="34" charset="0"/>
              </a:rPr>
              <a:t>, aux robots sociaux ou encore aux plateformes d’e-learning.</a:t>
            </a:r>
            <a:endParaRPr lang="en-US" dirty="0">
              <a:solidFill>
                <a:srgbClr val="1E3A8A"/>
              </a:solidFill>
              <a:latin typeface="Arial Black" panose="020B0A04020102020204" pitchFamily="34" charset="0"/>
            </a:endParaRPr>
          </a:p>
        </p:txBody>
      </p:sp>
      <p:sp>
        <p:nvSpPr>
          <p:cNvPr id="4" name="TextBox 3">
            <a:extLst>
              <a:ext uri="{FF2B5EF4-FFF2-40B4-BE49-F238E27FC236}">
                <a16:creationId xmlns:a16="http://schemas.microsoft.com/office/drawing/2014/main" id="{F4A2B586-4F19-4F4D-92A3-C614FE3CB3B2}"/>
              </a:ext>
            </a:extLst>
          </p:cNvPr>
          <p:cNvSpPr txBox="1"/>
          <p:nvPr/>
        </p:nvSpPr>
        <p:spPr>
          <a:xfrm>
            <a:off x="1234633" y="289368"/>
            <a:ext cx="9722734" cy="1446550"/>
          </a:xfrm>
          <a:prstGeom prst="rect">
            <a:avLst/>
          </a:prstGeom>
          <a:noFill/>
        </p:spPr>
        <p:txBody>
          <a:bodyPr wrap="square" rtlCol="0">
            <a:spAutoFit/>
          </a:bodyPr>
          <a:lstStyle/>
          <a:p>
            <a:pPr algn="ctr"/>
            <a:r>
              <a:rPr lang="en-US" sz="4400" u="sng" dirty="0">
                <a:ln w="28575">
                  <a:solidFill>
                    <a:srgbClr val="2DD4BF"/>
                  </a:solidFill>
                </a:ln>
                <a:solidFill>
                  <a:srgbClr val="1E3A8A"/>
                </a:solidFill>
                <a:latin typeface="Arial Black" panose="020B0A04020102020204" pitchFamily="34" charset="0"/>
              </a:rPr>
              <a:t>Introduction: </a:t>
            </a:r>
            <a:r>
              <a:rPr lang="en-US" sz="4400" u="sng" dirty="0" err="1">
                <a:ln w="28575">
                  <a:solidFill>
                    <a:srgbClr val="2DD4BF"/>
                  </a:solidFill>
                </a:ln>
                <a:solidFill>
                  <a:srgbClr val="1E3A8A"/>
                </a:solidFill>
                <a:latin typeface="Arial Black" panose="020B0A04020102020204" pitchFamily="34" charset="0"/>
              </a:rPr>
              <a:t>Contexte</a:t>
            </a:r>
            <a:r>
              <a:rPr lang="en-US" sz="4400" u="sng" dirty="0">
                <a:ln w="28575">
                  <a:solidFill>
                    <a:srgbClr val="2DD4BF"/>
                  </a:solidFill>
                </a:ln>
                <a:solidFill>
                  <a:srgbClr val="1E3A8A"/>
                </a:solidFill>
                <a:latin typeface="Arial Black" panose="020B0A04020102020204" pitchFamily="34" charset="0"/>
              </a:rPr>
              <a:t> du </a:t>
            </a:r>
            <a:r>
              <a:rPr lang="en-US" sz="4400" u="sng" dirty="0" err="1">
                <a:ln w="28575">
                  <a:solidFill>
                    <a:srgbClr val="2DD4BF"/>
                  </a:solidFill>
                </a:ln>
                <a:solidFill>
                  <a:srgbClr val="1E3A8A"/>
                </a:solidFill>
                <a:latin typeface="Arial Black" panose="020B0A04020102020204" pitchFamily="34" charset="0"/>
              </a:rPr>
              <a:t>projet</a:t>
            </a:r>
            <a:r>
              <a:rPr lang="en-US" sz="4400" u="sng" dirty="0">
                <a:ln w="28575">
                  <a:solidFill>
                    <a:srgbClr val="2DD4BF"/>
                  </a:solidFill>
                </a:ln>
                <a:solidFill>
                  <a:srgbClr val="1E3A8A"/>
                </a:solidFill>
                <a:latin typeface="Arial Black" panose="020B0A04020102020204" pitchFamily="34" charset="0"/>
              </a:rPr>
              <a:t> </a:t>
            </a:r>
          </a:p>
        </p:txBody>
      </p:sp>
      <p:sp>
        <p:nvSpPr>
          <p:cNvPr id="9" name="TextBox 8">
            <a:extLst>
              <a:ext uri="{FF2B5EF4-FFF2-40B4-BE49-F238E27FC236}">
                <a16:creationId xmlns:a16="http://schemas.microsoft.com/office/drawing/2014/main" id="{139BC316-1C46-459A-AD76-66B8C47B3261}"/>
              </a:ext>
            </a:extLst>
          </p:cNvPr>
          <p:cNvSpPr txBox="1"/>
          <p:nvPr/>
        </p:nvSpPr>
        <p:spPr>
          <a:xfrm>
            <a:off x="3673032" y="3829421"/>
            <a:ext cx="4155311" cy="2739211"/>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Problématique</a:t>
            </a:r>
            <a:endParaRPr lang="fr-FR" u="sng" dirty="0">
              <a:ln w="12700">
                <a:solidFill>
                  <a:srgbClr val="1E3A8A"/>
                </a:solidFill>
              </a:ln>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Mais pour que ces systèmes soient vraiment efficaces, ils doivent </a:t>
            </a:r>
            <a:r>
              <a:rPr lang="fr-FR" dirty="0">
                <a:ln>
                  <a:solidFill>
                    <a:srgbClr val="A3E635"/>
                  </a:solidFill>
                </a:ln>
                <a:solidFill>
                  <a:srgbClr val="1E3A8A"/>
                </a:solidFill>
                <a:latin typeface="Arial Black" panose="020B0A04020102020204" pitchFamily="34" charset="0"/>
              </a:rPr>
              <a:t>comprendre non seulement ce que nous disons, mais aussi comment nous le disons</a:t>
            </a:r>
            <a:r>
              <a:rPr lang="fr-FR" dirty="0">
                <a:solidFill>
                  <a:srgbClr val="1E3A8A"/>
                </a:solidFill>
                <a:latin typeface="Arial Black" panose="020B0A04020102020204" pitchFamily="34" charset="0"/>
              </a:rPr>
              <a:t>. C’est là qu’intervient la reconnaissance des émotions dans la voix.</a:t>
            </a:r>
            <a:endParaRPr lang="en-US" dirty="0">
              <a:solidFill>
                <a:srgbClr val="1E3A8A"/>
              </a:solidFill>
              <a:latin typeface="Arial Black" panose="020B0A04020102020204" pitchFamily="34" charset="0"/>
            </a:endParaRPr>
          </a:p>
        </p:txBody>
      </p:sp>
      <p:sp>
        <p:nvSpPr>
          <p:cNvPr id="10" name="TextBox 9">
            <a:extLst>
              <a:ext uri="{FF2B5EF4-FFF2-40B4-BE49-F238E27FC236}">
                <a16:creationId xmlns:a16="http://schemas.microsoft.com/office/drawing/2014/main" id="{F5D63C30-DA9A-4942-BFE7-AB473E0463F3}"/>
              </a:ext>
            </a:extLst>
          </p:cNvPr>
          <p:cNvSpPr txBox="1"/>
          <p:nvPr/>
        </p:nvSpPr>
        <p:spPr>
          <a:xfrm>
            <a:off x="7758893" y="1353519"/>
            <a:ext cx="4363657" cy="3293209"/>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Objectif</a:t>
            </a:r>
            <a:r>
              <a:rPr lang="fr-FR" sz="2800" u="sng" dirty="0">
                <a:solidFill>
                  <a:srgbClr val="2DD4BF"/>
                </a:solidFill>
                <a:latin typeface="Arial Black" panose="020B0A04020102020204" pitchFamily="34" charset="0"/>
              </a:rPr>
              <a:t> </a:t>
            </a:r>
            <a:endParaRPr lang="fr-FR" u="sng" dirty="0">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L’objectif principal de ce travail est donc de développer un système capable de </a:t>
            </a:r>
            <a:r>
              <a:rPr lang="fr-FR" dirty="0">
                <a:ln>
                  <a:solidFill>
                    <a:srgbClr val="A3E635"/>
                  </a:solidFill>
                </a:ln>
                <a:solidFill>
                  <a:srgbClr val="1E3A8A"/>
                </a:solidFill>
                <a:latin typeface="Arial Black" panose="020B0A04020102020204" pitchFamily="34" charset="0"/>
              </a:rPr>
              <a:t>détecter automatiquement les émotions humaines </a:t>
            </a:r>
            <a:r>
              <a:rPr lang="fr-FR" dirty="0">
                <a:solidFill>
                  <a:srgbClr val="1E3A8A"/>
                </a:solidFill>
                <a:latin typeface="Arial Black" panose="020B0A04020102020204" pitchFamily="34" charset="0"/>
              </a:rPr>
              <a:t>à partir d’un simple signal vocal. Cela permettrait de rendre les machines plus sensibles, plus réactives, et surtout plus humaines dans leurs interactions.</a:t>
            </a:r>
            <a:endParaRPr lang="en-US" dirty="0">
              <a:solidFill>
                <a:srgbClr val="1E3A8A"/>
              </a:solidFill>
              <a:latin typeface="Arial Black" panose="020B0A04020102020204" pitchFamily="34" charset="0"/>
            </a:endParaRPr>
          </a:p>
        </p:txBody>
      </p:sp>
    </p:spTree>
    <p:extLst>
      <p:ext uri="{BB962C8B-B14F-4D97-AF65-F5344CB8AC3E}">
        <p14:creationId xmlns:p14="http://schemas.microsoft.com/office/powerpoint/2010/main" val="2718002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C7EF2E4-382B-4FED-8421-4BC67C6CC3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flipH="1">
            <a:off x="898971" y="4572002"/>
            <a:ext cx="1996630" cy="1996630"/>
          </a:xfrm>
          <a:prstGeom prst="rect">
            <a:avLst/>
          </a:prstGeom>
          <a:effectLst>
            <a:glow rad="101600">
              <a:schemeClr val="bg1">
                <a:alpha val="48000"/>
              </a:schemeClr>
            </a:glow>
          </a:effectLst>
        </p:spPr>
      </p:pic>
      <p:sp>
        <p:nvSpPr>
          <p:cNvPr id="5" name="TextBox 4">
            <a:extLst>
              <a:ext uri="{FF2B5EF4-FFF2-40B4-BE49-F238E27FC236}">
                <a16:creationId xmlns:a16="http://schemas.microsoft.com/office/drawing/2014/main" id="{8D5AD35E-4806-49A9-AA6C-19EE2F9D9D64}"/>
              </a:ext>
            </a:extLst>
          </p:cNvPr>
          <p:cNvSpPr txBox="1"/>
          <p:nvPr/>
        </p:nvSpPr>
        <p:spPr>
          <a:xfrm>
            <a:off x="108953" y="1303125"/>
            <a:ext cx="4264265" cy="3016210"/>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Problématique</a:t>
            </a:r>
            <a:endParaRPr lang="fr-FR" u="sng" dirty="0">
              <a:ln w="12700">
                <a:solidFill>
                  <a:srgbClr val="1E3A8A"/>
                </a:solidFill>
              </a:ln>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Reconnaître les émotions dans la parole reste un défi technique important. Pourquoi ?</a:t>
            </a:r>
          </a:p>
          <a:p>
            <a:r>
              <a:rPr lang="fr-FR" dirty="0">
                <a:solidFill>
                  <a:srgbClr val="1E3A8A"/>
                </a:solidFill>
                <a:latin typeface="Arial Black" panose="020B0A04020102020204" pitchFamily="34" charset="0"/>
              </a:rPr>
              <a:t>Parce que la voix humaine </a:t>
            </a:r>
            <a:r>
              <a:rPr lang="fr-FR" dirty="0">
                <a:ln>
                  <a:solidFill>
                    <a:srgbClr val="A3E635"/>
                  </a:solidFill>
                </a:ln>
                <a:solidFill>
                  <a:srgbClr val="1E3A8A"/>
                </a:solidFill>
                <a:latin typeface="Arial Black" panose="020B0A04020102020204" pitchFamily="34" charset="0"/>
              </a:rPr>
              <a:t>varie énormément d’un individu à l’autre, et que les émotions sont parfois très subtiles</a:t>
            </a:r>
            <a:r>
              <a:rPr lang="fr-FR" dirty="0">
                <a:solidFill>
                  <a:srgbClr val="1E3A8A"/>
                </a:solidFill>
                <a:latin typeface="Arial Black" panose="020B0A04020102020204" pitchFamily="34" charset="0"/>
              </a:rPr>
              <a:t>, exprimées différemment selon la langue, la culture ou le contexte.</a:t>
            </a:r>
            <a:endParaRPr lang="en-US" dirty="0">
              <a:solidFill>
                <a:srgbClr val="1E3A8A"/>
              </a:solidFill>
              <a:latin typeface="Arial Black" panose="020B0A04020102020204" pitchFamily="34" charset="0"/>
            </a:endParaRPr>
          </a:p>
        </p:txBody>
      </p:sp>
      <p:sp>
        <p:nvSpPr>
          <p:cNvPr id="4" name="TextBox 3">
            <a:extLst>
              <a:ext uri="{FF2B5EF4-FFF2-40B4-BE49-F238E27FC236}">
                <a16:creationId xmlns:a16="http://schemas.microsoft.com/office/drawing/2014/main" id="{F4A2B586-4F19-4F4D-92A3-C614FE3CB3B2}"/>
              </a:ext>
            </a:extLst>
          </p:cNvPr>
          <p:cNvSpPr txBox="1"/>
          <p:nvPr/>
        </p:nvSpPr>
        <p:spPr>
          <a:xfrm>
            <a:off x="1234633" y="289368"/>
            <a:ext cx="9722734" cy="769441"/>
          </a:xfrm>
          <a:prstGeom prst="rect">
            <a:avLst/>
          </a:prstGeom>
          <a:noFill/>
        </p:spPr>
        <p:txBody>
          <a:bodyPr wrap="square" rtlCol="0">
            <a:spAutoFit/>
          </a:bodyPr>
          <a:lstStyle/>
          <a:p>
            <a:pPr algn="ctr"/>
            <a:r>
              <a:rPr lang="en-US" sz="4400" u="sng" dirty="0" err="1">
                <a:ln w="28575">
                  <a:solidFill>
                    <a:srgbClr val="2DD4BF"/>
                  </a:solidFill>
                </a:ln>
                <a:solidFill>
                  <a:srgbClr val="1E3A8A"/>
                </a:solidFill>
                <a:latin typeface="Arial Black" panose="020B0A04020102020204" pitchFamily="34" charset="0"/>
              </a:rPr>
              <a:t>Problématique</a:t>
            </a:r>
            <a:r>
              <a:rPr lang="en-US" sz="4400" u="sng" dirty="0">
                <a:ln w="28575">
                  <a:solidFill>
                    <a:srgbClr val="2DD4BF"/>
                  </a:solidFill>
                </a:ln>
                <a:solidFill>
                  <a:srgbClr val="1E3A8A"/>
                </a:solidFill>
                <a:latin typeface="Arial Black" panose="020B0A04020102020204" pitchFamily="34" charset="0"/>
              </a:rPr>
              <a:t> et </a:t>
            </a:r>
            <a:r>
              <a:rPr lang="en-US" sz="4400" u="sng" dirty="0" err="1">
                <a:ln w="28575">
                  <a:solidFill>
                    <a:srgbClr val="2DD4BF"/>
                  </a:solidFill>
                </a:ln>
                <a:solidFill>
                  <a:srgbClr val="1E3A8A"/>
                </a:solidFill>
                <a:latin typeface="Arial Black" panose="020B0A04020102020204" pitchFamily="34" charset="0"/>
              </a:rPr>
              <a:t>Objectifs</a:t>
            </a:r>
            <a:endParaRPr lang="en-US" sz="4400" u="sng" dirty="0">
              <a:ln w="28575">
                <a:solidFill>
                  <a:srgbClr val="2DD4BF"/>
                </a:solidFill>
              </a:ln>
              <a:solidFill>
                <a:srgbClr val="1E3A8A"/>
              </a:solidFill>
              <a:latin typeface="Arial Black" panose="020B0A04020102020204" pitchFamily="34" charset="0"/>
            </a:endParaRPr>
          </a:p>
        </p:txBody>
      </p:sp>
      <p:sp>
        <p:nvSpPr>
          <p:cNvPr id="9" name="TextBox 8">
            <a:extLst>
              <a:ext uri="{FF2B5EF4-FFF2-40B4-BE49-F238E27FC236}">
                <a16:creationId xmlns:a16="http://schemas.microsoft.com/office/drawing/2014/main" id="{139BC316-1C46-459A-AD76-66B8C47B3261}"/>
              </a:ext>
            </a:extLst>
          </p:cNvPr>
          <p:cNvSpPr txBox="1"/>
          <p:nvPr/>
        </p:nvSpPr>
        <p:spPr>
          <a:xfrm>
            <a:off x="3454746" y="3829421"/>
            <a:ext cx="4155311" cy="2739211"/>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Enjeux</a:t>
            </a:r>
          </a:p>
          <a:p>
            <a:r>
              <a:rPr lang="fr-FR" dirty="0">
                <a:solidFill>
                  <a:srgbClr val="1E3A8A"/>
                </a:solidFill>
                <a:latin typeface="Arial Black" panose="020B0A04020102020204" pitchFamily="34" charset="0"/>
              </a:rPr>
              <a:t>De plus, les signaux vocaux peuvent être </a:t>
            </a:r>
            <a:r>
              <a:rPr lang="fr-FR" dirty="0">
                <a:ln>
                  <a:solidFill>
                    <a:srgbClr val="A3E635"/>
                  </a:solidFill>
                </a:ln>
                <a:solidFill>
                  <a:srgbClr val="1E3A8A"/>
                </a:solidFill>
                <a:latin typeface="Arial Black" panose="020B0A04020102020204" pitchFamily="34" charset="0"/>
              </a:rPr>
              <a:t>courts, bruités ou ambigus</a:t>
            </a:r>
            <a:r>
              <a:rPr lang="fr-FR" dirty="0">
                <a:solidFill>
                  <a:srgbClr val="1E3A8A"/>
                </a:solidFill>
                <a:latin typeface="Arial Black" panose="020B0A04020102020204" pitchFamily="34" charset="0"/>
              </a:rPr>
              <a:t>. Il est donc nécessaire de concevoir des </a:t>
            </a:r>
            <a:r>
              <a:rPr lang="fr-FR" dirty="0">
                <a:ln>
                  <a:solidFill>
                    <a:srgbClr val="A3E635"/>
                  </a:solidFill>
                </a:ln>
                <a:solidFill>
                  <a:srgbClr val="1E3A8A"/>
                </a:solidFill>
                <a:latin typeface="Arial Black" panose="020B0A04020102020204" pitchFamily="34" charset="0"/>
              </a:rPr>
              <a:t>modèles intelligents </a:t>
            </a:r>
            <a:r>
              <a:rPr lang="fr-FR" dirty="0">
                <a:solidFill>
                  <a:srgbClr val="1E3A8A"/>
                </a:solidFill>
                <a:latin typeface="Arial Black" panose="020B0A04020102020204" pitchFamily="34" charset="0"/>
              </a:rPr>
              <a:t>capables d’extraire des informations pertinentes et robustes, même dans des conditions réelles.</a:t>
            </a:r>
            <a:endParaRPr lang="en-US" dirty="0">
              <a:solidFill>
                <a:srgbClr val="1E3A8A"/>
              </a:solidFill>
              <a:latin typeface="Arial Black" panose="020B0A04020102020204" pitchFamily="34" charset="0"/>
            </a:endParaRPr>
          </a:p>
        </p:txBody>
      </p:sp>
      <p:sp>
        <p:nvSpPr>
          <p:cNvPr id="10" name="TextBox 9">
            <a:extLst>
              <a:ext uri="{FF2B5EF4-FFF2-40B4-BE49-F238E27FC236}">
                <a16:creationId xmlns:a16="http://schemas.microsoft.com/office/drawing/2014/main" id="{F5D63C30-DA9A-4942-BFE7-AB473E0463F3}"/>
              </a:ext>
            </a:extLst>
          </p:cNvPr>
          <p:cNvSpPr txBox="1"/>
          <p:nvPr/>
        </p:nvSpPr>
        <p:spPr>
          <a:xfrm>
            <a:off x="7610057" y="1165709"/>
            <a:ext cx="4581943" cy="4955203"/>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Objectifs du projet </a:t>
            </a:r>
            <a:endParaRPr lang="fr-FR" u="sng" dirty="0">
              <a:ln w="12700">
                <a:solidFill>
                  <a:srgbClr val="1E3A8A"/>
                </a:solidFill>
              </a:ln>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Ce projet a deux grands objectifs :</a:t>
            </a:r>
          </a:p>
          <a:p>
            <a:r>
              <a:rPr lang="fr-FR" u="sng" dirty="0">
                <a:solidFill>
                  <a:srgbClr val="33CCFF"/>
                </a:solidFill>
                <a:latin typeface="Arial Black" panose="020B0A04020102020204" pitchFamily="34" charset="0"/>
              </a:rPr>
              <a:t>Techniques</a:t>
            </a:r>
            <a:r>
              <a:rPr lang="fr-FR" dirty="0">
                <a:solidFill>
                  <a:srgbClr val="33CCFF"/>
                </a:solidFill>
                <a:latin typeface="Arial Black" panose="020B0A04020102020204" pitchFamily="34" charset="0"/>
              </a:rPr>
              <a:t> : </a:t>
            </a:r>
            <a:r>
              <a:rPr lang="fr-FR" dirty="0">
                <a:solidFill>
                  <a:srgbClr val="1E3A8A"/>
                </a:solidFill>
                <a:latin typeface="Arial Black" panose="020B0A04020102020204" pitchFamily="34" charset="0"/>
              </a:rPr>
              <a:t>concevoir </a:t>
            </a:r>
            <a:r>
              <a:rPr lang="fr-FR" dirty="0">
                <a:ln>
                  <a:solidFill>
                    <a:srgbClr val="A3E635"/>
                  </a:solidFill>
                </a:ln>
                <a:solidFill>
                  <a:srgbClr val="1E3A8A"/>
                </a:solidFill>
                <a:latin typeface="Arial Black" panose="020B0A04020102020204" pitchFamily="34" charset="0"/>
              </a:rPr>
              <a:t>un pipeline de traitement audio complet</a:t>
            </a:r>
            <a:r>
              <a:rPr lang="fr-FR" dirty="0">
                <a:solidFill>
                  <a:srgbClr val="1E3A8A"/>
                </a:solidFill>
                <a:latin typeface="Arial Black" panose="020B0A04020102020204" pitchFamily="34" charset="0"/>
              </a:rPr>
              <a:t>, entraîner un modèle performant basé sur une architecture hybride </a:t>
            </a:r>
            <a:r>
              <a:rPr lang="fr-FR" dirty="0">
                <a:ln>
                  <a:solidFill>
                    <a:srgbClr val="A3E635"/>
                  </a:solidFill>
                </a:ln>
                <a:solidFill>
                  <a:srgbClr val="1E3A8A"/>
                </a:solidFill>
                <a:latin typeface="Arial Black" panose="020B0A04020102020204" pitchFamily="34" charset="0"/>
              </a:rPr>
              <a:t>CNN-</a:t>
            </a:r>
            <a:r>
              <a:rPr lang="fr-FR" dirty="0" err="1">
                <a:ln>
                  <a:solidFill>
                    <a:srgbClr val="A3E635"/>
                  </a:solidFill>
                </a:ln>
                <a:solidFill>
                  <a:srgbClr val="1E3A8A"/>
                </a:solidFill>
                <a:latin typeface="Arial Black" panose="020B0A04020102020204" pitchFamily="34" charset="0"/>
              </a:rPr>
              <a:t>BiLSTM</a:t>
            </a:r>
            <a:r>
              <a:rPr lang="fr-FR" dirty="0">
                <a:solidFill>
                  <a:srgbClr val="1E3A8A"/>
                </a:solidFill>
                <a:latin typeface="Arial Black" panose="020B0A04020102020204" pitchFamily="34" charset="0"/>
              </a:rPr>
              <a:t>, et comparer ses résultats à des modèles classiques.</a:t>
            </a:r>
          </a:p>
          <a:p>
            <a:r>
              <a:rPr lang="fr-FR" u="sng" dirty="0">
                <a:solidFill>
                  <a:srgbClr val="33CCFF"/>
                </a:solidFill>
                <a:latin typeface="Arial Black" panose="020B0A04020102020204" pitchFamily="34" charset="0"/>
              </a:rPr>
              <a:t>Appliqués</a:t>
            </a:r>
            <a:r>
              <a:rPr lang="fr-FR" dirty="0">
                <a:solidFill>
                  <a:srgbClr val="33CCFF"/>
                </a:solidFill>
                <a:latin typeface="Arial Black" panose="020B0A04020102020204" pitchFamily="34" charset="0"/>
              </a:rPr>
              <a:t> : </a:t>
            </a:r>
            <a:r>
              <a:rPr lang="fr-FR" dirty="0">
                <a:solidFill>
                  <a:srgbClr val="1E3A8A"/>
                </a:solidFill>
                <a:latin typeface="Arial Black" panose="020B0A04020102020204" pitchFamily="34" charset="0"/>
              </a:rPr>
              <a:t>Développer une application web où les utilisateurs peuvent télécharger de l'audio. Notre modèle prédit et affiche l'émotion, </a:t>
            </a:r>
            <a:r>
              <a:rPr lang="fr-FR" dirty="0">
                <a:ln>
                  <a:solidFill>
                    <a:srgbClr val="A3E635"/>
                  </a:solidFill>
                </a:ln>
                <a:solidFill>
                  <a:srgbClr val="1E3A8A"/>
                </a:solidFill>
                <a:latin typeface="Arial Black" panose="020B0A04020102020204" pitchFamily="34" charset="0"/>
              </a:rPr>
              <a:t>améliorant l'interaction homme-machine </a:t>
            </a:r>
            <a:r>
              <a:rPr lang="fr-FR" dirty="0">
                <a:solidFill>
                  <a:srgbClr val="1E3A8A"/>
                </a:solidFill>
                <a:latin typeface="Arial Black" panose="020B0A04020102020204" pitchFamily="34" charset="0"/>
              </a:rPr>
              <a:t>par la compréhension du sentiment de l'utilisateur.</a:t>
            </a:r>
            <a:endParaRPr lang="en-US" dirty="0">
              <a:solidFill>
                <a:srgbClr val="1E3A8A"/>
              </a:solidFill>
              <a:latin typeface="Arial Black" panose="020B0A04020102020204" pitchFamily="34" charset="0"/>
            </a:endParaRPr>
          </a:p>
        </p:txBody>
      </p:sp>
    </p:spTree>
    <p:extLst>
      <p:ext uri="{BB962C8B-B14F-4D97-AF65-F5344CB8AC3E}">
        <p14:creationId xmlns:p14="http://schemas.microsoft.com/office/powerpoint/2010/main" val="4070719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711726" y="0"/>
            <a:ext cx="6768548" cy="769441"/>
          </a:xfrm>
          <a:prstGeom prst="rect">
            <a:avLst/>
          </a:prstGeom>
          <a:noFill/>
        </p:spPr>
        <p:txBody>
          <a:bodyPr wrap="square" rtlCol="0">
            <a:spAutoFit/>
          </a:bodyPr>
          <a:lstStyle/>
          <a:p>
            <a:pPr algn="ctr"/>
            <a:r>
              <a:rPr lang="en-US" sz="4400" u="sng" dirty="0" err="1">
                <a:ln w="28575">
                  <a:solidFill>
                    <a:srgbClr val="2DD4BF"/>
                  </a:solidFill>
                </a:ln>
                <a:solidFill>
                  <a:srgbClr val="1E3A8A"/>
                </a:solidFill>
                <a:latin typeface="Arial Black" panose="020B0A04020102020204" pitchFamily="34" charset="0"/>
              </a:rPr>
              <a:t>Données</a:t>
            </a:r>
            <a:r>
              <a:rPr lang="en-US" sz="4400" u="sng" dirty="0">
                <a:ln w="28575">
                  <a:solidFill>
                    <a:srgbClr val="2DD4BF"/>
                  </a:solidFill>
                </a:ln>
                <a:solidFill>
                  <a:srgbClr val="1E3A8A"/>
                </a:solidFill>
                <a:latin typeface="Arial Black" panose="020B0A04020102020204" pitchFamily="34" charset="0"/>
              </a:rPr>
              <a:t> </a:t>
            </a:r>
            <a:r>
              <a:rPr lang="en-US" sz="4400" u="sng" dirty="0" err="1">
                <a:ln w="28575">
                  <a:solidFill>
                    <a:srgbClr val="2DD4BF"/>
                  </a:solidFill>
                </a:ln>
                <a:solidFill>
                  <a:srgbClr val="1E3A8A"/>
                </a:solidFill>
                <a:latin typeface="Arial Black" panose="020B0A04020102020204" pitchFamily="34" charset="0"/>
              </a:rPr>
              <a:t>utilisées</a:t>
            </a:r>
            <a:endParaRPr lang="en-US" sz="4400" u="sng" dirty="0">
              <a:ln w="28575">
                <a:solidFill>
                  <a:srgbClr val="2DD4BF"/>
                </a:solidFill>
              </a:ln>
              <a:solidFill>
                <a:srgbClr val="1E3A8A"/>
              </a:solidFill>
              <a:latin typeface="Arial Black" panose="020B0A04020102020204" pitchFamily="34" charset="0"/>
            </a:endParaRPr>
          </a:p>
        </p:txBody>
      </p:sp>
      <p:sp>
        <p:nvSpPr>
          <p:cNvPr id="3" name="TextBox 2">
            <a:extLst>
              <a:ext uri="{FF2B5EF4-FFF2-40B4-BE49-F238E27FC236}">
                <a16:creationId xmlns:a16="http://schemas.microsoft.com/office/drawing/2014/main" id="{C7808FCD-FE95-41FC-BF36-D5BDCB657C4A}"/>
              </a:ext>
            </a:extLst>
          </p:cNvPr>
          <p:cNvSpPr txBox="1"/>
          <p:nvPr/>
        </p:nvSpPr>
        <p:spPr>
          <a:xfrm>
            <a:off x="220015" y="1097433"/>
            <a:ext cx="5387009" cy="3170099"/>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Pourquoi plusieurs bases de données ?</a:t>
            </a:r>
            <a:endParaRPr lang="en-US" sz="2800" u="sng" dirty="0">
              <a:ln w="12700">
                <a:solidFill>
                  <a:srgbClr val="1E3A8A"/>
                </a:solidFill>
              </a:ln>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Pour entraîner un modèle robuste, il est essentiel de s’appuyer sur des </a:t>
            </a:r>
            <a:r>
              <a:rPr lang="fr-FR" dirty="0">
                <a:ln>
                  <a:solidFill>
                    <a:srgbClr val="A3E635"/>
                  </a:solidFill>
                </a:ln>
                <a:solidFill>
                  <a:srgbClr val="1E3A8A"/>
                </a:solidFill>
                <a:latin typeface="Arial Black" panose="020B0A04020102020204" pitchFamily="34" charset="0"/>
              </a:rPr>
              <a:t>données variées</a:t>
            </a:r>
            <a:r>
              <a:rPr lang="fr-FR" dirty="0">
                <a:solidFill>
                  <a:srgbClr val="1E3A8A"/>
                </a:solidFill>
                <a:latin typeface="Arial Black" panose="020B0A04020102020204" pitchFamily="34" charset="0"/>
              </a:rPr>
              <a:t> en termes de </a:t>
            </a:r>
            <a:r>
              <a:rPr lang="fr-FR" dirty="0">
                <a:ln>
                  <a:solidFill>
                    <a:srgbClr val="A3E635"/>
                  </a:solidFill>
                </a:ln>
                <a:solidFill>
                  <a:srgbClr val="1E3A8A"/>
                </a:solidFill>
                <a:latin typeface="Arial Black" panose="020B0A04020102020204" pitchFamily="34" charset="0"/>
              </a:rPr>
              <a:t>voix, d’intonations et d’expressions émotionnelles</a:t>
            </a:r>
            <a:r>
              <a:rPr lang="fr-FR" dirty="0">
                <a:solidFill>
                  <a:srgbClr val="1E3A8A"/>
                </a:solidFill>
                <a:latin typeface="Arial Black" panose="020B0A04020102020204" pitchFamily="34" charset="0"/>
              </a:rPr>
              <a:t>. C’est pourquoi nous avons combiné plusieurs bases de données reconnues dans la recherche en reconnaissance des émotions.</a:t>
            </a:r>
          </a:p>
        </p:txBody>
      </p:sp>
      <p:pic>
        <p:nvPicPr>
          <p:cNvPr id="5" name="Picture 4">
            <a:extLst>
              <a:ext uri="{FF2B5EF4-FFF2-40B4-BE49-F238E27FC236}">
                <a16:creationId xmlns:a16="http://schemas.microsoft.com/office/drawing/2014/main" id="{FD31CC4A-E3E8-41BB-91D2-B641455ACF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051" y="4613189"/>
            <a:ext cx="1845812" cy="1845812"/>
          </a:xfrm>
          <a:prstGeom prst="rect">
            <a:avLst/>
          </a:prstGeom>
        </p:spPr>
      </p:pic>
      <p:pic>
        <p:nvPicPr>
          <p:cNvPr id="7" name="Picture 6">
            <a:extLst>
              <a:ext uri="{FF2B5EF4-FFF2-40B4-BE49-F238E27FC236}">
                <a16:creationId xmlns:a16="http://schemas.microsoft.com/office/drawing/2014/main" id="{589199E0-77BB-4368-94CC-1E4FC18E57C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flipH="1">
            <a:off x="313533" y="90267"/>
            <a:ext cx="1007166" cy="1007166"/>
          </a:xfrm>
          <a:prstGeom prst="rect">
            <a:avLst/>
          </a:prstGeom>
          <a:effectLst>
            <a:glow rad="101600">
              <a:schemeClr val="bg1">
                <a:alpha val="48000"/>
              </a:schemeClr>
            </a:glow>
          </a:effectLst>
        </p:spPr>
      </p:pic>
      <p:sp>
        <p:nvSpPr>
          <p:cNvPr id="11" name="TextBox 10">
            <a:extLst>
              <a:ext uri="{FF2B5EF4-FFF2-40B4-BE49-F238E27FC236}">
                <a16:creationId xmlns:a16="http://schemas.microsoft.com/office/drawing/2014/main" id="{ADD29805-D2C8-4F9D-8150-1B7A2E4F6C74}"/>
              </a:ext>
            </a:extLst>
          </p:cNvPr>
          <p:cNvSpPr txBox="1"/>
          <p:nvPr/>
        </p:nvSpPr>
        <p:spPr>
          <a:xfrm>
            <a:off x="6087641" y="881990"/>
            <a:ext cx="6104360" cy="3600986"/>
          </a:xfrm>
          <a:prstGeom prst="rect">
            <a:avLst/>
          </a:prstGeom>
          <a:noFill/>
        </p:spPr>
        <p:txBody>
          <a:bodyPr wrap="square">
            <a:spAutoFit/>
          </a:bodyPr>
          <a:lstStyle/>
          <a:p>
            <a:pPr algn="ctr"/>
            <a:r>
              <a:rPr lang="en-US" sz="2800" u="sng" dirty="0">
                <a:ln w="12700">
                  <a:solidFill>
                    <a:srgbClr val="1E3A8A"/>
                  </a:solidFill>
                </a:ln>
                <a:solidFill>
                  <a:srgbClr val="2DD4BF"/>
                </a:solidFill>
                <a:latin typeface="Arial Black" panose="020B0A04020102020204" pitchFamily="34" charset="0"/>
              </a:rPr>
              <a:t>Bases</a:t>
            </a:r>
            <a:r>
              <a:rPr lang="en-US" dirty="0">
                <a:ln>
                  <a:solidFill>
                    <a:srgbClr val="1E3A8A"/>
                  </a:solidFill>
                </a:ln>
                <a:solidFill>
                  <a:srgbClr val="2DD4BF"/>
                </a:solidFill>
                <a:latin typeface="Arial Black" panose="020B0A04020102020204" pitchFamily="34" charset="0"/>
              </a:rPr>
              <a:t> </a:t>
            </a:r>
            <a:r>
              <a:rPr lang="en-US" sz="2800" u="sng" dirty="0">
                <a:ln w="12700">
                  <a:solidFill>
                    <a:srgbClr val="1E3A8A"/>
                  </a:solidFill>
                </a:ln>
                <a:solidFill>
                  <a:srgbClr val="2DD4BF"/>
                </a:solidFill>
                <a:latin typeface="Arial Black" panose="020B0A04020102020204" pitchFamily="34" charset="0"/>
              </a:rPr>
              <a:t>de</a:t>
            </a:r>
            <a:r>
              <a:rPr lang="en-US" dirty="0">
                <a:ln>
                  <a:solidFill>
                    <a:srgbClr val="1E3A8A"/>
                  </a:solidFill>
                </a:ln>
                <a:solidFill>
                  <a:srgbClr val="2DD4BF"/>
                </a:solidFill>
                <a:latin typeface="Arial Black" panose="020B0A04020102020204" pitchFamily="34" charset="0"/>
              </a:rPr>
              <a:t> </a:t>
            </a:r>
            <a:r>
              <a:rPr lang="en-US" sz="2800" u="sng" dirty="0" err="1">
                <a:ln w="12700">
                  <a:solidFill>
                    <a:srgbClr val="1E3A8A"/>
                  </a:solidFill>
                </a:ln>
                <a:solidFill>
                  <a:srgbClr val="2DD4BF"/>
                </a:solidFill>
                <a:latin typeface="Arial Black" panose="020B0A04020102020204" pitchFamily="34" charset="0"/>
              </a:rPr>
              <a:t>données</a:t>
            </a:r>
            <a:r>
              <a:rPr lang="en-US" dirty="0">
                <a:ln>
                  <a:solidFill>
                    <a:srgbClr val="1E3A8A"/>
                  </a:solidFill>
                </a:ln>
                <a:solidFill>
                  <a:srgbClr val="2DD4BF"/>
                </a:solidFill>
                <a:latin typeface="Arial Black" panose="020B0A04020102020204" pitchFamily="34" charset="0"/>
              </a:rPr>
              <a:t> </a:t>
            </a:r>
            <a:r>
              <a:rPr lang="en-US" sz="2800" u="sng" dirty="0" err="1">
                <a:ln w="12700">
                  <a:solidFill>
                    <a:srgbClr val="1E3A8A"/>
                  </a:solidFill>
                </a:ln>
                <a:solidFill>
                  <a:srgbClr val="2DD4BF"/>
                </a:solidFill>
                <a:latin typeface="Arial Black" panose="020B0A04020102020204" pitchFamily="34" charset="0"/>
              </a:rPr>
              <a:t>sélectionnées</a:t>
            </a:r>
            <a:endParaRPr lang="en-US" sz="2800" u="sng" dirty="0">
              <a:ln w="12700">
                <a:solidFill>
                  <a:srgbClr val="1E3A8A"/>
                </a:solidFill>
              </a:ln>
              <a:solidFill>
                <a:srgbClr val="2DD4BF"/>
              </a:solidFill>
              <a:latin typeface="Arial Black" panose="020B0A04020102020204" pitchFamily="34" charset="0"/>
            </a:endParaRPr>
          </a:p>
          <a:p>
            <a:r>
              <a:rPr lang="fr-FR" dirty="0">
                <a:latin typeface="Arial Black" panose="020B0A04020102020204" pitchFamily="34" charset="0"/>
              </a:rPr>
              <a:t>RAVDESS</a:t>
            </a:r>
            <a:r>
              <a:rPr lang="fr-FR" dirty="0">
                <a:solidFill>
                  <a:srgbClr val="1E3A8A"/>
                </a:solidFill>
                <a:latin typeface="Arial Black" panose="020B0A04020102020204" pitchFamily="34" charset="0"/>
              </a:rPr>
              <a:t> : 24 acteurs professionnels, 8 émotions, qualité studio.</a:t>
            </a:r>
          </a:p>
          <a:p>
            <a:r>
              <a:rPr lang="fr-FR" dirty="0">
                <a:latin typeface="Arial Black" panose="020B0A04020102020204" pitchFamily="34" charset="0"/>
              </a:rPr>
              <a:t>CREMA-D</a:t>
            </a:r>
            <a:r>
              <a:rPr lang="fr-FR" dirty="0">
                <a:solidFill>
                  <a:srgbClr val="1E3A8A"/>
                </a:solidFill>
                <a:latin typeface="Arial Black" panose="020B0A04020102020204" pitchFamily="34" charset="0"/>
              </a:rPr>
              <a:t> : 91 acteurs, </a:t>
            </a:r>
            <a:r>
              <a:rPr lang="fr-FR" dirty="0">
                <a:ln>
                  <a:solidFill>
                    <a:srgbClr val="A3E635"/>
                  </a:solidFill>
                </a:ln>
                <a:solidFill>
                  <a:srgbClr val="1E3A8A"/>
                </a:solidFill>
                <a:latin typeface="Arial Black" panose="020B0A04020102020204" pitchFamily="34" charset="0"/>
              </a:rPr>
              <a:t>divers accents américains</a:t>
            </a:r>
            <a:r>
              <a:rPr lang="fr-FR" dirty="0">
                <a:solidFill>
                  <a:srgbClr val="1E3A8A"/>
                </a:solidFill>
                <a:latin typeface="Arial Black" panose="020B0A04020102020204" pitchFamily="34" charset="0"/>
              </a:rPr>
              <a:t>, 6 émotions.</a:t>
            </a:r>
          </a:p>
          <a:p>
            <a:r>
              <a:rPr lang="fr-FR" dirty="0">
                <a:latin typeface="Arial Black" panose="020B0A04020102020204" pitchFamily="34" charset="0"/>
              </a:rPr>
              <a:t>TESS</a:t>
            </a:r>
            <a:r>
              <a:rPr lang="fr-FR" dirty="0">
                <a:solidFill>
                  <a:srgbClr val="1E3A8A"/>
                </a:solidFill>
                <a:latin typeface="Arial Black" panose="020B0A04020102020204" pitchFamily="34" charset="0"/>
              </a:rPr>
              <a:t> : 2 locutrices canadiennes âgées,</a:t>
            </a:r>
            <a:r>
              <a:rPr lang="fr-FR" dirty="0">
                <a:ln>
                  <a:solidFill>
                    <a:srgbClr val="A3E635"/>
                  </a:solidFill>
                </a:ln>
                <a:solidFill>
                  <a:srgbClr val="1E3A8A"/>
                </a:solidFill>
                <a:latin typeface="Arial Black" panose="020B0A04020102020204" pitchFamily="34" charset="0"/>
              </a:rPr>
              <a:t> 7 émotions</a:t>
            </a:r>
            <a:r>
              <a:rPr lang="fr-FR" dirty="0">
                <a:solidFill>
                  <a:srgbClr val="1E3A8A"/>
                </a:solidFill>
                <a:latin typeface="Arial Black" panose="020B0A04020102020204" pitchFamily="34" charset="0"/>
              </a:rPr>
              <a:t>.</a:t>
            </a:r>
          </a:p>
          <a:p>
            <a:r>
              <a:rPr lang="fr-FR" dirty="0">
                <a:latin typeface="Arial Black" panose="020B0A04020102020204" pitchFamily="34" charset="0"/>
              </a:rPr>
              <a:t>SAVEE</a:t>
            </a:r>
            <a:r>
              <a:rPr lang="fr-FR" dirty="0">
                <a:solidFill>
                  <a:srgbClr val="1E3A8A"/>
                </a:solidFill>
                <a:latin typeface="Arial Black" panose="020B0A04020102020204" pitchFamily="34" charset="0"/>
              </a:rPr>
              <a:t> : 4 locuteurs masculins britanniques, 7 émotions.</a:t>
            </a:r>
            <a:endParaRPr lang="en-US" dirty="0">
              <a:solidFill>
                <a:srgbClr val="1E3A8A"/>
              </a:solidFill>
              <a:latin typeface="Arial Black" panose="020B0A04020102020204" pitchFamily="34" charset="0"/>
            </a:endParaRPr>
          </a:p>
          <a:p>
            <a:pPr algn="ctr"/>
            <a:endParaRPr lang="en-US" sz="2800" u="sng" dirty="0">
              <a:ln w="12700">
                <a:solidFill>
                  <a:schemeClr val="tx1"/>
                </a:solidFill>
              </a:ln>
              <a:solidFill>
                <a:srgbClr val="2DD4BF"/>
              </a:solidFill>
              <a:latin typeface="Arial Black" panose="020B0A04020102020204" pitchFamily="34" charset="0"/>
            </a:endParaRPr>
          </a:p>
        </p:txBody>
      </p:sp>
      <p:pic>
        <p:nvPicPr>
          <p:cNvPr id="15" name="Picture 14">
            <a:extLst>
              <a:ext uri="{FF2B5EF4-FFF2-40B4-BE49-F238E27FC236}">
                <a16:creationId xmlns:a16="http://schemas.microsoft.com/office/drawing/2014/main" id="{D057D79B-8D99-4FD1-8E44-8E6A5E8666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9795" y="3954607"/>
            <a:ext cx="4478296" cy="2903393"/>
          </a:xfrm>
          <a:prstGeom prst="rect">
            <a:avLst/>
          </a:prstGeom>
        </p:spPr>
      </p:pic>
    </p:spTree>
    <p:extLst>
      <p:ext uri="{BB962C8B-B14F-4D97-AF65-F5344CB8AC3E}">
        <p14:creationId xmlns:p14="http://schemas.microsoft.com/office/powerpoint/2010/main" val="193490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711726" y="0"/>
            <a:ext cx="6768548" cy="769441"/>
          </a:xfrm>
          <a:prstGeom prst="rect">
            <a:avLst/>
          </a:prstGeom>
          <a:noFill/>
        </p:spPr>
        <p:txBody>
          <a:bodyPr wrap="square" rtlCol="0">
            <a:spAutoFit/>
          </a:bodyPr>
          <a:lstStyle/>
          <a:p>
            <a:pPr algn="ctr"/>
            <a:r>
              <a:rPr lang="en-US" sz="4400" u="sng" dirty="0" err="1">
                <a:ln w="28575">
                  <a:solidFill>
                    <a:srgbClr val="2DD4BF"/>
                  </a:solidFill>
                </a:ln>
                <a:solidFill>
                  <a:srgbClr val="1E3A8A"/>
                </a:solidFill>
                <a:latin typeface="Arial Black" panose="020B0A04020102020204" pitchFamily="34" charset="0"/>
              </a:rPr>
              <a:t>Données</a:t>
            </a:r>
            <a:r>
              <a:rPr lang="en-US" sz="4400" u="sng" dirty="0">
                <a:ln w="28575">
                  <a:solidFill>
                    <a:srgbClr val="2DD4BF"/>
                  </a:solidFill>
                </a:ln>
                <a:solidFill>
                  <a:srgbClr val="1E3A8A"/>
                </a:solidFill>
                <a:latin typeface="Arial Black" panose="020B0A04020102020204" pitchFamily="34" charset="0"/>
              </a:rPr>
              <a:t> </a:t>
            </a:r>
            <a:r>
              <a:rPr lang="en-US" sz="4400" u="sng" dirty="0" err="1">
                <a:ln w="28575">
                  <a:solidFill>
                    <a:srgbClr val="2DD4BF"/>
                  </a:solidFill>
                </a:ln>
                <a:solidFill>
                  <a:srgbClr val="1E3A8A"/>
                </a:solidFill>
                <a:latin typeface="Arial Black" panose="020B0A04020102020204" pitchFamily="34" charset="0"/>
              </a:rPr>
              <a:t>utilisées</a:t>
            </a:r>
            <a:endParaRPr lang="en-US" sz="4400" u="sng" dirty="0">
              <a:ln w="28575">
                <a:solidFill>
                  <a:srgbClr val="2DD4BF"/>
                </a:solidFill>
              </a:ln>
              <a:solidFill>
                <a:srgbClr val="1E3A8A"/>
              </a:solidFill>
              <a:latin typeface="Arial Black" panose="020B0A04020102020204" pitchFamily="34" charset="0"/>
            </a:endParaRPr>
          </a:p>
        </p:txBody>
      </p:sp>
      <p:pic>
        <p:nvPicPr>
          <p:cNvPr id="5" name="Picture 4">
            <a:extLst>
              <a:ext uri="{FF2B5EF4-FFF2-40B4-BE49-F238E27FC236}">
                <a16:creationId xmlns:a16="http://schemas.microsoft.com/office/drawing/2014/main" id="{FD31CC4A-E3E8-41BB-91D2-B641455ACF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flipV="1">
            <a:off x="10823800" y="138030"/>
            <a:ext cx="1054667" cy="1054667"/>
          </a:xfrm>
          <a:prstGeom prst="rect">
            <a:avLst/>
          </a:prstGeom>
        </p:spPr>
      </p:pic>
      <p:pic>
        <p:nvPicPr>
          <p:cNvPr id="7" name="Picture 6">
            <a:extLst>
              <a:ext uri="{FF2B5EF4-FFF2-40B4-BE49-F238E27FC236}">
                <a16:creationId xmlns:a16="http://schemas.microsoft.com/office/drawing/2014/main" id="{589199E0-77BB-4368-94CC-1E4FC18E57C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flipH="1">
            <a:off x="313533" y="90267"/>
            <a:ext cx="1007166" cy="1007166"/>
          </a:xfrm>
          <a:prstGeom prst="rect">
            <a:avLst/>
          </a:prstGeom>
          <a:effectLst>
            <a:glow rad="101600">
              <a:schemeClr val="bg1">
                <a:alpha val="48000"/>
              </a:schemeClr>
            </a:glow>
          </a:effectLst>
        </p:spPr>
      </p:pic>
      <p:sp>
        <p:nvSpPr>
          <p:cNvPr id="8" name="TextBox 7">
            <a:extLst>
              <a:ext uri="{FF2B5EF4-FFF2-40B4-BE49-F238E27FC236}">
                <a16:creationId xmlns:a16="http://schemas.microsoft.com/office/drawing/2014/main" id="{9138CC82-1DF5-4094-ACB1-08185D5C2D45}"/>
              </a:ext>
            </a:extLst>
          </p:cNvPr>
          <p:cNvSpPr txBox="1"/>
          <p:nvPr/>
        </p:nvSpPr>
        <p:spPr>
          <a:xfrm>
            <a:off x="220015" y="1097433"/>
            <a:ext cx="5387009" cy="2893100"/>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Avantage de cette diversité</a:t>
            </a:r>
          </a:p>
          <a:p>
            <a:r>
              <a:rPr lang="fr-FR" dirty="0">
                <a:solidFill>
                  <a:srgbClr val="1E3A8A"/>
                </a:solidFill>
                <a:latin typeface="Arial Black" panose="020B0A04020102020204" pitchFamily="34" charset="0"/>
              </a:rPr>
              <a:t>Cette combinaison nous permet d’augmenter </a:t>
            </a:r>
            <a:r>
              <a:rPr lang="fr-FR" dirty="0">
                <a:ln>
                  <a:solidFill>
                    <a:srgbClr val="A3E635"/>
                  </a:solidFill>
                </a:ln>
                <a:solidFill>
                  <a:srgbClr val="1E3A8A"/>
                </a:solidFill>
                <a:latin typeface="Arial Black" panose="020B0A04020102020204" pitchFamily="34" charset="0"/>
              </a:rPr>
              <a:t>la généralisation du modèle</a:t>
            </a:r>
            <a:r>
              <a:rPr lang="fr-FR" dirty="0">
                <a:solidFill>
                  <a:srgbClr val="1E3A8A"/>
                </a:solidFill>
                <a:latin typeface="Arial Black" panose="020B0A04020102020204" pitchFamily="34" charset="0"/>
              </a:rPr>
              <a:t>. Elle introduit une variabilité au niveau des accents, des timbres de voix et des expressions émotionnelles, ce qui est essentiel pour une bonne performance en </a:t>
            </a:r>
            <a:r>
              <a:rPr lang="fr-FR" dirty="0">
                <a:ln>
                  <a:solidFill>
                    <a:srgbClr val="A3E635"/>
                  </a:solidFill>
                </a:ln>
                <a:solidFill>
                  <a:srgbClr val="1E3A8A"/>
                </a:solidFill>
                <a:latin typeface="Arial Black" panose="020B0A04020102020204" pitchFamily="34" charset="0"/>
              </a:rPr>
              <a:t>situation réelle</a:t>
            </a:r>
            <a:r>
              <a:rPr lang="fr-FR" dirty="0">
                <a:solidFill>
                  <a:srgbClr val="1E3A8A"/>
                </a:solidFill>
                <a:latin typeface="Arial Black" panose="020B0A04020102020204" pitchFamily="34" charset="0"/>
              </a:rPr>
              <a:t>.</a:t>
            </a:r>
          </a:p>
        </p:txBody>
      </p:sp>
      <p:sp>
        <p:nvSpPr>
          <p:cNvPr id="10" name="TextBox 9">
            <a:extLst>
              <a:ext uri="{FF2B5EF4-FFF2-40B4-BE49-F238E27FC236}">
                <a16:creationId xmlns:a16="http://schemas.microsoft.com/office/drawing/2014/main" id="{A258ED2A-EEA8-4B6D-BEB2-F80A9676A615}"/>
              </a:ext>
            </a:extLst>
          </p:cNvPr>
          <p:cNvSpPr txBox="1"/>
          <p:nvPr/>
        </p:nvSpPr>
        <p:spPr>
          <a:xfrm>
            <a:off x="313533" y="4318525"/>
            <a:ext cx="5387009" cy="2185214"/>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Volume total</a:t>
            </a:r>
          </a:p>
          <a:p>
            <a:r>
              <a:rPr lang="fr-FR" dirty="0">
                <a:solidFill>
                  <a:srgbClr val="1E3A8A"/>
                </a:solidFill>
                <a:latin typeface="Arial Black" panose="020B0A04020102020204" pitchFamily="34" charset="0"/>
              </a:rPr>
              <a:t>Au total, plus de </a:t>
            </a:r>
            <a:r>
              <a:rPr lang="fr-FR" dirty="0">
                <a:ln>
                  <a:solidFill>
                    <a:srgbClr val="A3E635"/>
                  </a:solidFill>
                </a:ln>
                <a:solidFill>
                  <a:srgbClr val="1E3A8A"/>
                </a:solidFill>
                <a:latin typeface="Arial Black" panose="020B0A04020102020204" pitchFamily="34" charset="0"/>
              </a:rPr>
              <a:t>13 000 enregistrements audio annotés</a:t>
            </a:r>
            <a:r>
              <a:rPr lang="fr-FR" dirty="0">
                <a:solidFill>
                  <a:srgbClr val="F97316"/>
                </a:solidFill>
                <a:latin typeface="Arial Black" panose="020B0A04020102020204" pitchFamily="34" charset="0"/>
              </a:rPr>
              <a:t> </a:t>
            </a:r>
            <a:r>
              <a:rPr lang="fr-FR" dirty="0">
                <a:solidFill>
                  <a:srgbClr val="1E3A8A"/>
                </a:solidFill>
                <a:latin typeface="Arial Black" panose="020B0A04020102020204" pitchFamily="34" charset="0"/>
              </a:rPr>
              <a:t>ont été utilisés, représentant un large éventail d’émotions telles que </a:t>
            </a:r>
            <a:r>
              <a:rPr lang="fr-FR" dirty="0">
                <a:ln>
                  <a:solidFill>
                    <a:srgbClr val="A3E635"/>
                  </a:solidFill>
                </a:ln>
                <a:solidFill>
                  <a:srgbClr val="1E3A8A"/>
                </a:solidFill>
                <a:latin typeface="Arial Black" panose="020B0A04020102020204" pitchFamily="34" charset="0"/>
              </a:rPr>
              <a:t>la joie, la tristesse, la colère, la peur, la surprise, le dégoût et la neutralité.</a:t>
            </a:r>
          </a:p>
        </p:txBody>
      </p:sp>
      <p:pic>
        <p:nvPicPr>
          <p:cNvPr id="6" name="Picture 5">
            <a:extLst>
              <a:ext uri="{FF2B5EF4-FFF2-40B4-BE49-F238E27FC236}">
                <a16:creationId xmlns:a16="http://schemas.microsoft.com/office/drawing/2014/main" id="{9A18FCD3-9A51-433F-B9E0-5947D225B8BB}"/>
              </a:ext>
            </a:extLst>
          </p:cNvPr>
          <p:cNvPicPr>
            <a:picLocks noChangeAspect="1"/>
          </p:cNvPicPr>
          <p:nvPr/>
        </p:nvPicPr>
        <p:blipFill>
          <a:blip r:embed="rId6"/>
          <a:stretch>
            <a:fillRect/>
          </a:stretch>
        </p:blipFill>
        <p:spPr>
          <a:xfrm>
            <a:off x="6096000" y="1699592"/>
            <a:ext cx="5876925" cy="4532243"/>
          </a:xfrm>
          <a:prstGeom prst="rect">
            <a:avLst/>
          </a:prstGeom>
        </p:spPr>
      </p:pic>
    </p:spTree>
    <p:extLst>
      <p:ext uri="{BB962C8B-B14F-4D97-AF65-F5344CB8AC3E}">
        <p14:creationId xmlns:p14="http://schemas.microsoft.com/office/powerpoint/2010/main" val="3513483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67389" y="0"/>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Pipeline de traitement audio</a:t>
            </a:r>
            <a:endParaRPr lang="en-US" sz="4400" u="sng" dirty="0">
              <a:ln w="28575">
                <a:solidFill>
                  <a:srgbClr val="2DD4BF"/>
                </a:solidFill>
              </a:ln>
              <a:solidFill>
                <a:srgbClr val="1E3A8A"/>
              </a:solidFill>
              <a:latin typeface="Arial Black" panose="020B0A04020102020204" pitchFamily="34" charset="0"/>
            </a:endParaRPr>
          </a:p>
        </p:txBody>
      </p:sp>
      <p:pic>
        <p:nvPicPr>
          <p:cNvPr id="13" name="Picture 12">
            <a:extLst>
              <a:ext uri="{FF2B5EF4-FFF2-40B4-BE49-F238E27FC236}">
                <a16:creationId xmlns:a16="http://schemas.microsoft.com/office/drawing/2014/main" id="{AA398EC9-51B3-453C-846D-478F4D6E3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7081" y="257987"/>
            <a:ext cx="1104917" cy="1104917"/>
          </a:xfrm>
          <a:prstGeom prst="rect">
            <a:avLst/>
          </a:prstGeom>
        </p:spPr>
      </p:pic>
      <p:graphicFrame>
        <p:nvGraphicFramePr>
          <p:cNvPr id="14" name="Diagram 13">
            <a:extLst>
              <a:ext uri="{FF2B5EF4-FFF2-40B4-BE49-F238E27FC236}">
                <a16:creationId xmlns:a16="http://schemas.microsoft.com/office/drawing/2014/main" id="{E19B61A0-3380-4D0F-8974-1855D5F69DE8}"/>
              </a:ext>
            </a:extLst>
          </p:cNvPr>
          <p:cNvGraphicFramePr/>
          <p:nvPr>
            <p:extLst>
              <p:ext uri="{D42A27DB-BD31-4B8C-83A1-F6EECF244321}">
                <p14:modId xmlns:p14="http://schemas.microsoft.com/office/powerpoint/2010/main" val="4268971101"/>
              </p:ext>
            </p:extLst>
          </p:nvPr>
        </p:nvGraphicFramePr>
        <p:xfrm>
          <a:off x="1014344" y="1424320"/>
          <a:ext cx="10163313" cy="269501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6" name="Picture 15">
            <a:extLst>
              <a:ext uri="{FF2B5EF4-FFF2-40B4-BE49-F238E27FC236}">
                <a16:creationId xmlns:a16="http://schemas.microsoft.com/office/drawing/2014/main" id="{C677BA1C-105E-4C63-99C8-25751BBD0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002" y="257986"/>
            <a:ext cx="1104917" cy="1104917"/>
          </a:xfrm>
          <a:prstGeom prst="rect">
            <a:avLst/>
          </a:prstGeom>
        </p:spPr>
      </p:pic>
      <p:pic>
        <p:nvPicPr>
          <p:cNvPr id="18" name="Picture 17">
            <a:extLst>
              <a:ext uri="{FF2B5EF4-FFF2-40B4-BE49-F238E27FC236}">
                <a16:creationId xmlns:a16="http://schemas.microsoft.com/office/drawing/2014/main" id="{B9BA5874-30C1-4145-9757-E1450055C9D1}"/>
              </a:ext>
            </a:extLst>
          </p:cNvPr>
          <p:cNvPicPr>
            <a:picLocks noChangeAspect="1"/>
          </p:cNvPicPr>
          <p:nvPr/>
        </p:nvPicPr>
        <p:blipFill>
          <a:blip r:embed="rId9"/>
          <a:stretch>
            <a:fillRect/>
          </a:stretch>
        </p:blipFill>
        <p:spPr>
          <a:xfrm>
            <a:off x="3412159" y="4091848"/>
            <a:ext cx="2857500" cy="2857500"/>
          </a:xfrm>
          <a:prstGeom prst="rect">
            <a:avLst/>
          </a:prstGeom>
        </p:spPr>
      </p:pic>
      <p:pic>
        <p:nvPicPr>
          <p:cNvPr id="19" name="Picture 18">
            <a:extLst>
              <a:ext uri="{FF2B5EF4-FFF2-40B4-BE49-F238E27FC236}">
                <a16:creationId xmlns:a16="http://schemas.microsoft.com/office/drawing/2014/main" id="{797C059E-0911-4AA0-94F8-729FCFA19600}"/>
              </a:ext>
            </a:extLst>
          </p:cNvPr>
          <p:cNvPicPr>
            <a:picLocks noChangeAspect="1"/>
          </p:cNvPicPr>
          <p:nvPr/>
        </p:nvPicPr>
        <p:blipFill>
          <a:blip r:embed="rId10"/>
          <a:stretch>
            <a:fillRect/>
          </a:stretch>
        </p:blipFill>
        <p:spPr>
          <a:xfrm>
            <a:off x="6197796" y="3429000"/>
            <a:ext cx="2629532" cy="2425148"/>
          </a:xfrm>
          <a:prstGeom prst="rect">
            <a:avLst/>
          </a:prstGeom>
        </p:spPr>
      </p:pic>
      <p:pic>
        <p:nvPicPr>
          <p:cNvPr id="20" name="Picture 19">
            <a:extLst>
              <a:ext uri="{FF2B5EF4-FFF2-40B4-BE49-F238E27FC236}">
                <a16:creationId xmlns:a16="http://schemas.microsoft.com/office/drawing/2014/main" id="{29CE1C1C-8A65-4CEF-B726-CC8F16D88B04}"/>
              </a:ext>
            </a:extLst>
          </p:cNvPr>
          <p:cNvPicPr>
            <a:picLocks noChangeAspect="1"/>
          </p:cNvPicPr>
          <p:nvPr/>
        </p:nvPicPr>
        <p:blipFill>
          <a:blip r:embed="rId11"/>
          <a:stretch>
            <a:fillRect/>
          </a:stretch>
        </p:blipFill>
        <p:spPr>
          <a:xfrm>
            <a:off x="9334500" y="5153462"/>
            <a:ext cx="2678798" cy="1446551"/>
          </a:xfrm>
          <a:prstGeom prst="rect">
            <a:avLst/>
          </a:prstGeom>
        </p:spPr>
      </p:pic>
      <p:pic>
        <p:nvPicPr>
          <p:cNvPr id="21" name="Picture 20">
            <a:extLst>
              <a:ext uri="{FF2B5EF4-FFF2-40B4-BE49-F238E27FC236}">
                <a16:creationId xmlns:a16="http://schemas.microsoft.com/office/drawing/2014/main" id="{21E7069F-3579-4CD4-8459-AFB6CBC5A5FA}"/>
              </a:ext>
            </a:extLst>
          </p:cNvPr>
          <p:cNvPicPr>
            <a:picLocks noChangeAspect="1"/>
          </p:cNvPicPr>
          <p:nvPr/>
        </p:nvPicPr>
        <p:blipFill>
          <a:blip r:embed="rId12"/>
          <a:stretch>
            <a:fillRect/>
          </a:stretch>
        </p:blipFill>
        <p:spPr>
          <a:xfrm>
            <a:off x="0" y="3422301"/>
            <a:ext cx="3826565" cy="1851822"/>
          </a:xfrm>
          <a:prstGeom prst="rect">
            <a:avLst/>
          </a:prstGeom>
        </p:spPr>
      </p:pic>
    </p:spTree>
    <p:extLst>
      <p:ext uri="{BB962C8B-B14F-4D97-AF65-F5344CB8AC3E}">
        <p14:creationId xmlns:p14="http://schemas.microsoft.com/office/powerpoint/2010/main" val="316201953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67389" y="0"/>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Pipeline de traitement audio</a:t>
            </a:r>
            <a:endParaRPr lang="en-US" sz="4400" u="sng" dirty="0">
              <a:ln w="28575">
                <a:solidFill>
                  <a:srgbClr val="2DD4BF"/>
                </a:solidFill>
              </a:ln>
              <a:solidFill>
                <a:srgbClr val="1E3A8A"/>
              </a:solidFill>
              <a:latin typeface="Arial Black" panose="020B0A04020102020204" pitchFamily="34" charset="0"/>
            </a:endParaRPr>
          </a:p>
        </p:txBody>
      </p:sp>
      <p:pic>
        <p:nvPicPr>
          <p:cNvPr id="13" name="Picture 12">
            <a:extLst>
              <a:ext uri="{FF2B5EF4-FFF2-40B4-BE49-F238E27FC236}">
                <a16:creationId xmlns:a16="http://schemas.microsoft.com/office/drawing/2014/main" id="{AA398EC9-51B3-453C-846D-478F4D6E35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0367081" y="257987"/>
            <a:ext cx="1104917" cy="1104917"/>
          </a:xfrm>
          <a:prstGeom prst="rect">
            <a:avLst/>
          </a:prstGeom>
        </p:spPr>
      </p:pic>
      <p:pic>
        <p:nvPicPr>
          <p:cNvPr id="16" name="Picture 15">
            <a:extLst>
              <a:ext uri="{FF2B5EF4-FFF2-40B4-BE49-F238E27FC236}">
                <a16:creationId xmlns:a16="http://schemas.microsoft.com/office/drawing/2014/main" id="{C677BA1C-105E-4C63-99C8-25751BBD09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575600">
            <a:off x="720002" y="257986"/>
            <a:ext cx="1104917" cy="1104917"/>
          </a:xfrm>
          <a:prstGeom prst="rect">
            <a:avLst/>
          </a:prstGeom>
        </p:spPr>
      </p:pic>
      <p:sp>
        <p:nvSpPr>
          <p:cNvPr id="12" name="TextBox 11">
            <a:extLst>
              <a:ext uri="{FF2B5EF4-FFF2-40B4-BE49-F238E27FC236}">
                <a16:creationId xmlns:a16="http://schemas.microsoft.com/office/drawing/2014/main" id="{728BED21-558D-47CE-8C65-F60826829359}"/>
              </a:ext>
            </a:extLst>
          </p:cNvPr>
          <p:cNvSpPr txBox="1"/>
          <p:nvPr/>
        </p:nvSpPr>
        <p:spPr>
          <a:xfrm>
            <a:off x="239894" y="1822990"/>
            <a:ext cx="6011820" cy="2339102"/>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Chargement et normalisation</a:t>
            </a:r>
          </a:p>
          <a:p>
            <a:pPr algn="ctr"/>
            <a:endParaRPr lang="fr-FR" sz="2800" u="sng" dirty="0">
              <a:ln w="12700">
                <a:solidFill>
                  <a:schemeClr val="tx1"/>
                </a:solidFill>
              </a:ln>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Chaque fichier audio est chargé avec une durée maximale de 2,5 secondes. On applique une </a:t>
            </a:r>
            <a:r>
              <a:rPr lang="fr-FR" dirty="0">
                <a:ln>
                  <a:solidFill>
                    <a:srgbClr val="A3E635"/>
                  </a:solidFill>
                </a:ln>
                <a:solidFill>
                  <a:srgbClr val="1E3A8A"/>
                </a:solidFill>
                <a:latin typeface="Arial Black" panose="020B0A04020102020204" pitchFamily="34" charset="0"/>
              </a:rPr>
              <a:t>normalisation</a:t>
            </a:r>
            <a:r>
              <a:rPr lang="fr-FR" dirty="0">
                <a:solidFill>
                  <a:srgbClr val="1E3A8A"/>
                </a:solidFill>
                <a:latin typeface="Arial Black" panose="020B0A04020102020204" pitchFamily="34" charset="0"/>
              </a:rPr>
              <a:t> pour que le signal soit compris entre -1 et 1. Cela garantit une homogénéité des entrées</a:t>
            </a:r>
          </a:p>
        </p:txBody>
      </p:sp>
      <p:pic>
        <p:nvPicPr>
          <p:cNvPr id="6" name="Picture 5">
            <a:extLst>
              <a:ext uri="{FF2B5EF4-FFF2-40B4-BE49-F238E27FC236}">
                <a16:creationId xmlns:a16="http://schemas.microsoft.com/office/drawing/2014/main" id="{8565BE41-CC8D-44A8-965F-0E9E3E43DE79}"/>
              </a:ext>
            </a:extLst>
          </p:cNvPr>
          <p:cNvPicPr>
            <a:picLocks noChangeAspect="1"/>
          </p:cNvPicPr>
          <p:nvPr/>
        </p:nvPicPr>
        <p:blipFill>
          <a:blip r:embed="rId3">
            <a:alphaModFix/>
          </a:blip>
          <a:stretch>
            <a:fillRect/>
          </a:stretch>
        </p:blipFill>
        <p:spPr>
          <a:xfrm>
            <a:off x="1461052" y="4162092"/>
            <a:ext cx="10730948" cy="2560553"/>
          </a:xfrm>
          <a:prstGeom prst="rect">
            <a:avLst/>
          </a:prstGeom>
        </p:spPr>
      </p:pic>
      <p:pic>
        <p:nvPicPr>
          <p:cNvPr id="8" name="Picture 7">
            <a:extLst>
              <a:ext uri="{FF2B5EF4-FFF2-40B4-BE49-F238E27FC236}">
                <a16:creationId xmlns:a16="http://schemas.microsoft.com/office/drawing/2014/main" id="{8F3C536D-FA28-4C2B-BD1C-BFBBD9CEFC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1389" y="1674402"/>
            <a:ext cx="2259837" cy="2259837"/>
          </a:xfrm>
          <a:prstGeom prst="rect">
            <a:avLst/>
          </a:prstGeom>
        </p:spPr>
      </p:pic>
    </p:spTree>
    <p:extLst>
      <p:ext uri="{BB962C8B-B14F-4D97-AF65-F5344CB8AC3E}">
        <p14:creationId xmlns:p14="http://schemas.microsoft.com/office/powerpoint/2010/main" val="4006719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74274" y="-45607"/>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Pipeline de traitement audio</a:t>
            </a:r>
            <a:endParaRPr lang="en-US" sz="4400" u="sng" dirty="0">
              <a:ln w="28575">
                <a:solidFill>
                  <a:srgbClr val="2DD4BF"/>
                </a:solidFill>
              </a:ln>
              <a:solidFill>
                <a:srgbClr val="1E3A8A"/>
              </a:solidFill>
              <a:latin typeface="Arial Black" panose="020B0A04020102020204" pitchFamily="34" charset="0"/>
            </a:endParaRPr>
          </a:p>
        </p:txBody>
      </p:sp>
      <p:pic>
        <p:nvPicPr>
          <p:cNvPr id="13" name="Picture 12">
            <a:extLst>
              <a:ext uri="{FF2B5EF4-FFF2-40B4-BE49-F238E27FC236}">
                <a16:creationId xmlns:a16="http://schemas.microsoft.com/office/drawing/2014/main" id="{AA398EC9-51B3-453C-846D-478F4D6E35E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rot="10800000">
            <a:off x="10367081" y="257987"/>
            <a:ext cx="1104917" cy="1104917"/>
          </a:xfrm>
          <a:prstGeom prst="rect">
            <a:avLst/>
          </a:prstGeom>
        </p:spPr>
      </p:pic>
      <p:pic>
        <p:nvPicPr>
          <p:cNvPr id="16" name="Picture 15">
            <a:extLst>
              <a:ext uri="{FF2B5EF4-FFF2-40B4-BE49-F238E27FC236}">
                <a16:creationId xmlns:a16="http://schemas.microsoft.com/office/drawing/2014/main" id="{C677BA1C-105E-4C63-99C8-25751BBD099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rot="10800000">
            <a:off x="720002" y="257986"/>
            <a:ext cx="1104917" cy="1104917"/>
          </a:xfrm>
          <a:prstGeom prst="rect">
            <a:avLst/>
          </a:prstGeom>
        </p:spPr>
      </p:pic>
      <p:sp>
        <p:nvSpPr>
          <p:cNvPr id="12" name="TextBox 11">
            <a:extLst>
              <a:ext uri="{FF2B5EF4-FFF2-40B4-BE49-F238E27FC236}">
                <a16:creationId xmlns:a16="http://schemas.microsoft.com/office/drawing/2014/main" id="{728BED21-558D-47CE-8C65-F60826829359}"/>
              </a:ext>
            </a:extLst>
          </p:cNvPr>
          <p:cNvSpPr txBox="1"/>
          <p:nvPr/>
        </p:nvSpPr>
        <p:spPr>
          <a:xfrm>
            <a:off x="251469" y="1362619"/>
            <a:ext cx="5844532" cy="3570208"/>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Augmentation des données</a:t>
            </a:r>
            <a:endParaRPr lang="fr-FR" sz="2800" u="sng" dirty="0">
              <a:ln w="12700">
                <a:solidFill>
                  <a:schemeClr val="tx1"/>
                </a:solidFill>
              </a:ln>
              <a:solidFill>
                <a:srgbClr val="2DD4BF"/>
              </a:solidFill>
              <a:latin typeface="Arial Black" panose="020B0A04020102020204" pitchFamily="34" charset="0"/>
            </a:endParaRPr>
          </a:p>
          <a:p>
            <a:r>
              <a:rPr lang="fr-FR" dirty="0">
                <a:solidFill>
                  <a:srgbClr val="1E3A8A"/>
                </a:solidFill>
                <a:latin typeface="Arial Black" panose="020B0A04020102020204" pitchFamily="34" charset="0"/>
              </a:rPr>
              <a:t>Pour que mon modèle apprenne à reconnaître les émotions même dans des conditions variées, j’ai transformé les enregistrements audio de plusieurs façons, un peu comme si on changeait la manière de parler:</a:t>
            </a:r>
          </a:p>
          <a:p>
            <a:pPr marL="342900" indent="-342900">
              <a:buFont typeface="+mj-lt"/>
              <a:buAutoNum type="arabicPeriod"/>
            </a:pPr>
            <a:r>
              <a:rPr lang="fr-FR" dirty="0">
                <a:solidFill>
                  <a:srgbClr val="1E3A8A"/>
                </a:solidFill>
                <a:latin typeface="Arial Black" panose="020B0A04020102020204" pitchFamily="34" charset="0"/>
              </a:rPr>
              <a:t>Ajout de bruit</a:t>
            </a:r>
          </a:p>
          <a:p>
            <a:pPr marL="342900" indent="-342900">
              <a:buFont typeface="+mj-lt"/>
              <a:buAutoNum type="arabicPeriod"/>
            </a:pPr>
            <a:r>
              <a:rPr lang="fr-FR" dirty="0">
                <a:solidFill>
                  <a:srgbClr val="1E3A8A"/>
                </a:solidFill>
                <a:latin typeface="Arial Black" panose="020B0A04020102020204" pitchFamily="34" charset="0"/>
              </a:rPr>
              <a:t>Étirement/Ralentissement</a:t>
            </a:r>
          </a:p>
          <a:p>
            <a:pPr marL="342900" indent="-342900">
              <a:buFont typeface="+mj-lt"/>
              <a:buAutoNum type="arabicPeriod"/>
            </a:pPr>
            <a:r>
              <a:rPr lang="fr-FR" dirty="0">
                <a:solidFill>
                  <a:srgbClr val="1E3A8A"/>
                </a:solidFill>
                <a:latin typeface="Arial Black" panose="020B0A04020102020204" pitchFamily="34" charset="0"/>
              </a:rPr>
              <a:t>Décalage temporel </a:t>
            </a:r>
          </a:p>
          <a:p>
            <a:pPr marL="342900" indent="-342900">
              <a:buFont typeface="+mj-lt"/>
              <a:buAutoNum type="arabicPeriod"/>
            </a:pPr>
            <a:r>
              <a:rPr lang="fr-FR" dirty="0">
                <a:solidFill>
                  <a:srgbClr val="1E3A8A"/>
                </a:solidFill>
                <a:latin typeface="Arial Black" panose="020B0A04020102020204" pitchFamily="34" charset="0"/>
              </a:rPr>
              <a:t>Modification de la hauteur (pitch) </a:t>
            </a:r>
          </a:p>
          <a:p>
            <a:pPr marL="342900" indent="-342900">
              <a:buFont typeface="+mj-lt"/>
              <a:buAutoNum type="arabicPeriod"/>
            </a:pPr>
            <a:r>
              <a:rPr lang="fr-FR" dirty="0">
                <a:solidFill>
                  <a:srgbClr val="1E3A8A"/>
                </a:solidFill>
                <a:latin typeface="Arial Black" panose="020B0A04020102020204" pitchFamily="34" charset="0"/>
              </a:rPr>
              <a:t>Variation du volume</a:t>
            </a:r>
          </a:p>
        </p:txBody>
      </p:sp>
      <p:pic>
        <p:nvPicPr>
          <p:cNvPr id="8" name="Picture 7">
            <a:extLst>
              <a:ext uri="{FF2B5EF4-FFF2-40B4-BE49-F238E27FC236}">
                <a16:creationId xmlns:a16="http://schemas.microsoft.com/office/drawing/2014/main" id="{8F3C536D-FA28-4C2B-BD1C-BFBBD9CEFC5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18901" y="5062697"/>
            <a:ext cx="1703729" cy="1703729"/>
          </a:xfrm>
          <a:prstGeom prst="rect">
            <a:avLst/>
          </a:prstGeom>
        </p:spPr>
      </p:pic>
      <p:pic>
        <p:nvPicPr>
          <p:cNvPr id="5" name="download">
            <a:hlinkClick r:id="" action="ppaction://media"/>
            <a:extLst>
              <a:ext uri="{FF2B5EF4-FFF2-40B4-BE49-F238E27FC236}">
                <a16:creationId xmlns:a16="http://schemas.microsoft.com/office/drawing/2014/main" id="{4D7A8D41-FA23-4BE3-A7A6-7B618D9477F4}"/>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228316" y="1362619"/>
            <a:ext cx="487363" cy="535805"/>
          </a:xfrm>
          <a:prstGeom prst="rect">
            <a:avLst/>
          </a:prstGeom>
        </p:spPr>
      </p:pic>
      <p:sp>
        <p:nvSpPr>
          <p:cNvPr id="10" name="TextBox 9">
            <a:extLst>
              <a:ext uri="{FF2B5EF4-FFF2-40B4-BE49-F238E27FC236}">
                <a16:creationId xmlns:a16="http://schemas.microsoft.com/office/drawing/2014/main" id="{7EDA7919-00C1-4702-8B93-8279D1DDE208}"/>
              </a:ext>
            </a:extLst>
          </p:cNvPr>
          <p:cNvSpPr txBox="1"/>
          <p:nvPr/>
        </p:nvSpPr>
        <p:spPr>
          <a:xfrm>
            <a:off x="8688424" y="1457456"/>
            <a:ext cx="2777924" cy="369331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Arial Black" panose="020B0A04020102020204" pitchFamily="34" charset="0"/>
              </a:rPr>
              <a:t>Original:</a:t>
            </a:r>
          </a:p>
          <a:p>
            <a:pPr marL="285750" indent="-285750">
              <a:buFont typeface="Arial" panose="020B0604020202020204" pitchFamily="34" charset="0"/>
              <a:buChar char="•"/>
            </a:pPr>
            <a:endParaRPr lang="en-US"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Noisy:</a:t>
            </a:r>
          </a:p>
          <a:p>
            <a:pPr marL="285750" indent="-285750">
              <a:buFont typeface="Arial" panose="020B0604020202020204" pitchFamily="34" charset="0"/>
              <a:buChar char="•"/>
            </a:pPr>
            <a:endParaRPr lang="en-US"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Shifted:</a:t>
            </a:r>
          </a:p>
          <a:p>
            <a:pPr marL="285750" indent="-285750">
              <a:buFont typeface="Arial" panose="020B0604020202020204" pitchFamily="34" charset="0"/>
              <a:buChar char="•"/>
            </a:pPr>
            <a:endParaRPr lang="en-US"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Pitch :</a:t>
            </a:r>
          </a:p>
          <a:p>
            <a:pPr marL="285750" indent="-285750">
              <a:buFont typeface="Arial" panose="020B0604020202020204" pitchFamily="34" charset="0"/>
              <a:buChar char="•"/>
            </a:pPr>
            <a:endParaRPr lang="en-US"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Volume Scaled:</a:t>
            </a:r>
          </a:p>
          <a:p>
            <a:pPr marL="285750" indent="-285750">
              <a:buFont typeface="Arial" panose="020B0604020202020204" pitchFamily="34" charset="0"/>
              <a:buChar char="•"/>
            </a:pPr>
            <a:endParaRPr lang="en-US"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Higher Speed :</a:t>
            </a:r>
          </a:p>
          <a:p>
            <a:pPr marL="285750" indent="-285750">
              <a:buFont typeface="Arial" panose="020B0604020202020204" pitchFamily="34" charset="0"/>
              <a:buChar char="•"/>
            </a:pPr>
            <a:endParaRPr lang="en-US"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Lower Speed:</a:t>
            </a:r>
          </a:p>
        </p:txBody>
      </p:sp>
      <p:pic>
        <p:nvPicPr>
          <p:cNvPr id="14" name="download (1)">
            <a:hlinkClick r:id="" action="ppaction://media"/>
            <a:extLst>
              <a:ext uri="{FF2B5EF4-FFF2-40B4-BE49-F238E27FC236}">
                <a16:creationId xmlns:a16="http://schemas.microsoft.com/office/drawing/2014/main" id="{4463ECF2-76DA-4308-B3CA-ACE5966FADEF}"/>
              </a:ext>
            </a:extLst>
          </p:cNvPr>
          <p:cNvPicPr>
            <a:picLocks noChangeAspect="1"/>
          </p:cNvPicPr>
          <p:nvPr>
            <a:audioFile r:link="rId4"/>
            <p:extLst>
              <p:ext uri="{DAA4B4D4-6D71-4841-9C94-3DE7FCFB9230}">
                <p14:media xmlns:p14="http://schemas.microsoft.com/office/powerpoint/2010/main" r:embed="rId3"/>
              </p:ext>
            </p:extLst>
          </p:nvPr>
        </p:nvPicPr>
        <p:blipFill>
          <a:blip r:embed="rId17"/>
          <a:stretch>
            <a:fillRect/>
          </a:stretch>
        </p:blipFill>
        <p:spPr>
          <a:xfrm>
            <a:off x="11222670" y="1980174"/>
            <a:ext cx="487363" cy="487363"/>
          </a:xfrm>
          <a:prstGeom prst="rect">
            <a:avLst/>
          </a:prstGeom>
        </p:spPr>
      </p:pic>
      <p:pic>
        <p:nvPicPr>
          <p:cNvPr id="15" name="download (3)">
            <a:hlinkClick r:id="" action="ppaction://media"/>
            <a:extLst>
              <a:ext uri="{FF2B5EF4-FFF2-40B4-BE49-F238E27FC236}">
                <a16:creationId xmlns:a16="http://schemas.microsoft.com/office/drawing/2014/main" id="{9EDD87ED-7F6C-4AB0-AF9E-3BB3BE3BDB58}"/>
              </a:ext>
            </a:extLst>
          </p:cNvPr>
          <p:cNvPicPr>
            <a:picLocks noChangeAspect="1"/>
          </p:cNvPicPr>
          <p:nvPr>
            <a:audioFile r:link="rId6"/>
            <p:extLst>
              <p:ext uri="{DAA4B4D4-6D71-4841-9C94-3DE7FCFB9230}">
                <p14:media xmlns:p14="http://schemas.microsoft.com/office/powerpoint/2010/main" r:embed="rId5"/>
              </p:ext>
            </p:extLst>
          </p:nvPr>
        </p:nvPicPr>
        <p:blipFill>
          <a:blip r:embed="rId17"/>
          <a:stretch>
            <a:fillRect/>
          </a:stretch>
        </p:blipFill>
        <p:spPr>
          <a:xfrm>
            <a:off x="11222670" y="2515694"/>
            <a:ext cx="487363" cy="487363"/>
          </a:xfrm>
          <a:prstGeom prst="rect">
            <a:avLst/>
          </a:prstGeom>
        </p:spPr>
      </p:pic>
      <p:pic>
        <p:nvPicPr>
          <p:cNvPr id="17" name="download (4)">
            <a:hlinkClick r:id="" action="ppaction://media"/>
            <a:extLst>
              <a:ext uri="{FF2B5EF4-FFF2-40B4-BE49-F238E27FC236}">
                <a16:creationId xmlns:a16="http://schemas.microsoft.com/office/drawing/2014/main" id="{DA9234BB-9FF4-4481-95ED-92FFBE2B8559}"/>
              </a:ext>
            </a:extLst>
          </p:cNvPr>
          <p:cNvPicPr>
            <a:picLocks noChangeAspect="1"/>
          </p:cNvPicPr>
          <p:nvPr>
            <a:audioFile r:link="rId8"/>
            <p:extLst>
              <p:ext uri="{DAA4B4D4-6D71-4841-9C94-3DE7FCFB9230}">
                <p14:media xmlns:p14="http://schemas.microsoft.com/office/powerpoint/2010/main" r:embed="rId7"/>
              </p:ext>
            </p:extLst>
          </p:nvPr>
        </p:nvPicPr>
        <p:blipFill>
          <a:blip r:embed="rId17"/>
          <a:stretch>
            <a:fillRect/>
          </a:stretch>
        </p:blipFill>
        <p:spPr>
          <a:xfrm>
            <a:off x="11222669" y="3101423"/>
            <a:ext cx="487363" cy="487363"/>
          </a:xfrm>
          <a:prstGeom prst="rect">
            <a:avLst/>
          </a:prstGeom>
        </p:spPr>
      </p:pic>
      <p:pic>
        <p:nvPicPr>
          <p:cNvPr id="18" name="download (5)">
            <a:hlinkClick r:id="" action="ppaction://media"/>
            <a:extLst>
              <a:ext uri="{FF2B5EF4-FFF2-40B4-BE49-F238E27FC236}">
                <a16:creationId xmlns:a16="http://schemas.microsoft.com/office/drawing/2014/main" id="{A96EA618-A9DA-432D-A6DE-C51E96D8A23C}"/>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222668" y="3658961"/>
            <a:ext cx="487363" cy="487363"/>
          </a:xfrm>
          <a:prstGeom prst="rect">
            <a:avLst/>
          </a:prstGeom>
        </p:spPr>
      </p:pic>
      <p:pic>
        <p:nvPicPr>
          <p:cNvPr id="19" name="download (6)">
            <a:hlinkClick r:id="" action="ppaction://media"/>
            <a:extLst>
              <a:ext uri="{FF2B5EF4-FFF2-40B4-BE49-F238E27FC236}">
                <a16:creationId xmlns:a16="http://schemas.microsoft.com/office/drawing/2014/main" id="{3AEA6315-F653-4B8C-A974-0468B0A3CD7A}"/>
              </a:ext>
            </a:extLst>
          </p:cNvPr>
          <p:cNvPicPr>
            <a:picLocks noChangeAspect="1"/>
          </p:cNvPicPr>
          <p:nvPr>
            <a:audioFile r:link="rId10"/>
            <p:extLst>
              <p:ext uri="{DAA4B4D4-6D71-4841-9C94-3DE7FCFB9230}">
                <p14:media xmlns:p14="http://schemas.microsoft.com/office/powerpoint/2010/main" r:embed="rId9"/>
              </p:ext>
            </p:extLst>
          </p:nvPr>
        </p:nvPicPr>
        <p:blipFill>
          <a:blip r:embed="rId17"/>
          <a:stretch>
            <a:fillRect/>
          </a:stretch>
        </p:blipFill>
        <p:spPr>
          <a:xfrm>
            <a:off x="11222667" y="4169474"/>
            <a:ext cx="487363" cy="487363"/>
          </a:xfrm>
          <a:prstGeom prst="rect">
            <a:avLst/>
          </a:prstGeom>
        </p:spPr>
      </p:pic>
      <p:pic>
        <p:nvPicPr>
          <p:cNvPr id="20" name="download (7)">
            <a:hlinkClick r:id="" action="ppaction://media"/>
            <a:extLst>
              <a:ext uri="{FF2B5EF4-FFF2-40B4-BE49-F238E27FC236}">
                <a16:creationId xmlns:a16="http://schemas.microsoft.com/office/drawing/2014/main" id="{FF11A940-D07E-4996-BDE0-AFAB0F8CB848}"/>
              </a:ext>
            </a:extLst>
          </p:cNvPr>
          <p:cNvPicPr>
            <a:picLocks noChangeAspect="1"/>
          </p:cNvPicPr>
          <p:nvPr>
            <a:audioFile r:link="rId12"/>
            <p:extLst>
              <p:ext uri="{DAA4B4D4-6D71-4841-9C94-3DE7FCFB9230}">
                <p14:media xmlns:p14="http://schemas.microsoft.com/office/powerpoint/2010/main" r:embed="rId11"/>
              </p:ext>
            </p:extLst>
          </p:nvPr>
        </p:nvPicPr>
        <p:blipFill>
          <a:blip r:embed="rId17"/>
          <a:stretch>
            <a:fillRect/>
          </a:stretch>
        </p:blipFill>
        <p:spPr>
          <a:xfrm>
            <a:off x="11222667" y="4713350"/>
            <a:ext cx="487363" cy="487363"/>
          </a:xfrm>
          <a:prstGeom prst="rect">
            <a:avLst/>
          </a:prstGeom>
        </p:spPr>
      </p:pic>
    </p:spTree>
    <p:extLst>
      <p:ext uri="{BB962C8B-B14F-4D97-AF65-F5344CB8AC3E}">
        <p14:creationId xmlns:p14="http://schemas.microsoft.com/office/powerpoint/2010/main" val="998888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7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970" fill="hold"/>
                                        <p:tgtEl>
                                          <p:spTgt spid="1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970" fill="hold"/>
                                        <p:tgtEl>
                                          <p:spTgt spid="15"/>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970" fill="hold"/>
                                        <p:tgtEl>
                                          <p:spTgt spid="17"/>
                                        </p:tgtEl>
                                      </p:cBhvr>
                                    </p:cmd>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3970" fill="hold"/>
                                        <p:tgtEl>
                                          <p:spTgt spid="18"/>
                                        </p:tgtEl>
                                      </p:cBhvr>
                                    </p:cmd>
                                  </p:childTnLst>
                                </p:cTn>
                              </p:par>
                            </p:childTnLst>
                          </p:cTn>
                        </p:par>
                      </p:childTnLst>
                    </p:cTn>
                  </p:par>
                  <p:par>
                    <p:cTn id="23" fill="hold">
                      <p:stCondLst>
                        <p:cond delay="indefinite"/>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3176" fill="hold"/>
                                        <p:tgtEl>
                                          <p:spTgt spid="19"/>
                                        </p:tgtEl>
                                      </p:cBhvr>
                                    </p:cmd>
                                  </p:childTnLst>
                                </p:cTn>
                              </p:par>
                            </p:childTnLst>
                          </p:cTn>
                        </p:par>
                      </p:childTnLst>
                    </p:cTn>
                  </p:par>
                  <p:par>
                    <p:cTn id="27" fill="hold">
                      <p:stCondLst>
                        <p:cond delay="indefinite"/>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529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31" fill="hold" display="0">
                  <p:stCondLst>
                    <p:cond delay="indefinite"/>
                  </p:stCondLst>
                  <p:endCondLst>
                    <p:cond evt="onStopAudio" delay="0">
                      <p:tgtEl>
                        <p:sldTgt/>
                      </p:tgtEl>
                    </p:cond>
                  </p:endCondLst>
                </p:cTn>
                <p:tgtEl>
                  <p:spTgt spid="5"/>
                </p:tgtEl>
              </p:cMediaNode>
            </p:audio>
            <p:audio>
              <p:cMediaNode vol="80000">
                <p:cTn id="32" fill="hold" display="0">
                  <p:stCondLst>
                    <p:cond delay="indefinite"/>
                  </p:stCondLst>
                  <p:endCondLst>
                    <p:cond evt="onStopAudio" delay="0">
                      <p:tgtEl>
                        <p:sldTgt/>
                      </p:tgtEl>
                    </p:cond>
                  </p:endCondLst>
                </p:cTn>
                <p:tgtEl>
                  <p:spTgt spid="14"/>
                </p:tgtEl>
              </p:cMediaNode>
            </p:audio>
            <p:audio>
              <p:cMediaNode vol="80000">
                <p:cTn id="33" fill="hold" display="0">
                  <p:stCondLst>
                    <p:cond delay="indefinite"/>
                  </p:stCondLst>
                  <p:endCondLst>
                    <p:cond evt="onStopAudio" delay="0">
                      <p:tgtEl>
                        <p:sldTgt/>
                      </p:tgtEl>
                    </p:cond>
                  </p:endCondLst>
                </p:cTn>
                <p:tgtEl>
                  <p:spTgt spid="15"/>
                </p:tgtEl>
              </p:cMediaNode>
            </p:audio>
            <p:audio>
              <p:cMediaNode vol="80000">
                <p:cTn id="34" fill="hold" display="0">
                  <p:stCondLst>
                    <p:cond delay="indefinite"/>
                  </p:stCondLst>
                  <p:endCondLst>
                    <p:cond evt="onStopAudio" delay="0">
                      <p:tgtEl>
                        <p:sldTgt/>
                      </p:tgtEl>
                    </p:cond>
                  </p:endCondLst>
                </p:cTn>
                <p:tgtEl>
                  <p:spTgt spid="17"/>
                </p:tgtEl>
              </p:cMediaNode>
            </p:audio>
            <p:audio>
              <p:cMediaNode vol="80000">
                <p:cTn id="35" fill="hold" display="0">
                  <p:stCondLst>
                    <p:cond delay="indefinite"/>
                  </p:stCondLst>
                  <p:endCondLst>
                    <p:cond evt="onStopAudio" delay="0">
                      <p:tgtEl>
                        <p:sldTgt/>
                      </p:tgtEl>
                    </p:cond>
                  </p:endCondLst>
                </p:cTn>
                <p:tgtEl>
                  <p:spTgt spid="18"/>
                </p:tgtEl>
              </p:cMediaNode>
            </p:audio>
            <p:audio>
              <p:cMediaNode vol="80000">
                <p:cTn id="36" fill="hold" display="0">
                  <p:stCondLst>
                    <p:cond delay="indefinite"/>
                  </p:stCondLst>
                  <p:endCondLst>
                    <p:cond evt="onStopAudio" delay="0">
                      <p:tgtEl>
                        <p:sldTgt/>
                      </p:tgtEl>
                    </p:cond>
                  </p:endCondLst>
                </p:cTn>
                <p:tgtEl>
                  <p:spTgt spid="19"/>
                </p:tgtEl>
              </p:cMediaNode>
            </p:audio>
            <p:audio>
              <p:cMediaNode vol="80000">
                <p:cTn id="37"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74274" y="-45607"/>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Pipeline de traitement audio</a:t>
            </a:r>
            <a:endParaRPr lang="en-US" sz="4400" u="sng" dirty="0">
              <a:ln w="28575">
                <a:solidFill>
                  <a:srgbClr val="2DD4BF"/>
                </a:solidFill>
              </a:ln>
              <a:solidFill>
                <a:srgbClr val="1E3A8A"/>
              </a:solidFill>
              <a:latin typeface="Arial Black" panose="020B0A04020102020204" pitchFamily="34" charset="0"/>
            </a:endParaRPr>
          </a:p>
        </p:txBody>
      </p:sp>
      <p:pic>
        <p:nvPicPr>
          <p:cNvPr id="13" name="Picture 12">
            <a:extLst>
              <a:ext uri="{FF2B5EF4-FFF2-40B4-BE49-F238E27FC236}">
                <a16:creationId xmlns:a16="http://schemas.microsoft.com/office/drawing/2014/main" id="{AA398EC9-51B3-453C-846D-478F4D6E3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453296">
            <a:off x="10367081" y="257987"/>
            <a:ext cx="1104917" cy="1104917"/>
          </a:xfrm>
          <a:prstGeom prst="rect">
            <a:avLst/>
          </a:prstGeom>
        </p:spPr>
      </p:pic>
      <p:pic>
        <p:nvPicPr>
          <p:cNvPr id="16" name="Picture 15">
            <a:extLst>
              <a:ext uri="{FF2B5EF4-FFF2-40B4-BE49-F238E27FC236}">
                <a16:creationId xmlns:a16="http://schemas.microsoft.com/office/drawing/2014/main" id="{C677BA1C-105E-4C63-99C8-25751BBD0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20002" y="257986"/>
            <a:ext cx="1104917" cy="1104917"/>
          </a:xfrm>
          <a:prstGeom prst="rect">
            <a:avLst/>
          </a:prstGeom>
        </p:spPr>
      </p:pic>
      <p:sp>
        <p:nvSpPr>
          <p:cNvPr id="21" name="TextBox 20">
            <a:extLst>
              <a:ext uri="{FF2B5EF4-FFF2-40B4-BE49-F238E27FC236}">
                <a16:creationId xmlns:a16="http://schemas.microsoft.com/office/drawing/2014/main" id="{879941A7-EBCA-4153-BF9C-988D4AAF7430}"/>
              </a:ext>
            </a:extLst>
          </p:cNvPr>
          <p:cNvSpPr txBox="1"/>
          <p:nvPr/>
        </p:nvSpPr>
        <p:spPr>
          <a:xfrm>
            <a:off x="251468" y="1362619"/>
            <a:ext cx="10617160" cy="5232202"/>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Extraction des caractéristiques</a:t>
            </a:r>
          </a:p>
          <a:p>
            <a:pPr algn="l"/>
            <a:r>
              <a:rPr lang="fr-FR" dirty="0">
                <a:solidFill>
                  <a:srgbClr val="1E3A8A"/>
                </a:solidFill>
                <a:latin typeface="Arial Black" panose="020B0A04020102020204" pitchFamily="34" charset="0"/>
              </a:rPr>
              <a:t>Pour que mon modèle comprenne les émotions dans la voix, je dois d’abord transformer chaque audio en un ensemble de chiffres qui résument ce qu’on entend. Ces chiffres s’appellent des caractéristiques acoustiques :</a:t>
            </a:r>
          </a:p>
          <a:p>
            <a:pPr algn="l"/>
            <a:endParaRPr lang="fr-FR" dirty="0">
              <a:solidFill>
                <a:srgbClr val="1E3A8A"/>
              </a:solidFill>
              <a:latin typeface="Arial Black" panose="020B0A04020102020204" pitchFamily="34" charset="0"/>
            </a:endParaRPr>
          </a:p>
          <a:p>
            <a:pPr marL="342900" indent="-342900" algn="l">
              <a:buFont typeface="+mj-lt"/>
              <a:buAutoNum type="arabicPeriod"/>
            </a:pPr>
            <a:r>
              <a:rPr lang="fr-FR" b="1" i="0" dirty="0">
                <a:solidFill>
                  <a:srgbClr val="1E3A8A"/>
                </a:solidFill>
                <a:effectLst/>
                <a:latin typeface="Arial Black" panose="020B0A04020102020204" pitchFamily="34" charset="0"/>
              </a:rPr>
              <a:t>MFCC</a:t>
            </a:r>
            <a:r>
              <a:rPr lang="fr-FR" b="0" i="0" dirty="0">
                <a:solidFill>
                  <a:srgbClr val="1E3A8A"/>
                </a:solidFill>
                <a:effectLst/>
                <a:latin typeface="Arial Black" panose="020B0A04020102020204" pitchFamily="34" charset="0"/>
              </a:rPr>
              <a:t> : Coefficients acoustiques imitant la perception humaine, essentiels comme "empreinte vocale".</a:t>
            </a:r>
          </a:p>
          <a:p>
            <a:pPr marL="342900" indent="-342900" algn="l">
              <a:buFont typeface="+mj-lt"/>
              <a:buAutoNum type="arabicPeriod"/>
            </a:pPr>
            <a:r>
              <a:rPr lang="fr-FR" b="1" i="0" dirty="0">
                <a:solidFill>
                  <a:srgbClr val="1E3A8A"/>
                </a:solidFill>
                <a:effectLst/>
                <a:latin typeface="Arial Black" panose="020B0A04020102020204" pitchFamily="34" charset="0"/>
              </a:rPr>
              <a:t>Chroma</a:t>
            </a:r>
            <a:r>
              <a:rPr lang="fr-FR" b="0" i="0" dirty="0">
                <a:solidFill>
                  <a:srgbClr val="1E3A8A"/>
                </a:solidFill>
                <a:effectLst/>
                <a:latin typeface="Arial Black" panose="020B0A04020102020204" pitchFamily="34" charset="0"/>
              </a:rPr>
              <a:t> : Mesure les hauteurs musicales pour détecter émotions (ex: joie/peur).</a:t>
            </a:r>
          </a:p>
          <a:p>
            <a:pPr marL="342900" indent="-342900" algn="l">
              <a:buFont typeface="+mj-lt"/>
              <a:buAutoNum type="arabicPeriod"/>
            </a:pPr>
            <a:r>
              <a:rPr lang="fr-FR" b="1" i="0" dirty="0">
                <a:solidFill>
                  <a:srgbClr val="1E3A8A"/>
                </a:solidFill>
                <a:effectLst/>
                <a:latin typeface="Arial Black" panose="020B0A04020102020204" pitchFamily="34" charset="0"/>
              </a:rPr>
              <a:t>ZCR</a:t>
            </a:r>
            <a:r>
              <a:rPr lang="fr-FR" b="0" i="0" dirty="0">
                <a:solidFill>
                  <a:srgbClr val="1E3A8A"/>
                </a:solidFill>
                <a:effectLst/>
                <a:latin typeface="Arial Black" panose="020B0A04020102020204" pitchFamily="34" charset="0"/>
              </a:rPr>
              <a:t> : Compte les changements de signe du signal (voix saccadée = colère/surprise).</a:t>
            </a:r>
          </a:p>
          <a:p>
            <a:pPr marL="342900" indent="-342900" algn="l">
              <a:buFont typeface="+mj-lt"/>
              <a:buAutoNum type="arabicPeriod"/>
            </a:pPr>
            <a:r>
              <a:rPr lang="fr-FR" b="1" i="0" dirty="0">
                <a:solidFill>
                  <a:srgbClr val="1E3A8A"/>
                </a:solidFill>
                <a:effectLst/>
                <a:latin typeface="Arial Black" panose="020B0A04020102020204" pitchFamily="34" charset="0"/>
              </a:rPr>
              <a:t>RMS</a:t>
            </a:r>
            <a:r>
              <a:rPr lang="fr-FR" b="0" i="0" dirty="0">
                <a:solidFill>
                  <a:srgbClr val="1E3A8A"/>
                </a:solidFill>
                <a:effectLst/>
                <a:latin typeface="Arial Black" panose="020B0A04020102020204" pitchFamily="34" charset="0"/>
              </a:rPr>
              <a:t> : Puissance sonore (voix forte = colère).</a:t>
            </a:r>
          </a:p>
          <a:p>
            <a:pPr marL="342900" indent="-342900" algn="l">
              <a:buFont typeface="+mj-lt"/>
              <a:buAutoNum type="arabicPeriod"/>
            </a:pPr>
            <a:r>
              <a:rPr lang="fr-FR" b="1" i="0" dirty="0">
                <a:solidFill>
                  <a:srgbClr val="1E3A8A"/>
                </a:solidFill>
                <a:effectLst/>
                <a:latin typeface="Arial Black" panose="020B0A04020102020204" pitchFamily="34" charset="0"/>
              </a:rPr>
              <a:t>Mel </a:t>
            </a:r>
            <a:r>
              <a:rPr lang="fr-FR" b="1" i="0" dirty="0" err="1">
                <a:solidFill>
                  <a:srgbClr val="1E3A8A"/>
                </a:solidFill>
                <a:effectLst/>
                <a:latin typeface="Arial Black" panose="020B0A04020102020204" pitchFamily="34" charset="0"/>
              </a:rPr>
              <a:t>Spectrogram</a:t>
            </a:r>
            <a:r>
              <a:rPr lang="fr-FR" b="0" i="0" dirty="0">
                <a:solidFill>
                  <a:srgbClr val="1E3A8A"/>
                </a:solidFill>
                <a:effectLst/>
                <a:latin typeface="Arial Black" panose="020B0A04020102020204" pitchFamily="34" charset="0"/>
              </a:rPr>
              <a:t> : Représentation visuelle des fréquences dans le temps, influencée par les émotions.</a:t>
            </a:r>
          </a:p>
          <a:p>
            <a:pPr marL="342900" indent="-342900" algn="l">
              <a:buFont typeface="+mj-lt"/>
              <a:buAutoNum type="arabicPeriod"/>
            </a:pPr>
            <a:r>
              <a:rPr lang="fr-FR" b="1" i="0" dirty="0">
                <a:solidFill>
                  <a:srgbClr val="1E3A8A"/>
                </a:solidFill>
                <a:effectLst/>
                <a:latin typeface="Arial Black" panose="020B0A04020102020204" pitchFamily="34" charset="0"/>
              </a:rPr>
              <a:t>Spectral </a:t>
            </a:r>
            <a:r>
              <a:rPr lang="fr-FR" b="1" i="0" dirty="0" err="1">
                <a:solidFill>
                  <a:srgbClr val="1E3A8A"/>
                </a:solidFill>
                <a:effectLst/>
                <a:latin typeface="Arial Black" panose="020B0A04020102020204" pitchFamily="34" charset="0"/>
              </a:rPr>
              <a:t>Contrast</a:t>
            </a:r>
            <a:r>
              <a:rPr lang="fr-FR" b="0" i="0" dirty="0">
                <a:solidFill>
                  <a:srgbClr val="1E3A8A"/>
                </a:solidFill>
                <a:effectLst/>
                <a:latin typeface="Arial Black" panose="020B0A04020102020204" pitchFamily="34" charset="0"/>
              </a:rPr>
              <a:t> : Contraste spectral (voix tendue = colère vs douce = tristesse).</a:t>
            </a:r>
          </a:p>
          <a:p>
            <a:pPr marL="342900" indent="-342900" algn="l">
              <a:buFont typeface="+mj-lt"/>
              <a:buAutoNum type="arabicPeriod"/>
            </a:pPr>
            <a:r>
              <a:rPr lang="fr-FR" b="1" i="0" dirty="0" err="1">
                <a:solidFill>
                  <a:srgbClr val="1E3A8A"/>
                </a:solidFill>
                <a:effectLst/>
                <a:latin typeface="Arial Black" panose="020B0A04020102020204" pitchFamily="34" charset="0"/>
              </a:rPr>
              <a:t>Tonnetz</a:t>
            </a:r>
            <a:r>
              <a:rPr lang="fr-FR" b="0" i="0" dirty="0">
                <a:solidFill>
                  <a:srgbClr val="1E3A8A"/>
                </a:solidFill>
                <a:effectLst/>
                <a:latin typeface="Arial Black" panose="020B0A04020102020204" pitchFamily="34" charset="0"/>
              </a:rPr>
              <a:t> : Analyse harmonique pour capter tension/relâchement dans les émotions complexes.</a:t>
            </a:r>
          </a:p>
          <a:p>
            <a:pPr algn="ctr"/>
            <a:endParaRPr lang="fr-FR" dirty="0">
              <a:solidFill>
                <a:srgbClr val="1E3A8A"/>
              </a:solidFill>
              <a:latin typeface="Arial Black" panose="020B0A04020102020204" pitchFamily="34" charset="0"/>
            </a:endParaRPr>
          </a:p>
        </p:txBody>
      </p:sp>
      <p:pic>
        <p:nvPicPr>
          <p:cNvPr id="23" name="Picture 22">
            <a:extLst>
              <a:ext uri="{FF2B5EF4-FFF2-40B4-BE49-F238E27FC236}">
                <a16:creationId xmlns:a16="http://schemas.microsoft.com/office/drawing/2014/main" id="{2E8A622C-D94D-417D-B1DF-CB43827780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38034" y="4643516"/>
            <a:ext cx="1703729" cy="1703729"/>
          </a:xfrm>
          <a:prstGeom prst="rect">
            <a:avLst/>
          </a:prstGeom>
        </p:spPr>
      </p:pic>
      <p:pic>
        <p:nvPicPr>
          <p:cNvPr id="7" name="Picture 6">
            <a:extLst>
              <a:ext uri="{FF2B5EF4-FFF2-40B4-BE49-F238E27FC236}">
                <a16:creationId xmlns:a16="http://schemas.microsoft.com/office/drawing/2014/main" id="{C0478FF1-D593-4230-864E-335E728DB8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2419" y="971158"/>
            <a:ext cx="1219209" cy="1219209"/>
          </a:xfrm>
          <a:prstGeom prst="rect">
            <a:avLst/>
          </a:prstGeom>
        </p:spPr>
      </p:pic>
      <p:pic>
        <p:nvPicPr>
          <p:cNvPr id="8" name="Picture 3">
            <a:extLst>
              <a:ext uri="{FF2B5EF4-FFF2-40B4-BE49-F238E27FC236}">
                <a16:creationId xmlns:a16="http://schemas.microsoft.com/office/drawing/2014/main" id="{2F2CF2E0-CD5C-4A5D-A673-4F3B34FAB7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0" y="971158"/>
            <a:ext cx="1036800" cy="103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837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74274" y="-45607"/>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Pipeline de traitement audio</a:t>
            </a:r>
            <a:endParaRPr lang="en-US" sz="4400" u="sng" dirty="0">
              <a:ln w="28575">
                <a:solidFill>
                  <a:srgbClr val="2DD4BF"/>
                </a:solidFill>
              </a:ln>
              <a:solidFill>
                <a:srgbClr val="1E3A8A"/>
              </a:solidFill>
              <a:latin typeface="Arial Black" panose="020B0A04020102020204" pitchFamily="34" charset="0"/>
            </a:endParaRPr>
          </a:p>
        </p:txBody>
      </p:sp>
      <p:pic>
        <p:nvPicPr>
          <p:cNvPr id="13" name="Picture 12">
            <a:extLst>
              <a:ext uri="{FF2B5EF4-FFF2-40B4-BE49-F238E27FC236}">
                <a16:creationId xmlns:a16="http://schemas.microsoft.com/office/drawing/2014/main" id="{AA398EC9-51B3-453C-846D-478F4D6E3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458348">
            <a:off x="10367081" y="257987"/>
            <a:ext cx="1104917" cy="1104917"/>
          </a:xfrm>
          <a:prstGeom prst="rect">
            <a:avLst/>
          </a:prstGeom>
        </p:spPr>
      </p:pic>
      <p:pic>
        <p:nvPicPr>
          <p:cNvPr id="16" name="Picture 15">
            <a:extLst>
              <a:ext uri="{FF2B5EF4-FFF2-40B4-BE49-F238E27FC236}">
                <a16:creationId xmlns:a16="http://schemas.microsoft.com/office/drawing/2014/main" id="{C677BA1C-105E-4C63-99C8-25751BBD0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79605">
            <a:off x="720002" y="257986"/>
            <a:ext cx="1104917" cy="1104917"/>
          </a:xfrm>
          <a:prstGeom prst="rect">
            <a:avLst/>
          </a:prstGeom>
        </p:spPr>
      </p:pic>
      <p:sp>
        <p:nvSpPr>
          <p:cNvPr id="21" name="TextBox 20">
            <a:extLst>
              <a:ext uri="{FF2B5EF4-FFF2-40B4-BE49-F238E27FC236}">
                <a16:creationId xmlns:a16="http://schemas.microsoft.com/office/drawing/2014/main" id="{73F69B28-21D6-4CF0-B928-20D7038CD6AE}"/>
              </a:ext>
            </a:extLst>
          </p:cNvPr>
          <p:cNvSpPr txBox="1"/>
          <p:nvPr/>
        </p:nvSpPr>
        <p:spPr>
          <a:xfrm>
            <a:off x="320916" y="1529757"/>
            <a:ext cx="8487418" cy="1354217"/>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Préparation pour l’apprentissage</a:t>
            </a:r>
          </a:p>
          <a:p>
            <a:r>
              <a:rPr lang="fr-FR" dirty="0">
                <a:solidFill>
                  <a:srgbClr val="1E3A8A"/>
                </a:solidFill>
                <a:latin typeface="Arial Black" panose="020B0A04020102020204" pitchFamily="34" charset="0"/>
              </a:rPr>
              <a:t>Une fois que j’ai extrait les caractéristiques de chaque fichier audio, je dois encore préparer ces données pour qu’elles soient prêtes à être utilisées par mon modèle.</a:t>
            </a:r>
          </a:p>
        </p:txBody>
      </p:sp>
      <p:sp>
        <p:nvSpPr>
          <p:cNvPr id="6" name="TextBox 5">
            <a:extLst>
              <a:ext uri="{FF2B5EF4-FFF2-40B4-BE49-F238E27FC236}">
                <a16:creationId xmlns:a16="http://schemas.microsoft.com/office/drawing/2014/main" id="{F9108852-4065-4F17-9D97-80ECFFD5ED4D}"/>
              </a:ext>
            </a:extLst>
          </p:cNvPr>
          <p:cNvSpPr txBox="1"/>
          <p:nvPr/>
        </p:nvSpPr>
        <p:spPr>
          <a:xfrm>
            <a:off x="1014276" y="3917070"/>
            <a:ext cx="3961718" cy="2308324"/>
          </a:xfrm>
          <a:prstGeom prst="rect">
            <a:avLst/>
          </a:prstGeom>
          <a:noFill/>
        </p:spPr>
        <p:txBody>
          <a:bodyPr wrap="square" rtlCol="0">
            <a:spAutoFit/>
          </a:bodyPr>
          <a:lstStyle/>
          <a:p>
            <a:r>
              <a:rPr lang="fr-FR" dirty="0">
                <a:solidFill>
                  <a:srgbClr val="1E3A8A"/>
                </a:solidFill>
                <a:latin typeface="Arial Black" panose="020B0A04020102020204" pitchFamily="34" charset="0"/>
              </a:rPr>
              <a:t>Encodage des émotions:</a:t>
            </a:r>
          </a:p>
          <a:p>
            <a:r>
              <a:rPr lang="fr-FR" dirty="0">
                <a:solidFill>
                  <a:srgbClr val="1E3A8A"/>
                </a:solidFill>
                <a:latin typeface="Arial Black" panose="020B0A04020102020204" pitchFamily="34" charset="0"/>
              </a:rPr>
              <a:t>Les émotions comme « </a:t>
            </a:r>
            <a:r>
              <a:rPr lang="fr-FR" dirty="0" err="1">
                <a:solidFill>
                  <a:srgbClr val="1E3A8A"/>
                </a:solidFill>
                <a:latin typeface="Arial Black" panose="020B0A04020102020204" pitchFamily="34" charset="0"/>
              </a:rPr>
              <a:t>joy</a:t>
            </a:r>
            <a:r>
              <a:rPr lang="fr-FR" dirty="0">
                <a:solidFill>
                  <a:srgbClr val="1E3A8A"/>
                </a:solidFill>
                <a:latin typeface="Arial Black" panose="020B0A04020102020204" pitchFamily="34" charset="0"/>
              </a:rPr>
              <a:t> », « </a:t>
            </a:r>
            <a:r>
              <a:rPr lang="fr-FR" dirty="0" err="1">
                <a:solidFill>
                  <a:srgbClr val="1E3A8A"/>
                </a:solidFill>
                <a:latin typeface="Arial Black" panose="020B0A04020102020204" pitchFamily="34" charset="0"/>
              </a:rPr>
              <a:t>sad</a:t>
            </a:r>
            <a:r>
              <a:rPr lang="fr-FR" dirty="0">
                <a:solidFill>
                  <a:srgbClr val="1E3A8A"/>
                </a:solidFill>
                <a:latin typeface="Arial Black" panose="020B0A04020102020204" pitchFamily="34" charset="0"/>
              </a:rPr>
              <a:t> » ou « </a:t>
            </a:r>
            <a:r>
              <a:rPr lang="fr-FR" dirty="0" err="1">
                <a:solidFill>
                  <a:srgbClr val="1E3A8A"/>
                </a:solidFill>
                <a:latin typeface="Arial Black" panose="020B0A04020102020204" pitchFamily="34" charset="0"/>
              </a:rPr>
              <a:t>angry</a:t>
            </a:r>
            <a:r>
              <a:rPr lang="fr-FR" dirty="0">
                <a:solidFill>
                  <a:srgbClr val="1E3A8A"/>
                </a:solidFill>
                <a:latin typeface="Arial Black" panose="020B0A04020102020204" pitchFamily="34" charset="0"/>
              </a:rPr>
              <a:t> » sont au départ du texte. Je les transforme en nombres avec un outil appelé </a:t>
            </a:r>
            <a:r>
              <a:rPr lang="fr-FR" dirty="0" err="1">
                <a:ln>
                  <a:solidFill>
                    <a:srgbClr val="A3E635"/>
                  </a:solidFill>
                </a:ln>
                <a:solidFill>
                  <a:srgbClr val="1E3A8A"/>
                </a:solidFill>
                <a:latin typeface="Arial Black" panose="020B0A04020102020204" pitchFamily="34" charset="0"/>
              </a:rPr>
              <a:t>LabelEncoder</a:t>
            </a:r>
            <a:r>
              <a:rPr lang="fr-FR" dirty="0">
                <a:solidFill>
                  <a:srgbClr val="1E3A8A"/>
                </a:solidFill>
                <a:latin typeface="Arial Black" panose="020B0A04020102020204" pitchFamily="34" charset="0"/>
              </a:rPr>
              <a:t>, car les modèles ne comprennent que les chiffres.</a:t>
            </a:r>
          </a:p>
        </p:txBody>
      </p:sp>
      <p:sp>
        <p:nvSpPr>
          <p:cNvPr id="22" name="TextBox 21">
            <a:extLst>
              <a:ext uri="{FF2B5EF4-FFF2-40B4-BE49-F238E27FC236}">
                <a16:creationId xmlns:a16="http://schemas.microsoft.com/office/drawing/2014/main" id="{32CC8030-9810-4851-A84E-4F84AFEC0592}"/>
              </a:ext>
            </a:extLst>
          </p:cNvPr>
          <p:cNvSpPr txBox="1"/>
          <p:nvPr/>
        </p:nvSpPr>
        <p:spPr>
          <a:xfrm>
            <a:off x="7147184" y="3806229"/>
            <a:ext cx="5044816" cy="2862322"/>
          </a:xfrm>
          <a:prstGeom prst="rect">
            <a:avLst/>
          </a:prstGeom>
          <a:noFill/>
        </p:spPr>
        <p:txBody>
          <a:bodyPr wrap="square">
            <a:spAutoFit/>
          </a:bodyPr>
          <a:lstStyle/>
          <a:p>
            <a:r>
              <a:rPr lang="fr-FR" dirty="0">
                <a:solidFill>
                  <a:srgbClr val="1E3A8A"/>
                </a:solidFill>
                <a:latin typeface="Arial Black" panose="020B0A04020102020204" pitchFamily="34" charset="0"/>
              </a:rPr>
              <a:t>Équilibrage des classes avec SMOTE: </a:t>
            </a:r>
          </a:p>
          <a:p>
            <a:r>
              <a:rPr lang="fr-FR" dirty="0">
                <a:solidFill>
                  <a:srgbClr val="1E3A8A"/>
                </a:solidFill>
                <a:latin typeface="Arial Black" panose="020B0A04020102020204" pitchFamily="34" charset="0"/>
              </a:rPr>
              <a:t>Certaines émotions sont très représentées (comme la colère), d’autres beaucoup moins (comme le dégoût). Pour éviter que le modèle ne favorise les classes majoritaires, j’utilise </a:t>
            </a:r>
            <a:r>
              <a:rPr lang="fr-FR" dirty="0">
                <a:ln>
                  <a:solidFill>
                    <a:srgbClr val="A3E635"/>
                  </a:solidFill>
                </a:ln>
                <a:solidFill>
                  <a:srgbClr val="1E3A8A"/>
                </a:solidFill>
                <a:latin typeface="Arial Black" panose="020B0A04020102020204" pitchFamily="34" charset="0"/>
              </a:rPr>
              <a:t>SMOTE</a:t>
            </a:r>
            <a:r>
              <a:rPr lang="fr-FR" dirty="0">
                <a:solidFill>
                  <a:srgbClr val="1E3A8A"/>
                </a:solidFill>
                <a:latin typeface="Arial Black" panose="020B0A04020102020204" pitchFamily="34" charset="0"/>
              </a:rPr>
              <a:t>, une méthode qui génère artificiellement de nouveaux exemples pour les émotions les plus rares.</a:t>
            </a:r>
          </a:p>
        </p:txBody>
      </p:sp>
      <p:pic>
        <p:nvPicPr>
          <p:cNvPr id="24" name="Picture 23">
            <a:extLst>
              <a:ext uri="{FF2B5EF4-FFF2-40B4-BE49-F238E27FC236}">
                <a16:creationId xmlns:a16="http://schemas.microsoft.com/office/drawing/2014/main" id="{5B9A151F-2BFA-4B64-9AFC-AD101BBE0B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81" y="3008303"/>
            <a:ext cx="1219209" cy="1219209"/>
          </a:xfrm>
          <a:prstGeom prst="rect">
            <a:avLst/>
          </a:prstGeom>
        </p:spPr>
      </p:pic>
      <p:pic>
        <p:nvPicPr>
          <p:cNvPr id="4099" name="Picture 3">
            <a:extLst>
              <a:ext uri="{FF2B5EF4-FFF2-40B4-BE49-F238E27FC236}">
                <a16:creationId xmlns:a16="http://schemas.microsoft.com/office/drawing/2014/main" id="{FDB9CA62-ECC6-413D-AD98-49A431A5A2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0740" y="3051771"/>
            <a:ext cx="1036800" cy="10368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28005B2-14F7-43FC-AAA4-6C57C4DE1F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136770">
            <a:off x="763153" y="6994269"/>
            <a:ext cx="787818" cy="995627"/>
          </a:xfrm>
          <a:prstGeom prst="rect">
            <a:avLst/>
          </a:prstGeom>
        </p:spPr>
      </p:pic>
      <p:pic>
        <p:nvPicPr>
          <p:cNvPr id="11" name="Picture 10">
            <a:extLst>
              <a:ext uri="{FF2B5EF4-FFF2-40B4-BE49-F238E27FC236}">
                <a16:creationId xmlns:a16="http://schemas.microsoft.com/office/drawing/2014/main" id="{3377687C-6ED8-4EF7-9D83-9CA270DE0D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30368" y="7063496"/>
            <a:ext cx="857172" cy="857172"/>
          </a:xfrm>
          <a:prstGeom prst="rect">
            <a:avLst/>
          </a:prstGeom>
        </p:spPr>
      </p:pic>
    </p:spTree>
    <p:extLst>
      <p:ext uri="{BB962C8B-B14F-4D97-AF65-F5344CB8AC3E}">
        <p14:creationId xmlns:p14="http://schemas.microsoft.com/office/powerpoint/2010/main" val="510328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74274" y="-45607"/>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Pipeline de traitement audio</a:t>
            </a:r>
            <a:endParaRPr lang="en-US" sz="4400" u="sng" dirty="0">
              <a:ln w="28575">
                <a:solidFill>
                  <a:srgbClr val="2DD4BF"/>
                </a:solidFill>
              </a:ln>
              <a:solidFill>
                <a:srgbClr val="1E3A8A"/>
              </a:solidFill>
              <a:latin typeface="Arial Black" panose="020B0A04020102020204" pitchFamily="34" charset="0"/>
            </a:endParaRPr>
          </a:p>
        </p:txBody>
      </p:sp>
      <p:pic>
        <p:nvPicPr>
          <p:cNvPr id="13" name="Picture 12">
            <a:extLst>
              <a:ext uri="{FF2B5EF4-FFF2-40B4-BE49-F238E27FC236}">
                <a16:creationId xmlns:a16="http://schemas.microsoft.com/office/drawing/2014/main" id="{AA398EC9-51B3-453C-846D-478F4D6E3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620106">
            <a:off x="10367081" y="257987"/>
            <a:ext cx="1104917" cy="1104917"/>
          </a:xfrm>
          <a:prstGeom prst="rect">
            <a:avLst/>
          </a:prstGeom>
        </p:spPr>
      </p:pic>
      <p:pic>
        <p:nvPicPr>
          <p:cNvPr id="16" name="Picture 15">
            <a:extLst>
              <a:ext uri="{FF2B5EF4-FFF2-40B4-BE49-F238E27FC236}">
                <a16:creationId xmlns:a16="http://schemas.microsoft.com/office/drawing/2014/main" id="{C677BA1C-105E-4C63-99C8-25751BBD0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720002" y="257986"/>
            <a:ext cx="1104917" cy="1104917"/>
          </a:xfrm>
          <a:prstGeom prst="rect">
            <a:avLst/>
          </a:prstGeom>
        </p:spPr>
      </p:pic>
      <p:sp>
        <p:nvSpPr>
          <p:cNvPr id="21" name="TextBox 20">
            <a:extLst>
              <a:ext uri="{FF2B5EF4-FFF2-40B4-BE49-F238E27FC236}">
                <a16:creationId xmlns:a16="http://schemas.microsoft.com/office/drawing/2014/main" id="{73F69B28-21D6-4CF0-B928-20D7038CD6AE}"/>
              </a:ext>
            </a:extLst>
          </p:cNvPr>
          <p:cNvSpPr txBox="1"/>
          <p:nvPr/>
        </p:nvSpPr>
        <p:spPr>
          <a:xfrm>
            <a:off x="320916" y="1529757"/>
            <a:ext cx="8487418" cy="1354217"/>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Préparation pour l’apprentissage</a:t>
            </a:r>
          </a:p>
          <a:p>
            <a:r>
              <a:rPr lang="fr-FR" dirty="0">
                <a:solidFill>
                  <a:srgbClr val="1E3A8A"/>
                </a:solidFill>
                <a:latin typeface="Arial Black" panose="020B0A04020102020204" pitchFamily="34" charset="0"/>
              </a:rPr>
              <a:t>Une fois que j’ai extrait les caractéristiques de chaque fichier audio, je dois encore préparer ces données pour qu’elles soient prêtes à être utilisées par mon modèle.</a:t>
            </a:r>
          </a:p>
        </p:txBody>
      </p:sp>
      <p:sp>
        <p:nvSpPr>
          <p:cNvPr id="6" name="TextBox 5">
            <a:extLst>
              <a:ext uri="{FF2B5EF4-FFF2-40B4-BE49-F238E27FC236}">
                <a16:creationId xmlns:a16="http://schemas.microsoft.com/office/drawing/2014/main" id="{F9108852-4065-4F17-9D97-80ECFFD5ED4D}"/>
              </a:ext>
            </a:extLst>
          </p:cNvPr>
          <p:cNvSpPr txBox="1"/>
          <p:nvPr/>
        </p:nvSpPr>
        <p:spPr>
          <a:xfrm>
            <a:off x="1014275" y="3917070"/>
            <a:ext cx="4252205" cy="2308324"/>
          </a:xfrm>
          <a:prstGeom prst="rect">
            <a:avLst/>
          </a:prstGeom>
          <a:noFill/>
        </p:spPr>
        <p:txBody>
          <a:bodyPr wrap="square" rtlCol="0">
            <a:spAutoFit/>
          </a:bodyPr>
          <a:lstStyle/>
          <a:p>
            <a:r>
              <a:rPr lang="fr-FR" dirty="0">
                <a:solidFill>
                  <a:srgbClr val="1E3A8A"/>
                </a:solidFill>
                <a:latin typeface="Arial Black" panose="020B0A04020102020204" pitchFamily="34" charset="0"/>
              </a:rPr>
              <a:t>Normalisation des données:</a:t>
            </a:r>
          </a:p>
          <a:p>
            <a:r>
              <a:rPr lang="fr-FR" dirty="0">
                <a:solidFill>
                  <a:srgbClr val="1E3A8A"/>
                </a:solidFill>
                <a:latin typeface="Arial Black" panose="020B0A04020102020204" pitchFamily="34" charset="0"/>
              </a:rPr>
              <a:t>Ensuite, j’uniformise toutes les valeurs avec un outil appelé </a:t>
            </a:r>
            <a:r>
              <a:rPr lang="fr-FR" dirty="0" err="1">
                <a:ln>
                  <a:solidFill>
                    <a:srgbClr val="A3E635"/>
                  </a:solidFill>
                </a:ln>
                <a:solidFill>
                  <a:srgbClr val="1E3A8A"/>
                </a:solidFill>
                <a:latin typeface="Arial Black" panose="020B0A04020102020204" pitchFamily="34" charset="0"/>
              </a:rPr>
              <a:t>StandardScaler</a:t>
            </a:r>
            <a:r>
              <a:rPr lang="fr-FR" dirty="0">
                <a:solidFill>
                  <a:srgbClr val="1E3A8A"/>
                </a:solidFill>
                <a:latin typeface="Arial Black" panose="020B0A04020102020204" pitchFamily="34" charset="0"/>
              </a:rPr>
              <a:t>. Cela met toutes les caractéristiques à la même échelle, pour éviter que certaines prennent trop d’importance.</a:t>
            </a:r>
          </a:p>
        </p:txBody>
      </p:sp>
      <p:sp>
        <p:nvSpPr>
          <p:cNvPr id="22" name="TextBox 21">
            <a:extLst>
              <a:ext uri="{FF2B5EF4-FFF2-40B4-BE49-F238E27FC236}">
                <a16:creationId xmlns:a16="http://schemas.microsoft.com/office/drawing/2014/main" id="{32CC8030-9810-4851-A84E-4F84AFEC0592}"/>
              </a:ext>
            </a:extLst>
          </p:cNvPr>
          <p:cNvSpPr txBox="1"/>
          <p:nvPr/>
        </p:nvSpPr>
        <p:spPr>
          <a:xfrm>
            <a:off x="7147184" y="3806229"/>
            <a:ext cx="5044816" cy="2585323"/>
          </a:xfrm>
          <a:prstGeom prst="rect">
            <a:avLst/>
          </a:prstGeom>
          <a:noFill/>
        </p:spPr>
        <p:txBody>
          <a:bodyPr wrap="square">
            <a:spAutoFit/>
          </a:bodyPr>
          <a:lstStyle/>
          <a:p>
            <a:r>
              <a:rPr lang="fr-FR" dirty="0" err="1">
                <a:solidFill>
                  <a:srgbClr val="1E3A8A"/>
                </a:solidFill>
                <a:latin typeface="Arial Black" panose="020B0A04020102020204" pitchFamily="34" charset="0"/>
              </a:rPr>
              <a:t>Reshape</a:t>
            </a:r>
            <a:r>
              <a:rPr lang="fr-FR" dirty="0">
                <a:solidFill>
                  <a:srgbClr val="1E3A8A"/>
                </a:solidFill>
                <a:latin typeface="Arial Black" panose="020B0A04020102020204" pitchFamily="34" charset="0"/>
              </a:rPr>
              <a:t> pour CNN-</a:t>
            </a:r>
            <a:r>
              <a:rPr lang="fr-FR" dirty="0" err="1">
                <a:solidFill>
                  <a:srgbClr val="1E3A8A"/>
                </a:solidFill>
                <a:latin typeface="Arial Black" panose="020B0A04020102020204" pitchFamily="34" charset="0"/>
              </a:rPr>
              <a:t>BiLSTM</a:t>
            </a:r>
            <a:r>
              <a:rPr lang="fr-FR" dirty="0">
                <a:solidFill>
                  <a:srgbClr val="1E3A8A"/>
                </a:solidFill>
                <a:latin typeface="Arial Black" panose="020B0A04020102020204" pitchFamily="34" charset="0"/>
              </a:rPr>
              <a:t>: </a:t>
            </a:r>
          </a:p>
          <a:p>
            <a:r>
              <a:rPr lang="fr-FR" dirty="0">
                <a:solidFill>
                  <a:srgbClr val="1E3A8A"/>
                </a:solidFill>
                <a:latin typeface="Arial Black" panose="020B0A04020102020204" pitchFamily="34" charset="0"/>
              </a:rPr>
              <a:t>Enfin, je reformate les données dans </a:t>
            </a:r>
            <a:r>
              <a:rPr lang="fr-FR" dirty="0">
                <a:ln>
                  <a:solidFill>
                    <a:srgbClr val="A3E635"/>
                  </a:solidFill>
                </a:ln>
                <a:solidFill>
                  <a:srgbClr val="1E3A8A"/>
                </a:solidFill>
                <a:latin typeface="Arial Black" panose="020B0A04020102020204" pitchFamily="34" charset="0"/>
              </a:rPr>
              <a:t>une forme spéciale</a:t>
            </a:r>
            <a:r>
              <a:rPr lang="fr-FR" dirty="0">
                <a:solidFill>
                  <a:srgbClr val="1E3A8A"/>
                </a:solidFill>
                <a:latin typeface="Arial Black" panose="020B0A04020102020204" pitchFamily="34" charset="0"/>
              </a:rPr>
              <a:t> que le modèle attend : une sorte de séquence, comme si chaque vecteur était une mini phrase. Cela permet au CNN d’analyser les motifs locaux, et au LSTM de comprendre la dynamique dans le temps.</a:t>
            </a:r>
          </a:p>
        </p:txBody>
      </p:sp>
      <p:pic>
        <p:nvPicPr>
          <p:cNvPr id="5" name="Picture 4">
            <a:extLst>
              <a:ext uri="{FF2B5EF4-FFF2-40B4-BE49-F238E27FC236}">
                <a16:creationId xmlns:a16="http://schemas.microsoft.com/office/drawing/2014/main" id="{2B10F6C9-F8EF-4FB8-9E36-C0832203E4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36770">
            <a:off x="537123" y="3188041"/>
            <a:ext cx="787818" cy="995627"/>
          </a:xfrm>
          <a:prstGeom prst="rect">
            <a:avLst/>
          </a:prstGeom>
        </p:spPr>
      </p:pic>
      <p:pic>
        <p:nvPicPr>
          <p:cNvPr id="8" name="Picture 7">
            <a:extLst>
              <a:ext uri="{FF2B5EF4-FFF2-40B4-BE49-F238E27FC236}">
                <a16:creationId xmlns:a16="http://schemas.microsoft.com/office/drawing/2014/main" id="{E68965E8-30E2-4640-A652-30C4DE909A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4338" y="3257268"/>
            <a:ext cx="857172" cy="857172"/>
          </a:xfrm>
          <a:prstGeom prst="rect">
            <a:avLst/>
          </a:prstGeom>
        </p:spPr>
      </p:pic>
      <p:pic>
        <p:nvPicPr>
          <p:cNvPr id="10" name="Picture 9">
            <a:extLst>
              <a:ext uri="{FF2B5EF4-FFF2-40B4-BE49-F238E27FC236}">
                <a16:creationId xmlns:a16="http://schemas.microsoft.com/office/drawing/2014/main" id="{D91C70B0-9219-459C-A787-65C330B7B9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72150" y="0"/>
            <a:ext cx="2205862" cy="1280415"/>
          </a:xfrm>
          <a:prstGeom prst="rect">
            <a:avLst/>
          </a:prstGeom>
          <a:effectLst>
            <a:outerShdw blurRad="50800" dist="50800" dir="5400000" algn="ctr" rotWithShape="0">
              <a:srgbClr val="000000">
                <a:alpha val="0"/>
              </a:srgbClr>
            </a:outerShdw>
          </a:effectLst>
        </p:spPr>
      </p:pic>
      <p:pic>
        <p:nvPicPr>
          <p:cNvPr id="11" name="Picture 10">
            <a:extLst>
              <a:ext uri="{FF2B5EF4-FFF2-40B4-BE49-F238E27FC236}">
                <a16:creationId xmlns:a16="http://schemas.microsoft.com/office/drawing/2014/main" id="{34DEC0F7-17E7-43E7-8E74-1E54807CE1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12332927" y="-140982"/>
            <a:ext cx="1105180" cy="1226917"/>
          </a:xfrm>
          <a:prstGeom prst="rect">
            <a:avLst/>
          </a:prstGeom>
        </p:spPr>
      </p:pic>
    </p:spTree>
    <p:extLst>
      <p:ext uri="{BB962C8B-B14F-4D97-AF65-F5344CB8AC3E}">
        <p14:creationId xmlns:p14="http://schemas.microsoft.com/office/powerpoint/2010/main" val="3867330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2BD041D-8F34-4831-B5E5-C1A576BD6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42" y="120528"/>
            <a:ext cx="2205862" cy="1280415"/>
          </a:xfrm>
          <a:prstGeom prst="rect">
            <a:avLst/>
          </a:prstGeom>
          <a:effectLst>
            <a:outerShdw blurRad="50800" dist="50800" dir="5400000" algn="ctr" rotWithShape="0">
              <a:srgbClr val="000000">
                <a:alpha val="0"/>
              </a:srgbClr>
            </a:outerShdw>
          </a:effectLst>
        </p:spPr>
      </p:pic>
      <p:sp>
        <p:nvSpPr>
          <p:cNvPr id="2" name="TextBox 1">
            <a:extLst>
              <a:ext uri="{FF2B5EF4-FFF2-40B4-BE49-F238E27FC236}">
                <a16:creationId xmlns:a16="http://schemas.microsoft.com/office/drawing/2014/main" id="{946B72AB-46A4-4D00-B63F-C41A77233855}"/>
              </a:ext>
            </a:extLst>
          </p:cNvPr>
          <p:cNvSpPr txBox="1"/>
          <p:nvPr/>
        </p:nvSpPr>
        <p:spPr>
          <a:xfrm>
            <a:off x="2474274" y="-45607"/>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Architecture du Modèle CNN-</a:t>
            </a:r>
            <a:r>
              <a:rPr lang="fr-FR" sz="4400" u="sng" dirty="0" err="1">
                <a:ln w="28575">
                  <a:solidFill>
                    <a:srgbClr val="2DD4BF"/>
                  </a:solidFill>
                </a:ln>
                <a:solidFill>
                  <a:srgbClr val="1E3A8A"/>
                </a:solidFill>
                <a:latin typeface="Arial Black" panose="020B0A04020102020204" pitchFamily="34" charset="0"/>
              </a:rPr>
              <a:t>BiLSTM</a:t>
            </a:r>
            <a:endParaRPr lang="en-US" sz="4400" u="sng" dirty="0">
              <a:ln w="28575">
                <a:solidFill>
                  <a:srgbClr val="2DD4BF"/>
                </a:solidFill>
              </a:ln>
              <a:solidFill>
                <a:srgbClr val="1E3A8A"/>
              </a:solidFill>
              <a:latin typeface="Arial Black" panose="020B0A04020102020204" pitchFamily="34" charset="0"/>
            </a:endParaRPr>
          </a:p>
        </p:txBody>
      </p:sp>
      <p:pic>
        <p:nvPicPr>
          <p:cNvPr id="4" name="Picture 3">
            <a:extLst>
              <a:ext uri="{FF2B5EF4-FFF2-40B4-BE49-F238E27FC236}">
                <a16:creationId xmlns:a16="http://schemas.microsoft.com/office/drawing/2014/main" id="{A49EA107-25C8-4ECA-85A9-0DC4A56EBB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flipH="1">
            <a:off x="10871623" y="-60868"/>
            <a:ext cx="1105180" cy="1226917"/>
          </a:xfrm>
          <a:prstGeom prst="rect">
            <a:avLst/>
          </a:prstGeom>
        </p:spPr>
      </p:pic>
      <p:sp>
        <p:nvSpPr>
          <p:cNvPr id="12" name="TextBox 11">
            <a:extLst>
              <a:ext uri="{FF2B5EF4-FFF2-40B4-BE49-F238E27FC236}">
                <a16:creationId xmlns:a16="http://schemas.microsoft.com/office/drawing/2014/main" id="{E0FFDBA0-FE09-4B27-BB1A-6B90DACA41B2}"/>
              </a:ext>
            </a:extLst>
          </p:cNvPr>
          <p:cNvSpPr txBox="1"/>
          <p:nvPr/>
        </p:nvSpPr>
        <p:spPr>
          <a:xfrm flipH="1">
            <a:off x="434318" y="1717210"/>
            <a:ext cx="9297178" cy="1908215"/>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 Pourquoi combiner CNN et LSTM ?</a:t>
            </a:r>
          </a:p>
          <a:p>
            <a:r>
              <a:rPr lang="fr-FR" dirty="0">
                <a:ln w="12700">
                  <a:noFill/>
                </a:ln>
                <a:solidFill>
                  <a:srgbClr val="1E3A8A"/>
                </a:solidFill>
                <a:latin typeface="Arial Black" panose="020B0A04020102020204" pitchFamily="34" charset="0"/>
              </a:rPr>
              <a:t>Parce que les deux réseaux ont des forces complémentaires :</a:t>
            </a:r>
          </a:p>
          <a:p>
            <a:r>
              <a:rPr lang="fr-FR" dirty="0">
                <a:ln w="12700">
                  <a:noFill/>
                </a:ln>
                <a:solidFill>
                  <a:srgbClr val="1E3A8A"/>
                </a:solidFill>
                <a:latin typeface="Arial Black" panose="020B0A04020102020204" pitchFamily="34" charset="0"/>
              </a:rPr>
              <a:t>CNN : capte les motifs locaux dans les données audio, comme les variations de fréquence ou d’intensité.</a:t>
            </a:r>
          </a:p>
          <a:p>
            <a:r>
              <a:rPr lang="fr-FR" dirty="0">
                <a:ln w="12700">
                  <a:noFill/>
                </a:ln>
                <a:solidFill>
                  <a:srgbClr val="1E3A8A"/>
                </a:solidFill>
                <a:latin typeface="Arial Black" panose="020B0A04020102020204" pitchFamily="34" charset="0"/>
              </a:rPr>
              <a:t>LSTM : capte les dépendances temporelles, c’est-à-dire l’évolution des émotions dans le temps.</a:t>
            </a:r>
            <a:endParaRPr lang="fr-FR" dirty="0">
              <a:solidFill>
                <a:srgbClr val="1E3A8A"/>
              </a:solidFill>
              <a:latin typeface="Arial Black" panose="020B0A04020102020204" pitchFamily="34" charset="0"/>
            </a:endParaRPr>
          </a:p>
        </p:txBody>
      </p:sp>
      <p:sp>
        <p:nvSpPr>
          <p:cNvPr id="14" name="TextBox 13">
            <a:extLst>
              <a:ext uri="{FF2B5EF4-FFF2-40B4-BE49-F238E27FC236}">
                <a16:creationId xmlns:a16="http://schemas.microsoft.com/office/drawing/2014/main" id="{23A37178-7B5E-496C-A619-4D53AB607F57}"/>
              </a:ext>
            </a:extLst>
          </p:cNvPr>
          <p:cNvSpPr txBox="1"/>
          <p:nvPr/>
        </p:nvSpPr>
        <p:spPr>
          <a:xfrm flipH="1">
            <a:off x="2269012" y="3721262"/>
            <a:ext cx="9922988" cy="3016210"/>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 Architecture choisie : CNN + </a:t>
            </a:r>
            <a:r>
              <a:rPr lang="fr-FR" sz="2800" u="sng" dirty="0" err="1">
                <a:ln w="12700">
                  <a:solidFill>
                    <a:srgbClr val="1E3A8A"/>
                  </a:solidFill>
                </a:ln>
                <a:solidFill>
                  <a:srgbClr val="2DD4BF"/>
                </a:solidFill>
                <a:latin typeface="Arial Black" panose="020B0A04020102020204" pitchFamily="34" charset="0"/>
              </a:rPr>
              <a:t>BiLSTM</a:t>
            </a:r>
            <a:endParaRPr lang="fr-FR" sz="2800" u="sng" dirty="0">
              <a:ln w="12700">
                <a:solidFill>
                  <a:srgbClr val="1E3A8A"/>
                </a:solidFill>
              </a:ln>
              <a:solidFill>
                <a:srgbClr val="2DD4BF"/>
              </a:solidFill>
              <a:latin typeface="Arial Black" panose="020B0A04020102020204" pitchFamily="34" charset="0"/>
            </a:endParaRP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3 couches </a:t>
            </a:r>
            <a:r>
              <a:rPr lang="fr-FR" dirty="0" err="1">
                <a:ln w="12700">
                  <a:noFill/>
                </a:ln>
                <a:solidFill>
                  <a:srgbClr val="1E3A8A"/>
                </a:solidFill>
                <a:latin typeface="Arial Black" panose="020B0A04020102020204" pitchFamily="34" charset="0"/>
              </a:rPr>
              <a:t>convolutionnelles</a:t>
            </a:r>
            <a:r>
              <a:rPr lang="fr-FR" dirty="0">
                <a:ln w="12700">
                  <a:noFill/>
                </a:ln>
                <a:solidFill>
                  <a:srgbClr val="1E3A8A"/>
                </a:solidFill>
                <a:latin typeface="Arial Black" panose="020B0A04020102020204" pitchFamily="34" charset="0"/>
              </a:rPr>
              <a:t> (</a:t>
            </a:r>
            <a:r>
              <a:rPr lang="fr-FR" b="1" dirty="0">
                <a:ln w="12700">
                  <a:noFill/>
                </a:ln>
                <a:solidFill>
                  <a:srgbClr val="1E3A8A"/>
                </a:solidFill>
                <a:latin typeface="Arial Black" panose="020B0A04020102020204" pitchFamily="34" charset="0"/>
              </a:rPr>
              <a:t>Conv1D</a:t>
            </a:r>
            <a:r>
              <a:rPr lang="fr-FR" dirty="0">
                <a:ln w="12700">
                  <a:noFill/>
                </a:ln>
                <a:solidFill>
                  <a:srgbClr val="1E3A8A"/>
                </a:solidFill>
                <a:latin typeface="Arial Black" panose="020B0A04020102020204" pitchFamily="34" charset="0"/>
              </a:rPr>
              <a:t>) : elles analysent le signal audio en profondeur.</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Couches de </a:t>
            </a:r>
            <a:r>
              <a:rPr lang="fr-FR" dirty="0" err="1">
                <a:ln w="12700">
                  <a:noFill/>
                </a:ln>
                <a:solidFill>
                  <a:srgbClr val="1E3A8A"/>
                </a:solidFill>
                <a:latin typeface="Arial Black" panose="020B0A04020102020204" pitchFamily="34" charset="0"/>
              </a:rPr>
              <a:t>MaxPooling</a:t>
            </a:r>
            <a:r>
              <a:rPr lang="fr-FR" dirty="0">
                <a:ln w="12700">
                  <a:noFill/>
                </a:ln>
                <a:solidFill>
                  <a:srgbClr val="1E3A8A"/>
                </a:solidFill>
                <a:latin typeface="Arial Black" panose="020B0A04020102020204" pitchFamily="34" charset="0"/>
              </a:rPr>
              <a:t> : elles réduisent la taille des données tout en gardant l’information importante.</a:t>
            </a:r>
          </a:p>
          <a:p>
            <a:pPr marL="285750" indent="-285750">
              <a:buFont typeface="Arial" panose="020B0604020202020204" pitchFamily="34" charset="0"/>
              <a:buChar char="•"/>
            </a:pP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 : elle lit la séquence dans les deux sens (passé et futur), pour mieux comprendre le contexte émotionnel.</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LSTM classique : elle consolide l’information extraite par la </a:t>
            </a: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Couches Dense + </a:t>
            </a:r>
            <a:r>
              <a:rPr lang="fr-FR" dirty="0" err="1">
                <a:ln w="12700">
                  <a:noFill/>
                </a:ln>
                <a:solidFill>
                  <a:srgbClr val="1E3A8A"/>
                </a:solidFill>
                <a:latin typeface="Arial Black" panose="020B0A04020102020204" pitchFamily="34" charset="0"/>
              </a:rPr>
              <a:t>Softmax</a:t>
            </a:r>
            <a:r>
              <a:rPr lang="fr-FR" dirty="0">
                <a:ln w="12700">
                  <a:noFill/>
                </a:ln>
                <a:solidFill>
                  <a:srgbClr val="1E3A8A"/>
                </a:solidFill>
                <a:latin typeface="Arial Black" panose="020B0A04020102020204" pitchFamily="34" charset="0"/>
              </a:rPr>
              <a:t> : elles effectuent la classification finale en 7 émotions.</a:t>
            </a:r>
            <a:endParaRPr lang="fr-FR" dirty="0">
              <a:solidFill>
                <a:srgbClr val="1E3A8A"/>
              </a:solidFill>
              <a:latin typeface="Arial Black" panose="020B0A04020102020204" pitchFamily="34" charset="0"/>
            </a:endParaRPr>
          </a:p>
        </p:txBody>
      </p:sp>
    </p:spTree>
    <p:extLst>
      <p:ext uri="{BB962C8B-B14F-4D97-AF65-F5344CB8AC3E}">
        <p14:creationId xmlns:p14="http://schemas.microsoft.com/office/powerpoint/2010/main" val="2772812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2BD041D-8F34-4831-B5E5-C1A576BD6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42" y="120528"/>
            <a:ext cx="1956123" cy="1280415"/>
          </a:xfrm>
          <a:prstGeom prst="rect">
            <a:avLst/>
          </a:prstGeom>
          <a:effectLst>
            <a:outerShdw blurRad="50800" dist="50800" dir="5400000" algn="ctr" rotWithShape="0">
              <a:srgbClr val="000000">
                <a:alpha val="0"/>
              </a:srgbClr>
            </a:outerShdw>
          </a:effectLst>
        </p:spPr>
      </p:pic>
      <p:sp>
        <p:nvSpPr>
          <p:cNvPr id="2" name="TextBox 1">
            <a:extLst>
              <a:ext uri="{FF2B5EF4-FFF2-40B4-BE49-F238E27FC236}">
                <a16:creationId xmlns:a16="http://schemas.microsoft.com/office/drawing/2014/main" id="{946B72AB-46A4-4D00-B63F-C41A77233855}"/>
              </a:ext>
            </a:extLst>
          </p:cNvPr>
          <p:cNvSpPr txBox="1"/>
          <p:nvPr/>
        </p:nvSpPr>
        <p:spPr>
          <a:xfrm>
            <a:off x="2467389" y="106739"/>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Détails techniques du modèle</a:t>
            </a:r>
          </a:p>
        </p:txBody>
      </p:sp>
      <p:pic>
        <p:nvPicPr>
          <p:cNvPr id="4" name="Picture 3">
            <a:extLst>
              <a:ext uri="{FF2B5EF4-FFF2-40B4-BE49-F238E27FC236}">
                <a16:creationId xmlns:a16="http://schemas.microsoft.com/office/drawing/2014/main" id="{A49EA107-25C8-4ECA-85A9-0DC4A56EBB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flipH="1">
            <a:off x="10871623" y="-60868"/>
            <a:ext cx="1105180" cy="1226917"/>
          </a:xfrm>
          <a:prstGeom prst="rect">
            <a:avLst/>
          </a:prstGeom>
        </p:spPr>
      </p:pic>
      <p:sp>
        <p:nvSpPr>
          <p:cNvPr id="12" name="TextBox 11">
            <a:extLst>
              <a:ext uri="{FF2B5EF4-FFF2-40B4-BE49-F238E27FC236}">
                <a16:creationId xmlns:a16="http://schemas.microsoft.com/office/drawing/2014/main" id="{E0FFDBA0-FE09-4B27-BB1A-6B90DACA41B2}"/>
              </a:ext>
            </a:extLst>
          </p:cNvPr>
          <p:cNvSpPr txBox="1"/>
          <p:nvPr/>
        </p:nvSpPr>
        <p:spPr>
          <a:xfrm flipH="1">
            <a:off x="254641" y="1763507"/>
            <a:ext cx="10556112" cy="3724096"/>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Régularisation contre le surapprentissage (</a:t>
            </a:r>
            <a:r>
              <a:rPr lang="fr-FR" sz="2800" u="sng" dirty="0" err="1">
                <a:ln w="12700">
                  <a:solidFill>
                    <a:srgbClr val="1E3A8A"/>
                  </a:solidFill>
                </a:ln>
                <a:solidFill>
                  <a:srgbClr val="2DD4BF"/>
                </a:solidFill>
                <a:latin typeface="Arial Black" panose="020B0A04020102020204" pitchFamily="34" charset="0"/>
              </a:rPr>
              <a:t>Overfitting</a:t>
            </a:r>
            <a:r>
              <a:rPr lang="fr-FR" sz="2800" u="sng" dirty="0">
                <a:ln w="12700">
                  <a:solidFill>
                    <a:srgbClr val="1E3A8A"/>
                  </a:solidFill>
                </a:ln>
                <a:solidFill>
                  <a:srgbClr val="2DD4BF"/>
                </a:solidFill>
                <a:latin typeface="Arial Black" panose="020B0A04020102020204" pitchFamily="34" charset="0"/>
              </a:rPr>
              <a:t>)</a:t>
            </a:r>
          </a:p>
          <a:p>
            <a:r>
              <a:rPr lang="fr-FR" dirty="0">
                <a:ln w="12700">
                  <a:noFill/>
                </a:ln>
                <a:solidFill>
                  <a:srgbClr val="1E3A8A"/>
                </a:solidFill>
                <a:latin typeface="Arial Black" panose="020B0A04020102020204" pitchFamily="34" charset="0"/>
              </a:rPr>
              <a:t>L’objectif ici est d’empêcher le modèle de trop bien mémoriser les données d’entraînement, au point de mal généraliser sur de nouvelles données. Voici les techniques que j’ai utilisées :</a:t>
            </a:r>
          </a:p>
          <a:p>
            <a:endParaRPr lang="fr-FR" dirty="0">
              <a:ln w="12700">
                <a:noFill/>
              </a:ln>
              <a:solidFill>
                <a:srgbClr val="1E3A8A"/>
              </a:solidFill>
              <a:latin typeface="Arial Black" panose="020B0A04020102020204" pitchFamily="34" charset="0"/>
            </a:endParaRPr>
          </a:p>
          <a:p>
            <a:r>
              <a:rPr lang="fr-FR" u="sng" dirty="0">
                <a:ln w="12700">
                  <a:noFill/>
                </a:ln>
                <a:solidFill>
                  <a:srgbClr val="1E3A8A"/>
                </a:solidFill>
                <a:latin typeface="Arial Black" panose="020B0A04020102020204" pitchFamily="34" charset="0"/>
              </a:rPr>
              <a:t>Dropout (0.3-0.5) : </a:t>
            </a:r>
            <a:r>
              <a:rPr lang="fr-FR" dirty="0">
                <a:ln w="12700">
                  <a:noFill/>
                </a:ln>
                <a:solidFill>
                  <a:srgbClr val="1E3A8A"/>
                </a:solidFill>
                <a:latin typeface="Arial Black" panose="020B0A04020102020204" pitchFamily="34" charset="0"/>
              </a:rPr>
              <a:t>Désactive aléatoirement des neurones pour éviter la surspécialisation et améliorer la généralisation.</a:t>
            </a:r>
            <a:endParaRPr lang="fr-FR" u="sng" dirty="0">
              <a:ln w="12700">
                <a:noFill/>
              </a:ln>
              <a:solidFill>
                <a:srgbClr val="1E3A8A"/>
              </a:solidFill>
              <a:latin typeface="Arial Black" panose="020B0A04020102020204" pitchFamily="34" charset="0"/>
            </a:endParaRPr>
          </a:p>
          <a:p>
            <a:r>
              <a:rPr lang="fr-FR" u="sng" dirty="0">
                <a:ln w="12700">
                  <a:noFill/>
                </a:ln>
                <a:solidFill>
                  <a:srgbClr val="1E3A8A"/>
                </a:solidFill>
                <a:latin typeface="Arial Black" panose="020B0A04020102020204" pitchFamily="34" charset="0"/>
              </a:rPr>
              <a:t>L2 </a:t>
            </a:r>
            <a:r>
              <a:rPr lang="fr-FR" u="sng" dirty="0" err="1">
                <a:ln w="12700">
                  <a:noFill/>
                </a:ln>
                <a:solidFill>
                  <a:srgbClr val="1E3A8A"/>
                </a:solidFill>
                <a:latin typeface="Arial Black" panose="020B0A04020102020204" pitchFamily="34" charset="0"/>
              </a:rPr>
              <a:t>Regularization</a:t>
            </a:r>
            <a:r>
              <a:rPr lang="fr-FR" u="sng" dirty="0">
                <a:ln w="12700">
                  <a:noFill/>
                </a:ln>
                <a:solidFill>
                  <a:srgbClr val="1E3A8A"/>
                </a:solidFill>
                <a:latin typeface="Arial Black" panose="020B0A04020102020204" pitchFamily="34" charset="0"/>
              </a:rPr>
              <a:t> : </a:t>
            </a:r>
            <a:r>
              <a:rPr lang="fr-FR" dirty="0">
                <a:ln w="12700">
                  <a:noFill/>
                </a:ln>
                <a:solidFill>
                  <a:srgbClr val="1E3A8A"/>
                </a:solidFill>
                <a:latin typeface="Arial Black" panose="020B0A04020102020204" pitchFamily="34" charset="0"/>
              </a:rPr>
              <a:t>Pénalise les poids extrêmes pour stabiliser le réseau et éviter le surapprentissage.</a:t>
            </a:r>
            <a:endParaRPr lang="fr-FR" u="sng" dirty="0">
              <a:ln w="12700">
                <a:noFill/>
              </a:ln>
              <a:solidFill>
                <a:srgbClr val="1E3A8A"/>
              </a:solidFill>
              <a:latin typeface="Arial Black" panose="020B0A04020102020204" pitchFamily="34" charset="0"/>
            </a:endParaRPr>
          </a:p>
          <a:p>
            <a:r>
              <a:rPr lang="fr-FR" u="sng" dirty="0" err="1">
                <a:ln w="12700">
                  <a:noFill/>
                </a:ln>
                <a:solidFill>
                  <a:srgbClr val="1E3A8A"/>
                </a:solidFill>
                <a:latin typeface="Arial Black" panose="020B0A04020102020204" pitchFamily="34" charset="0"/>
              </a:rPr>
              <a:t>BatchNormalization</a:t>
            </a:r>
            <a:r>
              <a:rPr lang="fr-FR" u="sng" dirty="0">
                <a:ln w="12700">
                  <a:noFill/>
                </a:ln>
                <a:solidFill>
                  <a:srgbClr val="1E3A8A"/>
                </a:solidFill>
                <a:latin typeface="Arial Black" panose="020B0A04020102020204" pitchFamily="34" charset="0"/>
              </a:rPr>
              <a:t> : </a:t>
            </a:r>
            <a:r>
              <a:rPr lang="fr-FR" dirty="0">
                <a:ln w="12700">
                  <a:noFill/>
                </a:ln>
                <a:solidFill>
                  <a:srgbClr val="1E3A8A"/>
                </a:solidFill>
                <a:latin typeface="Arial Black" panose="020B0A04020102020204" pitchFamily="34" charset="0"/>
              </a:rPr>
              <a:t>Normalise les activations pour accélérer l'entraînement et compenser les effets du dropout.</a:t>
            </a:r>
          </a:p>
        </p:txBody>
      </p:sp>
    </p:spTree>
    <p:extLst>
      <p:ext uri="{BB962C8B-B14F-4D97-AF65-F5344CB8AC3E}">
        <p14:creationId xmlns:p14="http://schemas.microsoft.com/office/powerpoint/2010/main" val="3775629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2BD041D-8F34-4831-B5E5-C1A576BD6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42" y="120528"/>
            <a:ext cx="1956123" cy="1280415"/>
          </a:xfrm>
          <a:prstGeom prst="rect">
            <a:avLst/>
          </a:prstGeom>
          <a:effectLst>
            <a:outerShdw blurRad="50800" dist="50800" dir="5400000" algn="ctr" rotWithShape="0">
              <a:srgbClr val="000000">
                <a:alpha val="0"/>
              </a:srgbClr>
            </a:outerShdw>
          </a:effectLst>
        </p:spPr>
      </p:pic>
      <p:sp>
        <p:nvSpPr>
          <p:cNvPr id="2" name="TextBox 1">
            <a:extLst>
              <a:ext uri="{FF2B5EF4-FFF2-40B4-BE49-F238E27FC236}">
                <a16:creationId xmlns:a16="http://schemas.microsoft.com/office/drawing/2014/main" id="{946B72AB-46A4-4D00-B63F-C41A77233855}"/>
              </a:ext>
            </a:extLst>
          </p:cNvPr>
          <p:cNvSpPr txBox="1"/>
          <p:nvPr/>
        </p:nvSpPr>
        <p:spPr>
          <a:xfrm>
            <a:off x="2467389" y="106739"/>
            <a:ext cx="7257222"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Détails techniques du modèle</a:t>
            </a:r>
          </a:p>
        </p:txBody>
      </p:sp>
      <p:pic>
        <p:nvPicPr>
          <p:cNvPr id="4" name="Picture 3">
            <a:extLst>
              <a:ext uri="{FF2B5EF4-FFF2-40B4-BE49-F238E27FC236}">
                <a16:creationId xmlns:a16="http://schemas.microsoft.com/office/drawing/2014/main" id="{A49EA107-25C8-4ECA-85A9-0DC4A56EBB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flipH="1">
            <a:off x="10871623" y="-60868"/>
            <a:ext cx="1105180" cy="1226917"/>
          </a:xfrm>
          <a:prstGeom prst="rect">
            <a:avLst/>
          </a:prstGeom>
        </p:spPr>
      </p:pic>
      <p:sp>
        <p:nvSpPr>
          <p:cNvPr id="12" name="TextBox 11">
            <a:extLst>
              <a:ext uri="{FF2B5EF4-FFF2-40B4-BE49-F238E27FC236}">
                <a16:creationId xmlns:a16="http://schemas.microsoft.com/office/drawing/2014/main" id="{E0FFDBA0-FE09-4B27-BB1A-6B90DACA41B2}"/>
              </a:ext>
            </a:extLst>
          </p:cNvPr>
          <p:cNvSpPr txBox="1"/>
          <p:nvPr/>
        </p:nvSpPr>
        <p:spPr>
          <a:xfrm flipH="1">
            <a:off x="104167" y="1673817"/>
            <a:ext cx="11840905" cy="4124206"/>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Optimisation du modèle</a:t>
            </a:r>
          </a:p>
          <a:p>
            <a:r>
              <a:rPr lang="fr-FR" dirty="0">
                <a:ln w="12700">
                  <a:noFill/>
                </a:ln>
                <a:solidFill>
                  <a:srgbClr val="1E3A8A"/>
                </a:solidFill>
                <a:latin typeface="Arial Black" panose="020B0A04020102020204" pitchFamily="34" charset="0"/>
              </a:rPr>
              <a:t>Une fois le modèle construit, il faut bien choisir comment il apprend, c’est-à-dire son optimiseur et sa fonction de perte :</a:t>
            </a:r>
          </a:p>
          <a:p>
            <a:endParaRPr lang="fr-FR" u="sng" dirty="0">
              <a:ln w="12700">
                <a:noFill/>
              </a:ln>
              <a:solidFill>
                <a:srgbClr val="1E3A8A"/>
              </a:solidFill>
              <a:latin typeface="Arial Black" panose="020B0A04020102020204" pitchFamily="34" charset="0"/>
            </a:endParaRPr>
          </a:p>
          <a:p>
            <a:r>
              <a:rPr lang="fr-FR" dirty="0">
                <a:ln w="12700">
                  <a:noFill/>
                </a:ln>
                <a:solidFill>
                  <a:srgbClr val="1E3A8A"/>
                </a:solidFill>
                <a:latin typeface="Arial Black" panose="020B0A04020102020204" pitchFamily="34" charset="0"/>
              </a:rPr>
              <a:t>Optimiseur Adam  : Adam est un optimiseur adaptatif très populaire. Il ajuste le taux d’apprentissage automatiquement pour chaque poids. Résultat : un apprentissage plus rapide et plus stable, surtout sur les données audio.</a:t>
            </a:r>
          </a:p>
          <a:p>
            <a:r>
              <a:rPr lang="fr-FR" dirty="0">
                <a:ln w="12700">
                  <a:noFill/>
                </a:ln>
                <a:solidFill>
                  <a:srgbClr val="1E3A8A"/>
                </a:solidFill>
                <a:latin typeface="Arial Black" panose="020B0A04020102020204" pitchFamily="34" charset="0"/>
              </a:rPr>
              <a:t>Fonction de perte : </a:t>
            </a:r>
            <a:r>
              <a:rPr lang="fr-FR" dirty="0" err="1">
                <a:ln w="12700">
                  <a:noFill/>
                </a:ln>
                <a:solidFill>
                  <a:srgbClr val="1E3A8A"/>
                </a:solidFill>
                <a:latin typeface="Arial Black" panose="020B0A04020102020204" pitchFamily="34" charset="0"/>
              </a:rPr>
              <a:t>sparse_categorical_crossentropy</a:t>
            </a:r>
            <a:r>
              <a:rPr lang="fr-FR" dirty="0">
                <a:ln w="12700">
                  <a:noFill/>
                </a:ln>
                <a:solidFill>
                  <a:srgbClr val="1E3A8A"/>
                </a:solidFill>
                <a:latin typeface="Arial Black" panose="020B0A04020102020204" pitchFamily="34" charset="0"/>
              </a:rPr>
              <a:t> C’est une fonction de perte idéale pour un problème de classification multi-classes avec des étiquettes entières (au lieu de </a:t>
            </a:r>
            <a:r>
              <a:rPr lang="fr-FR" dirty="0" err="1">
                <a:ln w="12700">
                  <a:noFill/>
                </a:ln>
                <a:solidFill>
                  <a:srgbClr val="1E3A8A"/>
                </a:solidFill>
                <a:latin typeface="Arial Black" panose="020B0A04020102020204" pitchFamily="34" charset="0"/>
              </a:rPr>
              <a:t>one-hot</a:t>
            </a:r>
            <a:r>
              <a:rPr lang="fr-FR" dirty="0">
                <a:ln w="12700">
                  <a:noFill/>
                </a:ln>
                <a:solidFill>
                  <a:srgbClr val="1E3A8A"/>
                </a:solidFill>
                <a:latin typeface="Arial Black" panose="020B0A04020102020204" pitchFamily="34" charset="0"/>
              </a:rPr>
              <a:t>). Elle mesure la distance entre la prédiction du modèle et la vraie classe.</a:t>
            </a:r>
          </a:p>
          <a:p>
            <a:r>
              <a:rPr lang="fr-FR" dirty="0">
                <a:ln w="12700">
                  <a:noFill/>
                </a:ln>
                <a:solidFill>
                  <a:srgbClr val="1E3A8A"/>
                </a:solidFill>
                <a:latin typeface="Arial Black" panose="020B0A04020102020204" pitchFamily="34" charset="0"/>
              </a:rPr>
              <a:t>Callbacks utilisés :</a:t>
            </a:r>
          </a:p>
          <a:p>
            <a:pPr marL="342900" indent="-342900">
              <a:buFont typeface="Wingdings" panose="05000000000000000000" pitchFamily="2" charset="2"/>
              <a:buChar char="q"/>
            </a:pPr>
            <a:r>
              <a:rPr lang="fr-FR" dirty="0" err="1">
                <a:ln w="12700">
                  <a:noFill/>
                </a:ln>
                <a:solidFill>
                  <a:srgbClr val="1E3A8A"/>
                </a:solidFill>
                <a:latin typeface="Arial Black" panose="020B0A04020102020204" pitchFamily="34" charset="0"/>
              </a:rPr>
              <a:t>EarlyStopping</a:t>
            </a:r>
            <a:r>
              <a:rPr lang="fr-FR" dirty="0">
                <a:ln w="12700">
                  <a:noFill/>
                </a:ln>
                <a:solidFill>
                  <a:srgbClr val="1E3A8A"/>
                </a:solidFill>
                <a:latin typeface="Arial Black" panose="020B0A04020102020204" pitchFamily="34" charset="0"/>
              </a:rPr>
              <a:t> : arrête l’entraînement automatiquement si la validation ne s’améliore plus.</a:t>
            </a:r>
          </a:p>
          <a:p>
            <a:pPr marL="342900" indent="-342900">
              <a:buFont typeface="Wingdings" panose="05000000000000000000" pitchFamily="2" charset="2"/>
              <a:buChar char="q"/>
            </a:pPr>
            <a:r>
              <a:rPr lang="fr-FR" dirty="0" err="1">
                <a:ln w="12700">
                  <a:noFill/>
                </a:ln>
                <a:solidFill>
                  <a:srgbClr val="1E3A8A"/>
                </a:solidFill>
                <a:latin typeface="Arial Black" panose="020B0A04020102020204" pitchFamily="34" charset="0"/>
              </a:rPr>
              <a:t>ReduceLROnPlateau</a:t>
            </a:r>
            <a:r>
              <a:rPr lang="fr-FR" dirty="0">
                <a:ln w="12700">
                  <a:noFill/>
                </a:ln>
                <a:solidFill>
                  <a:srgbClr val="1E3A8A"/>
                </a:solidFill>
                <a:latin typeface="Arial Black" panose="020B0A04020102020204" pitchFamily="34" charset="0"/>
              </a:rPr>
              <a:t> : réduit le </a:t>
            </a:r>
            <a:r>
              <a:rPr lang="fr-FR" dirty="0" err="1">
                <a:ln w="12700">
                  <a:noFill/>
                </a:ln>
                <a:solidFill>
                  <a:srgbClr val="1E3A8A"/>
                </a:solidFill>
                <a:latin typeface="Arial Black" panose="020B0A04020102020204" pitchFamily="34" charset="0"/>
              </a:rPr>
              <a:t>learning</a:t>
            </a:r>
            <a:r>
              <a:rPr lang="fr-FR" dirty="0">
                <a:ln w="12700">
                  <a:noFill/>
                </a:ln>
                <a:solidFill>
                  <a:srgbClr val="1E3A8A"/>
                </a:solidFill>
                <a:latin typeface="Arial Black" panose="020B0A04020102020204" pitchFamily="34" charset="0"/>
              </a:rPr>
              <a:t> rate si la performance stagne.</a:t>
            </a:r>
          </a:p>
          <a:p>
            <a:pPr marL="342900" indent="-342900">
              <a:buFont typeface="Wingdings" panose="05000000000000000000" pitchFamily="2" charset="2"/>
              <a:buChar char="q"/>
            </a:pPr>
            <a:r>
              <a:rPr lang="fr-FR" dirty="0" err="1">
                <a:ln w="12700">
                  <a:noFill/>
                </a:ln>
                <a:solidFill>
                  <a:srgbClr val="1E3A8A"/>
                </a:solidFill>
                <a:latin typeface="Arial Black" panose="020B0A04020102020204" pitchFamily="34" charset="0"/>
              </a:rPr>
              <a:t>ModelCheckpoint</a:t>
            </a:r>
            <a:r>
              <a:rPr lang="fr-FR" dirty="0">
                <a:ln w="12700">
                  <a:noFill/>
                </a:ln>
                <a:solidFill>
                  <a:srgbClr val="1E3A8A"/>
                </a:solidFill>
                <a:latin typeface="Arial Black" panose="020B0A04020102020204" pitchFamily="34" charset="0"/>
              </a:rPr>
              <a:t> : sauvegarde automatiquement le meilleur modèle.</a:t>
            </a:r>
          </a:p>
        </p:txBody>
      </p:sp>
      <p:pic>
        <p:nvPicPr>
          <p:cNvPr id="6" name="Picture 5">
            <a:extLst>
              <a:ext uri="{FF2B5EF4-FFF2-40B4-BE49-F238E27FC236}">
                <a16:creationId xmlns:a16="http://schemas.microsoft.com/office/drawing/2014/main" id="{5F5867D9-07F4-49EE-BDE7-C5AF7721EF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30902" y="4606724"/>
            <a:ext cx="2012912" cy="2012912"/>
          </a:xfrm>
          <a:prstGeom prst="rect">
            <a:avLst/>
          </a:prstGeom>
        </p:spPr>
      </p:pic>
    </p:spTree>
    <p:extLst>
      <p:ext uri="{BB962C8B-B14F-4D97-AF65-F5344CB8AC3E}">
        <p14:creationId xmlns:p14="http://schemas.microsoft.com/office/powerpoint/2010/main" val="822231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2467389" y="106739"/>
            <a:ext cx="7257222" cy="769441"/>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Résultats obtenus</a:t>
            </a:r>
          </a:p>
        </p:txBody>
      </p:sp>
      <p:sp>
        <p:nvSpPr>
          <p:cNvPr id="12" name="TextBox 11">
            <a:extLst>
              <a:ext uri="{FF2B5EF4-FFF2-40B4-BE49-F238E27FC236}">
                <a16:creationId xmlns:a16="http://schemas.microsoft.com/office/drawing/2014/main" id="{E0FFDBA0-FE09-4B27-BB1A-6B90DACA41B2}"/>
              </a:ext>
            </a:extLst>
          </p:cNvPr>
          <p:cNvSpPr txBox="1"/>
          <p:nvPr/>
        </p:nvSpPr>
        <p:spPr>
          <a:xfrm flipH="1">
            <a:off x="108032" y="890040"/>
            <a:ext cx="9857770" cy="3447098"/>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 Performances globales du modèle CNN-</a:t>
            </a:r>
            <a:r>
              <a:rPr lang="fr-FR" sz="2800" u="sng" dirty="0" err="1">
                <a:ln w="12700">
                  <a:solidFill>
                    <a:srgbClr val="1E3A8A"/>
                  </a:solidFill>
                </a:ln>
                <a:solidFill>
                  <a:srgbClr val="2DD4BF"/>
                </a:solidFill>
                <a:latin typeface="Arial Black" panose="020B0A04020102020204" pitchFamily="34" charset="0"/>
              </a:rPr>
              <a:t>BiLSTM</a:t>
            </a:r>
            <a:endParaRPr lang="fr-FR" sz="2800" u="sng" dirty="0">
              <a:ln w="12700">
                <a:solidFill>
                  <a:srgbClr val="1E3A8A"/>
                </a:solidFill>
              </a:ln>
              <a:solidFill>
                <a:srgbClr val="2DD4BF"/>
              </a:solidFill>
              <a:latin typeface="Arial Black" panose="020B0A04020102020204" pitchFamily="34" charset="0"/>
            </a:endParaRPr>
          </a:p>
          <a:p>
            <a:pPr marL="342900" indent="-342900">
              <a:buFont typeface="+mj-lt"/>
              <a:buAutoNum type="arabicPeriod"/>
            </a:pPr>
            <a:r>
              <a:rPr lang="fr-FR" b="1" dirty="0">
                <a:solidFill>
                  <a:srgbClr val="1E3A8A"/>
                </a:solidFill>
                <a:latin typeface="Arial Black" panose="020B0A04020102020204" pitchFamily="34" charset="0"/>
              </a:rPr>
              <a:t>F1-score moyen</a:t>
            </a:r>
            <a:r>
              <a:rPr lang="fr-FR" dirty="0">
                <a:solidFill>
                  <a:srgbClr val="1E3A8A"/>
                </a:solidFill>
                <a:latin typeface="Arial Black" panose="020B0A04020102020204" pitchFamily="34" charset="0"/>
              </a:rPr>
              <a:t> : </a:t>
            </a:r>
            <a:r>
              <a:rPr lang="fr-FR" b="1" dirty="0">
                <a:solidFill>
                  <a:srgbClr val="1E3A8A"/>
                </a:solidFill>
                <a:latin typeface="Arial Black" panose="020B0A04020102020204" pitchFamily="34" charset="0"/>
              </a:rPr>
              <a:t>91%</a:t>
            </a:r>
            <a:br>
              <a:rPr lang="fr-FR" dirty="0">
                <a:solidFill>
                  <a:srgbClr val="1E3A8A"/>
                </a:solidFill>
                <a:latin typeface="Arial Black" panose="020B0A04020102020204" pitchFamily="34" charset="0"/>
              </a:rPr>
            </a:br>
            <a:r>
              <a:rPr lang="fr-FR" dirty="0">
                <a:solidFill>
                  <a:srgbClr val="1E3A8A"/>
                </a:solidFill>
                <a:latin typeface="Arial Black" panose="020B0A04020102020204" pitchFamily="34" charset="0"/>
              </a:rPr>
              <a:t>C’est une excellente performance, qui montre que le modèle est </a:t>
            </a:r>
            <a:r>
              <a:rPr lang="fr-FR" b="1" dirty="0">
                <a:solidFill>
                  <a:srgbClr val="1E3A8A"/>
                </a:solidFill>
                <a:latin typeface="Arial Black" panose="020B0A04020102020204" pitchFamily="34" charset="0"/>
              </a:rPr>
              <a:t>équilibré</a:t>
            </a:r>
            <a:r>
              <a:rPr lang="fr-FR" dirty="0">
                <a:solidFill>
                  <a:srgbClr val="1E3A8A"/>
                </a:solidFill>
                <a:latin typeface="Arial Black" panose="020B0A04020102020204" pitchFamily="34" charset="0"/>
              </a:rPr>
              <a:t> entre précision et rappel.</a:t>
            </a:r>
          </a:p>
          <a:p>
            <a:pPr marL="342900" indent="-342900">
              <a:buFont typeface="+mj-lt"/>
              <a:buAutoNum type="arabicPeriod"/>
            </a:pPr>
            <a:r>
              <a:rPr lang="fr-FR" b="1" dirty="0">
                <a:solidFill>
                  <a:srgbClr val="1E3A8A"/>
                </a:solidFill>
                <a:latin typeface="Arial Black" panose="020B0A04020102020204" pitchFamily="34" charset="0"/>
              </a:rPr>
              <a:t>Précision (</a:t>
            </a:r>
            <a:r>
              <a:rPr lang="fr-FR" b="1" dirty="0" err="1">
                <a:solidFill>
                  <a:srgbClr val="1E3A8A"/>
                </a:solidFill>
                <a:latin typeface="Arial Black" panose="020B0A04020102020204" pitchFamily="34" charset="0"/>
              </a:rPr>
              <a:t>Precision</a:t>
            </a:r>
            <a:r>
              <a:rPr lang="fr-FR" b="1" dirty="0">
                <a:solidFill>
                  <a:srgbClr val="1E3A8A"/>
                </a:solidFill>
                <a:latin typeface="Arial Black" panose="020B0A04020102020204" pitchFamily="34" charset="0"/>
              </a:rPr>
              <a:t>)</a:t>
            </a:r>
            <a:r>
              <a:rPr lang="fr-FR" dirty="0">
                <a:solidFill>
                  <a:srgbClr val="1E3A8A"/>
                </a:solidFill>
                <a:latin typeface="Arial Black" panose="020B0A04020102020204" pitchFamily="34" charset="0"/>
              </a:rPr>
              <a:t> : </a:t>
            </a:r>
            <a:r>
              <a:rPr lang="fr-FR" b="1" dirty="0">
                <a:solidFill>
                  <a:srgbClr val="1E3A8A"/>
                </a:solidFill>
                <a:latin typeface="Arial Black" panose="020B0A04020102020204" pitchFamily="34" charset="0"/>
              </a:rPr>
              <a:t>0.91</a:t>
            </a:r>
            <a:br>
              <a:rPr lang="fr-FR" dirty="0">
                <a:solidFill>
                  <a:srgbClr val="1E3A8A"/>
                </a:solidFill>
                <a:latin typeface="Arial Black" panose="020B0A04020102020204" pitchFamily="34" charset="0"/>
              </a:rPr>
            </a:br>
            <a:r>
              <a:rPr lang="fr-FR" dirty="0">
                <a:solidFill>
                  <a:srgbClr val="1E3A8A"/>
                </a:solidFill>
                <a:latin typeface="Arial Black" panose="020B0A04020102020204" pitchFamily="34" charset="0"/>
              </a:rPr>
              <a:t>Le modèle </a:t>
            </a:r>
            <a:r>
              <a:rPr lang="fr-FR" b="1" dirty="0">
                <a:solidFill>
                  <a:srgbClr val="1E3A8A"/>
                </a:solidFill>
                <a:latin typeface="Arial Black" panose="020B0A04020102020204" pitchFamily="34" charset="0"/>
              </a:rPr>
              <a:t>fait peu d’erreurs</a:t>
            </a:r>
            <a:r>
              <a:rPr lang="fr-FR" dirty="0">
                <a:solidFill>
                  <a:srgbClr val="1E3A8A"/>
                </a:solidFill>
                <a:latin typeface="Arial Black" panose="020B0A04020102020204" pitchFamily="34" charset="0"/>
              </a:rPr>
              <a:t> quand il annonce une émotion.</a:t>
            </a:r>
          </a:p>
          <a:p>
            <a:pPr marL="342900" indent="-342900">
              <a:buFont typeface="+mj-lt"/>
              <a:buAutoNum type="arabicPeriod"/>
            </a:pPr>
            <a:r>
              <a:rPr lang="fr-FR" b="1" dirty="0">
                <a:solidFill>
                  <a:srgbClr val="1E3A8A"/>
                </a:solidFill>
                <a:latin typeface="Arial Black" panose="020B0A04020102020204" pitchFamily="34" charset="0"/>
              </a:rPr>
              <a:t>Rappel (</a:t>
            </a:r>
            <a:r>
              <a:rPr lang="fr-FR" b="1" dirty="0" err="1">
                <a:solidFill>
                  <a:srgbClr val="1E3A8A"/>
                </a:solidFill>
                <a:latin typeface="Arial Black" panose="020B0A04020102020204" pitchFamily="34" charset="0"/>
              </a:rPr>
              <a:t>Recall</a:t>
            </a:r>
            <a:r>
              <a:rPr lang="fr-FR" b="1" dirty="0">
                <a:solidFill>
                  <a:srgbClr val="1E3A8A"/>
                </a:solidFill>
                <a:latin typeface="Arial Black" panose="020B0A04020102020204" pitchFamily="34" charset="0"/>
              </a:rPr>
              <a:t>)</a:t>
            </a:r>
            <a:r>
              <a:rPr lang="fr-FR" dirty="0">
                <a:solidFill>
                  <a:srgbClr val="1E3A8A"/>
                </a:solidFill>
                <a:latin typeface="Arial Black" panose="020B0A04020102020204" pitchFamily="34" charset="0"/>
              </a:rPr>
              <a:t> : </a:t>
            </a:r>
            <a:r>
              <a:rPr lang="fr-FR" b="1" dirty="0">
                <a:solidFill>
                  <a:srgbClr val="1E3A8A"/>
                </a:solidFill>
                <a:latin typeface="Arial Black" panose="020B0A04020102020204" pitchFamily="34" charset="0"/>
              </a:rPr>
              <a:t>0.91</a:t>
            </a:r>
            <a:br>
              <a:rPr lang="fr-FR" dirty="0">
                <a:solidFill>
                  <a:srgbClr val="1E3A8A"/>
                </a:solidFill>
                <a:latin typeface="Arial Black" panose="020B0A04020102020204" pitchFamily="34" charset="0"/>
              </a:rPr>
            </a:br>
            <a:r>
              <a:rPr lang="fr-FR" dirty="0">
                <a:solidFill>
                  <a:srgbClr val="1E3A8A"/>
                </a:solidFill>
                <a:latin typeface="Arial Black" panose="020B0A04020102020204" pitchFamily="34" charset="0"/>
              </a:rPr>
              <a:t>Le modèle </a:t>
            </a:r>
            <a:r>
              <a:rPr lang="fr-FR" b="1" dirty="0">
                <a:solidFill>
                  <a:srgbClr val="1E3A8A"/>
                </a:solidFill>
                <a:latin typeface="Arial Black" panose="020B0A04020102020204" pitchFamily="34" charset="0"/>
              </a:rPr>
              <a:t>identifie bien</a:t>
            </a:r>
            <a:r>
              <a:rPr lang="fr-FR" dirty="0">
                <a:solidFill>
                  <a:srgbClr val="1E3A8A"/>
                </a:solidFill>
                <a:latin typeface="Arial Black" panose="020B0A04020102020204" pitchFamily="34" charset="0"/>
              </a:rPr>
              <a:t> les émotions, sans en rater beaucoup.</a:t>
            </a:r>
          </a:p>
          <a:p>
            <a:pPr marL="342900" indent="-342900">
              <a:buFont typeface="+mj-lt"/>
              <a:buAutoNum type="arabicPeriod"/>
            </a:pPr>
            <a:r>
              <a:rPr lang="fr-FR" b="1" dirty="0" err="1">
                <a:solidFill>
                  <a:srgbClr val="1E3A8A"/>
                </a:solidFill>
                <a:latin typeface="Arial Black" panose="020B0A04020102020204" pitchFamily="34" charset="0"/>
              </a:rPr>
              <a:t>Accuracy</a:t>
            </a:r>
            <a:r>
              <a:rPr lang="fr-FR" b="1" dirty="0">
                <a:solidFill>
                  <a:srgbClr val="1E3A8A"/>
                </a:solidFill>
                <a:latin typeface="Arial Black" panose="020B0A04020102020204" pitchFamily="34" charset="0"/>
              </a:rPr>
              <a:t> globale</a:t>
            </a:r>
            <a:r>
              <a:rPr lang="fr-FR" dirty="0">
                <a:solidFill>
                  <a:srgbClr val="1E3A8A"/>
                </a:solidFill>
                <a:latin typeface="Arial Black" panose="020B0A04020102020204" pitchFamily="34" charset="0"/>
              </a:rPr>
              <a:t> : ~91%</a:t>
            </a:r>
            <a:br>
              <a:rPr lang="fr-FR" dirty="0">
                <a:solidFill>
                  <a:srgbClr val="1E3A8A"/>
                </a:solidFill>
                <a:latin typeface="Arial Black" panose="020B0A04020102020204" pitchFamily="34" charset="0"/>
              </a:rPr>
            </a:br>
            <a:r>
              <a:rPr lang="fr-FR" dirty="0">
                <a:solidFill>
                  <a:srgbClr val="1E3A8A"/>
                </a:solidFill>
                <a:latin typeface="Arial Black" panose="020B0A04020102020204" pitchFamily="34" charset="0"/>
              </a:rPr>
              <a:t>Environ 9 audios sur 10 sont correctement classés.</a:t>
            </a:r>
          </a:p>
          <a:p>
            <a:pPr algn="ctr"/>
            <a:endParaRPr lang="fr-FR" sz="2800" u="sng" dirty="0">
              <a:ln w="12700">
                <a:solidFill>
                  <a:srgbClr val="1E3A8A"/>
                </a:solidFill>
              </a:ln>
              <a:solidFill>
                <a:srgbClr val="2DD4BF"/>
              </a:solidFill>
              <a:latin typeface="Arial Black" panose="020B0A04020102020204" pitchFamily="34" charset="0"/>
            </a:endParaRPr>
          </a:p>
        </p:txBody>
      </p:sp>
      <p:sp>
        <p:nvSpPr>
          <p:cNvPr id="9" name="TextBox 8">
            <a:extLst>
              <a:ext uri="{FF2B5EF4-FFF2-40B4-BE49-F238E27FC236}">
                <a16:creationId xmlns:a16="http://schemas.microsoft.com/office/drawing/2014/main" id="{63D6B078-971A-4E43-9BFC-B75C576739FA}"/>
              </a:ext>
            </a:extLst>
          </p:cNvPr>
          <p:cNvSpPr txBox="1"/>
          <p:nvPr/>
        </p:nvSpPr>
        <p:spPr>
          <a:xfrm flipH="1">
            <a:off x="2666036" y="4857869"/>
            <a:ext cx="9857770" cy="1354217"/>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  Pourquoi ces bons résultats ?</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Pipeline bien conçu (augmentation, équilibrage, normalisation)</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Architecture CNN-</a:t>
            </a: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 adaptée aux données séquentielles</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Techniques anti-surapprentissage efficaces (Dropout, </a:t>
            </a:r>
            <a:r>
              <a:rPr lang="fr-FR" dirty="0" err="1">
                <a:ln w="12700">
                  <a:noFill/>
                </a:ln>
                <a:solidFill>
                  <a:srgbClr val="1E3A8A"/>
                </a:solidFill>
                <a:latin typeface="Arial Black" panose="020B0A04020102020204" pitchFamily="34" charset="0"/>
              </a:rPr>
              <a:t>EarlyStopping</a:t>
            </a:r>
            <a:r>
              <a:rPr lang="fr-FR" dirty="0">
                <a:ln w="12700">
                  <a:noFill/>
                </a:ln>
                <a:solidFill>
                  <a:srgbClr val="1E3A8A"/>
                </a:solidFill>
                <a:latin typeface="Arial Black" panose="020B0A04020102020204" pitchFamily="34" charset="0"/>
              </a:rPr>
              <a:t>)</a:t>
            </a:r>
          </a:p>
        </p:txBody>
      </p:sp>
      <p:pic>
        <p:nvPicPr>
          <p:cNvPr id="11" name="Picture 10">
            <a:extLst>
              <a:ext uri="{FF2B5EF4-FFF2-40B4-BE49-F238E27FC236}">
                <a16:creationId xmlns:a16="http://schemas.microsoft.com/office/drawing/2014/main" id="{463B27E5-24F6-4C7D-99E0-4E49EDDB5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5802" y="277792"/>
            <a:ext cx="2012912" cy="2012912"/>
          </a:xfrm>
          <a:prstGeom prst="rect">
            <a:avLst/>
          </a:prstGeom>
        </p:spPr>
      </p:pic>
    </p:spTree>
    <p:extLst>
      <p:ext uri="{BB962C8B-B14F-4D97-AF65-F5344CB8AC3E}">
        <p14:creationId xmlns:p14="http://schemas.microsoft.com/office/powerpoint/2010/main" val="1506660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1604085" y="106739"/>
            <a:ext cx="8983831"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Comparaison avec d’autres modèles</a:t>
            </a:r>
          </a:p>
        </p:txBody>
      </p:sp>
      <p:sp>
        <p:nvSpPr>
          <p:cNvPr id="12" name="TextBox 11">
            <a:extLst>
              <a:ext uri="{FF2B5EF4-FFF2-40B4-BE49-F238E27FC236}">
                <a16:creationId xmlns:a16="http://schemas.microsoft.com/office/drawing/2014/main" id="{E0FFDBA0-FE09-4B27-BB1A-6B90DACA41B2}"/>
              </a:ext>
            </a:extLst>
          </p:cNvPr>
          <p:cNvSpPr txBox="1"/>
          <p:nvPr/>
        </p:nvSpPr>
        <p:spPr>
          <a:xfrm flipH="1">
            <a:off x="174560" y="1553289"/>
            <a:ext cx="10413355" cy="1354217"/>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Pourquoi comparer ?</a:t>
            </a:r>
            <a:r>
              <a:rPr lang="fr-FR" b="1" dirty="0">
                <a:solidFill>
                  <a:srgbClr val="1E3A8A"/>
                </a:solidFill>
                <a:latin typeface="Arial Black" panose="020B0A04020102020204" pitchFamily="34" charset="0"/>
              </a:rPr>
              <a:t> </a:t>
            </a:r>
          </a:p>
          <a:p>
            <a:r>
              <a:rPr lang="fr-FR" b="1" dirty="0">
                <a:solidFill>
                  <a:srgbClr val="1E3A8A"/>
                </a:solidFill>
                <a:latin typeface="Arial Black" panose="020B0A04020102020204" pitchFamily="34" charset="0"/>
              </a:rPr>
              <a:t>Pour évaluer l’efficacité de mon modèle CNN-</a:t>
            </a:r>
            <a:r>
              <a:rPr lang="fr-FR" b="1" dirty="0" err="1">
                <a:solidFill>
                  <a:srgbClr val="1E3A8A"/>
                </a:solidFill>
                <a:latin typeface="Arial Black" panose="020B0A04020102020204" pitchFamily="34" charset="0"/>
              </a:rPr>
              <a:t>BiLSTM</a:t>
            </a:r>
            <a:r>
              <a:rPr lang="fr-FR" b="1" dirty="0">
                <a:solidFill>
                  <a:srgbClr val="1E3A8A"/>
                </a:solidFill>
                <a:latin typeface="Arial Black" panose="020B0A04020102020204" pitchFamily="34" charset="0"/>
              </a:rPr>
              <a:t>, j’ai comparé ses performances à plusieurs modèles d’apprentissage automatique classiques, entraînés sur les mêmes données et caractéristiques.</a:t>
            </a:r>
            <a:endParaRPr lang="fr-FR" sz="2800" u="sng" dirty="0">
              <a:ln w="12700">
                <a:solidFill>
                  <a:srgbClr val="1E3A8A"/>
                </a:solidFill>
              </a:ln>
              <a:solidFill>
                <a:srgbClr val="2DD4BF"/>
              </a:solidFill>
              <a:latin typeface="Arial Black" panose="020B0A04020102020204" pitchFamily="34" charset="0"/>
            </a:endParaRPr>
          </a:p>
        </p:txBody>
      </p:sp>
      <p:sp>
        <p:nvSpPr>
          <p:cNvPr id="9" name="TextBox 8">
            <a:extLst>
              <a:ext uri="{FF2B5EF4-FFF2-40B4-BE49-F238E27FC236}">
                <a16:creationId xmlns:a16="http://schemas.microsoft.com/office/drawing/2014/main" id="{63D6B078-971A-4E43-9BFC-B75C576739FA}"/>
              </a:ext>
            </a:extLst>
          </p:cNvPr>
          <p:cNvSpPr txBox="1"/>
          <p:nvPr/>
        </p:nvSpPr>
        <p:spPr>
          <a:xfrm flipH="1">
            <a:off x="2974693" y="2956698"/>
            <a:ext cx="9309904" cy="3016210"/>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 Résultats comparatifs (F1-score moyen) :</a:t>
            </a:r>
          </a:p>
          <a:p>
            <a:r>
              <a:rPr lang="fr-FR" dirty="0">
                <a:ln w="12700">
                  <a:noFill/>
                </a:ln>
                <a:solidFill>
                  <a:srgbClr val="1E3A8A"/>
                </a:solidFill>
                <a:latin typeface="Arial Black" panose="020B0A04020102020204" pitchFamily="34" charset="0"/>
              </a:rPr>
              <a:t>SVM (Support </a:t>
            </a:r>
            <a:r>
              <a:rPr lang="fr-FR" dirty="0" err="1">
                <a:ln w="12700">
                  <a:noFill/>
                </a:ln>
                <a:solidFill>
                  <a:srgbClr val="1E3A8A"/>
                </a:solidFill>
                <a:latin typeface="Arial Black" panose="020B0A04020102020204" pitchFamily="34" charset="0"/>
              </a:rPr>
              <a:t>Vector</a:t>
            </a:r>
            <a:r>
              <a:rPr lang="fr-FR" dirty="0">
                <a:ln w="12700">
                  <a:noFill/>
                </a:ln>
                <a:solidFill>
                  <a:srgbClr val="1E3A8A"/>
                </a:solidFill>
                <a:latin typeface="Arial Black" panose="020B0A04020102020204" pitchFamily="34" charset="0"/>
              </a:rPr>
              <a:t> Machine) : 70%</a:t>
            </a:r>
          </a:p>
          <a:p>
            <a:r>
              <a:rPr lang="fr-FR" dirty="0">
                <a:ln w="12700">
                  <a:noFill/>
                </a:ln>
                <a:solidFill>
                  <a:srgbClr val="1E3A8A"/>
                </a:solidFill>
                <a:latin typeface="Arial Black" panose="020B0A04020102020204" pitchFamily="34" charset="0"/>
              </a:rPr>
              <a:t>Bonne performance de base, mais limitée sur des données séquentielles.</a:t>
            </a:r>
          </a:p>
          <a:p>
            <a:r>
              <a:rPr lang="fr-FR" dirty="0" err="1">
                <a:ln w="12700">
                  <a:noFill/>
                </a:ln>
                <a:solidFill>
                  <a:srgbClr val="1E3A8A"/>
                </a:solidFill>
                <a:latin typeface="Arial Black" panose="020B0A04020102020204" pitchFamily="34" charset="0"/>
              </a:rPr>
              <a:t>Random</a:t>
            </a:r>
            <a:r>
              <a:rPr lang="fr-FR" dirty="0">
                <a:ln w="12700">
                  <a:noFill/>
                </a:ln>
                <a:solidFill>
                  <a:srgbClr val="1E3A8A"/>
                </a:solidFill>
                <a:latin typeface="Arial Black" panose="020B0A04020102020204" pitchFamily="34" charset="0"/>
              </a:rPr>
              <a:t> Forest : 74%</a:t>
            </a:r>
          </a:p>
          <a:p>
            <a:r>
              <a:rPr lang="fr-FR" dirty="0">
                <a:ln w="12700">
                  <a:noFill/>
                </a:ln>
                <a:solidFill>
                  <a:srgbClr val="1E3A8A"/>
                </a:solidFill>
                <a:latin typeface="Arial Black" panose="020B0A04020102020204" pitchFamily="34" charset="0"/>
              </a:rPr>
              <a:t>Modèle robuste mais ne gère pas la dynamique temporelle.</a:t>
            </a:r>
          </a:p>
          <a:p>
            <a:r>
              <a:rPr lang="fr-FR" dirty="0" err="1">
                <a:ln w="12700">
                  <a:noFill/>
                </a:ln>
                <a:solidFill>
                  <a:srgbClr val="1E3A8A"/>
                </a:solidFill>
                <a:latin typeface="Arial Black" panose="020B0A04020102020204" pitchFamily="34" charset="0"/>
              </a:rPr>
              <a:t>XGBoost</a:t>
            </a:r>
            <a:r>
              <a:rPr lang="fr-FR" dirty="0">
                <a:ln w="12700">
                  <a:noFill/>
                </a:ln>
                <a:solidFill>
                  <a:srgbClr val="1E3A8A"/>
                </a:solidFill>
                <a:latin typeface="Arial Black" panose="020B0A04020102020204" pitchFamily="34" charset="0"/>
              </a:rPr>
              <a:t> : 78%</a:t>
            </a:r>
          </a:p>
          <a:p>
            <a:r>
              <a:rPr lang="fr-FR" dirty="0">
                <a:ln w="12700">
                  <a:noFill/>
                </a:ln>
                <a:solidFill>
                  <a:srgbClr val="1E3A8A"/>
                </a:solidFill>
                <a:latin typeface="Arial Black" panose="020B0A04020102020204" pitchFamily="34" charset="0"/>
              </a:rPr>
              <a:t>Très bon en tabulaire, mais limité sur des signaux audio.</a:t>
            </a:r>
          </a:p>
          <a:p>
            <a:r>
              <a:rPr lang="fr-FR" dirty="0">
                <a:ln w="12700">
                  <a:noFill/>
                </a:ln>
                <a:solidFill>
                  <a:srgbClr val="1E3A8A"/>
                </a:solidFill>
                <a:latin typeface="Arial Black" panose="020B0A04020102020204" pitchFamily="34" charset="0"/>
              </a:rPr>
              <a:t>CNN-</a:t>
            </a: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 : 91%</a:t>
            </a:r>
          </a:p>
          <a:p>
            <a:r>
              <a:rPr lang="fr-FR" dirty="0">
                <a:ln w="12700">
                  <a:noFill/>
                </a:ln>
                <a:solidFill>
                  <a:srgbClr val="1E3A8A"/>
                </a:solidFill>
                <a:latin typeface="Arial Black" panose="020B0A04020102020204" pitchFamily="34" charset="0"/>
              </a:rPr>
              <a:t>Gère à la fois la structure locale (CNN) et temporelle (LSTM).</a:t>
            </a:r>
          </a:p>
        </p:txBody>
      </p:sp>
      <p:pic>
        <p:nvPicPr>
          <p:cNvPr id="6" name="Picture 5">
            <a:extLst>
              <a:ext uri="{FF2B5EF4-FFF2-40B4-BE49-F238E27FC236}">
                <a16:creationId xmlns:a16="http://schemas.microsoft.com/office/drawing/2014/main" id="{87343CA8-0F36-4121-8F25-A5EBE4199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2912" y="217485"/>
            <a:ext cx="2012912" cy="2012912"/>
          </a:xfrm>
          <a:prstGeom prst="rect">
            <a:avLst/>
          </a:prstGeom>
        </p:spPr>
      </p:pic>
      <p:pic>
        <p:nvPicPr>
          <p:cNvPr id="7" name="Picture 6">
            <a:extLst>
              <a:ext uri="{FF2B5EF4-FFF2-40B4-BE49-F238E27FC236}">
                <a16:creationId xmlns:a16="http://schemas.microsoft.com/office/drawing/2014/main" id="{4F4CF03A-0857-4EBD-9A15-94374AEB9B33}"/>
              </a:ext>
            </a:extLst>
          </p:cNvPr>
          <p:cNvPicPr>
            <a:picLocks noChangeAspect="1"/>
          </p:cNvPicPr>
          <p:nvPr/>
        </p:nvPicPr>
        <p:blipFill>
          <a:blip r:embed="rId4"/>
          <a:stretch>
            <a:fillRect/>
          </a:stretch>
        </p:blipFill>
        <p:spPr>
          <a:xfrm>
            <a:off x="4537277" y="6970245"/>
            <a:ext cx="7655194" cy="5304711"/>
          </a:xfrm>
          <a:prstGeom prst="rect">
            <a:avLst/>
          </a:prstGeom>
        </p:spPr>
      </p:pic>
    </p:spTree>
    <p:extLst>
      <p:ext uri="{BB962C8B-B14F-4D97-AF65-F5344CB8AC3E}">
        <p14:creationId xmlns:p14="http://schemas.microsoft.com/office/powerpoint/2010/main" val="3321469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1604085" y="106739"/>
            <a:ext cx="8983831" cy="1446550"/>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Comparaison avec d’autres modèles</a:t>
            </a:r>
          </a:p>
        </p:txBody>
      </p:sp>
      <p:sp>
        <p:nvSpPr>
          <p:cNvPr id="9" name="TextBox 8">
            <a:extLst>
              <a:ext uri="{FF2B5EF4-FFF2-40B4-BE49-F238E27FC236}">
                <a16:creationId xmlns:a16="http://schemas.microsoft.com/office/drawing/2014/main" id="{63D6B078-971A-4E43-9BFC-B75C576739FA}"/>
              </a:ext>
            </a:extLst>
          </p:cNvPr>
          <p:cNvSpPr txBox="1"/>
          <p:nvPr/>
        </p:nvSpPr>
        <p:spPr>
          <a:xfrm flipH="1">
            <a:off x="0" y="2492954"/>
            <a:ext cx="4699322" cy="3170099"/>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Conclusion de la comparaison</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Les modèles classiques atteignent rapidement leurs limites sur des données complexes comme l’audio.</a:t>
            </a:r>
          </a:p>
          <a:p>
            <a:pPr marL="285750" indent="-285750">
              <a:buFont typeface="Arial" panose="020B0604020202020204" pitchFamily="34" charset="0"/>
              <a:buChar char="•"/>
            </a:pPr>
            <a:r>
              <a:rPr lang="fr-FR" dirty="0">
                <a:ln w="12700">
                  <a:noFill/>
                </a:ln>
                <a:solidFill>
                  <a:srgbClr val="1E3A8A"/>
                </a:solidFill>
                <a:latin typeface="Arial Black" panose="020B0A04020102020204" pitchFamily="34" charset="0"/>
              </a:rPr>
              <a:t>Le modèle CNN-</a:t>
            </a: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 comprend mieux les variations dans la voix, ce qui explique sa nette supériorité.</a:t>
            </a:r>
          </a:p>
        </p:txBody>
      </p:sp>
      <p:pic>
        <p:nvPicPr>
          <p:cNvPr id="4" name="Picture 3">
            <a:extLst>
              <a:ext uri="{FF2B5EF4-FFF2-40B4-BE49-F238E27FC236}">
                <a16:creationId xmlns:a16="http://schemas.microsoft.com/office/drawing/2014/main" id="{1F2329EC-8DAE-47A1-B86A-976B0E01AAE6}"/>
              </a:ext>
            </a:extLst>
          </p:cNvPr>
          <p:cNvPicPr>
            <a:picLocks noChangeAspect="1"/>
          </p:cNvPicPr>
          <p:nvPr/>
        </p:nvPicPr>
        <p:blipFill>
          <a:blip r:embed="rId3"/>
          <a:stretch>
            <a:fillRect/>
          </a:stretch>
        </p:blipFill>
        <p:spPr>
          <a:xfrm>
            <a:off x="4537277" y="1553289"/>
            <a:ext cx="7655194" cy="5304711"/>
          </a:xfrm>
          <a:prstGeom prst="rect">
            <a:avLst/>
          </a:prstGeom>
        </p:spPr>
      </p:pic>
    </p:spTree>
    <p:extLst>
      <p:ext uri="{BB962C8B-B14F-4D97-AF65-F5344CB8AC3E}">
        <p14:creationId xmlns:p14="http://schemas.microsoft.com/office/powerpoint/2010/main" val="771358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1604085" y="106739"/>
            <a:ext cx="8983831" cy="769441"/>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Déploiement du modèle</a:t>
            </a:r>
          </a:p>
        </p:txBody>
      </p:sp>
      <p:sp>
        <p:nvSpPr>
          <p:cNvPr id="5" name="TextBox 4">
            <a:extLst>
              <a:ext uri="{FF2B5EF4-FFF2-40B4-BE49-F238E27FC236}">
                <a16:creationId xmlns:a16="http://schemas.microsoft.com/office/drawing/2014/main" id="{331EE19E-62FE-4069-BF4F-71F4C6913E37}"/>
              </a:ext>
            </a:extLst>
          </p:cNvPr>
          <p:cNvSpPr txBox="1"/>
          <p:nvPr/>
        </p:nvSpPr>
        <p:spPr>
          <a:xfrm flipH="1">
            <a:off x="6096000" y="2504705"/>
            <a:ext cx="6096000" cy="2185214"/>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Technologies utilisées</a:t>
            </a:r>
          </a:p>
          <a:p>
            <a:r>
              <a:rPr lang="fr-FR" dirty="0">
                <a:ln w="12700">
                  <a:noFill/>
                </a:ln>
                <a:solidFill>
                  <a:srgbClr val="1E3A8A"/>
                </a:solidFill>
                <a:latin typeface="Arial Black" panose="020B0A04020102020204" pitchFamily="34" charset="0"/>
              </a:rPr>
              <a:t>Flask : </a:t>
            </a:r>
            <a:r>
              <a:rPr lang="fr-FR" dirty="0" err="1">
                <a:ln w="12700">
                  <a:noFill/>
                </a:ln>
                <a:solidFill>
                  <a:srgbClr val="1E3A8A"/>
                </a:solidFill>
                <a:latin typeface="Arial Black" panose="020B0A04020102020204" pitchFamily="34" charset="0"/>
              </a:rPr>
              <a:t>framework</a:t>
            </a:r>
            <a:r>
              <a:rPr lang="fr-FR" dirty="0">
                <a:ln w="12700">
                  <a:noFill/>
                </a:ln>
                <a:solidFill>
                  <a:srgbClr val="1E3A8A"/>
                </a:solidFill>
                <a:latin typeface="Arial Black" panose="020B0A04020102020204" pitchFamily="34" charset="0"/>
              </a:rPr>
              <a:t> Python léger pour créer l’interface web.</a:t>
            </a:r>
          </a:p>
          <a:p>
            <a:r>
              <a:rPr lang="fr-FR" dirty="0">
                <a:ln w="12700">
                  <a:noFill/>
                </a:ln>
                <a:solidFill>
                  <a:srgbClr val="1E3A8A"/>
                </a:solidFill>
                <a:latin typeface="Arial Black" panose="020B0A04020102020204" pitchFamily="34" charset="0"/>
              </a:rPr>
              <a:t>HTML / CSS : pour concevoir une interface utilisateur intuitive.</a:t>
            </a:r>
          </a:p>
          <a:p>
            <a:r>
              <a:rPr lang="fr-FR" dirty="0">
                <a:ln w="12700">
                  <a:noFill/>
                </a:ln>
                <a:solidFill>
                  <a:srgbClr val="1E3A8A"/>
                </a:solidFill>
                <a:latin typeface="Arial Black" panose="020B0A04020102020204" pitchFamily="34" charset="0"/>
              </a:rPr>
              <a:t>Pickle : pour charger le modèle entraîné.</a:t>
            </a:r>
          </a:p>
          <a:p>
            <a:r>
              <a:rPr lang="fr-FR" dirty="0" err="1">
                <a:ln w="12700">
                  <a:noFill/>
                </a:ln>
                <a:solidFill>
                  <a:srgbClr val="1E3A8A"/>
                </a:solidFill>
                <a:latin typeface="Arial Black" panose="020B0A04020102020204" pitchFamily="34" charset="0"/>
              </a:rPr>
              <a:t>Librosa</a:t>
            </a:r>
            <a:r>
              <a:rPr lang="fr-FR" dirty="0">
                <a:ln w="12700">
                  <a:noFill/>
                </a:ln>
                <a:solidFill>
                  <a:srgbClr val="1E3A8A"/>
                </a:solidFill>
                <a:latin typeface="Arial Black" panose="020B0A04020102020204" pitchFamily="34" charset="0"/>
              </a:rPr>
              <a:t> : pour traiter l’audio côté serveur.</a:t>
            </a:r>
          </a:p>
        </p:txBody>
      </p:sp>
      <p:sp>
        <p:nvSpPr>
          <p:cNvPr id="7" name="TextBox 6">
            <a:extLst>
              <a:ext uri="{FF2B5EF4-FFF2-40B4-BE49-F238E27FC236}">
                <a16:creationId xmlns:a16="http://schemas.microsoft.com/office/drawing/2014/main" id="{B5BBFB96-6A2D-4FD1-96C1-018D667E5CBD}"/>
              </a:ext>
            </a:extLst>
          </p:cNvPr>
          <p:cNvSpPr txBox="1"/>
          <p:nvPr/>
        </p:nvSpPr>
        <p:spPr>
          <a:xfrm flipH="1">
            <a:off x="106100" y="1406862"/>
            <a:ext cx="6096000" cy="1354217"/>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Objectif du déploiement</a:t>
            </a:r>
          </a:p>
          <a:p>
            <a:r>
              <a:rPr lang="fr-FR" dirty="0">
                <a:ln w="12700">
                  <a:noFill/>
                </a:ln>
                <a:solidFill>
                  <a:srgbClr val="1E3A8A"/>
                </a:solidFill>
                <a:latin typeface="Arial Black" panose="020B0A04020102020204" pitchFamily="34" charset="0"/>
              </a:rPr>
              <a:t>Rendre le modèle accessible via une interface simple et fonctionnelle pour démontrer son utilité dans un usage réel.</a:t>
            </a:r>
          </a:p>
        </p:txBody>
      </p:sp>
      <p:sp>
        <p:nvSpPr>
          <p:cNvPr id="8" name="TextBox 7">
            <a:extLst>
              <a:ext uri="{FF2B5EF4-FFF2-40B4-BE49-F238E27FC236}">
                <a16:creationId xmlns:a16="http://schemas.microsoft.com/office/drawing/2014/main" id="{5F62C6FC-42B2-4345-BE36-50A674A95F53}"/>
              </a:ext>
            </a:extLst>
          </p:cNvPr>
          <p:cNvSpPr txBox="1"/>
          <p:nvPr/>
        </p:nvSpPr>
        <p:spPr>
          <a:xfrm flipH="1">
            <a:off x="106100" y="4004588"/>
            <a:ext cx="6213677" cy="2893100"/>
          </a:xfrm>
          <a:prstGeom prst="rect">
            <a:avLst/>
          </a:prstGeom>
          <a:noFill/>
        </p:spPr>
        <p:txBody>
          <a:bodyPr wrap="square" rtlCol="0">
            <a:spAutoFit/>
          </a:bodyPr>
          <a:lstStyle/>
          <a:p>
            <a:pPr algn="ctr"/>
            <a:r>
              <a:rPr lang="fr-FR" sz="2800" u="sng" dirty="0">
                <a:ln w="12700">
                  <a:solidFill>
                    <a:srgbClr val="1E3A8A"/>
                  </a:solidFill>
                </a:ln>
                <a:solidFill>
                  <a:srgbClr val="2DD4BF"/>
                </a:solidFill>
                <a:latin typeface="Arial Black" panose="020B0A04020102020204" pitchFamily="34" charset="0"/>
              </a:rPr>
              <a:t> Fonctionnement de l’application</a:t>
            </a:r>
          </a:p>
          <a:p>
            <a:r>
              <a:rPr lang="fr-FR" dirty="0">
                <a:ln w="12700">
                  <a:noFill/>
                </a:ln>
                <a:solidFill>
                  <a:srgbClr val="1E3A8A"/>
                </a:solidFill>
                <a:latin typeface="Arial Black" panose="020B0A04020102020204" pitchFamily="34" charset="0"/>
              </a:rPr>
              <a:t>L’utilisateur téléverse un fichier audio </a:t>
            </a:r>
          </a:p>
          <a:p>
            <a:r>
              <a:rPr lang="fr-FR" dirty="0">
                <a:ln w="12700">
                  <a:noFill/>
                </a:ln>
                <a:solidFill>
                  <a:srgbClr val="1E3A8A"/>
                </a:solidFill>
                <a:latin typeface="Arial Black" panose="020B0A04020102020204" pitchFamily="34" charset="0"/>
              </a:rPr>
              <a:t>.L’audio est prétraité (normalisé, MFCC extrait…).</a:t>
            </a:r>
          </a:p>
          <a:p>
            <a:r>
              <a:rPr lang="fr-FR" dirty="0">
                <a:ln w="12700">
                  <a:noFill/>
                </a:ln>
                <a:solidFill>
                  <a:srgbClr val="1E3A8A"/>
                </a:solidFill>
                <a:latin typeface="Arial Black" panose="020B0A04020102020204" pitchFamily="34" charset="0"/>
              </a:rPr>
              <a:t>Le modèle CNN-</a:t>
            </a: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 prédit l’émotion dominante.</a:t>
            </a:r>
          </a:p>
          <a:p>
            <a:r>
              <a:rPr lang="fr-FR" dirty="0">
                <a:ln w="12700">
                  <a:noFill/>
                </a:ln>
                <a:solidFill>
                  <a:srgbClr val="1E3A8A"/>
                </a:solidFill>
                <a:latin typeface="Arial Black" panose="020B0A04020102020204" pitchFamily="34" charset="0"/>
              </a:rPr>
              <a:t>L’émotion est affichée sur la page avec un message clair</a:t>
            </a:r>
          </a:p>
        </p:txBody>
      </p:sp>
      <p:pic>
        <p:nvPicPr>
          <p:cNvPr id="11" name="Picture 10">
            <a:extLst>
              <a:ext uri="{FF2B5EF4-FFF2-40B4-BE49-F238E27FC236}">
                <a16:creationId xmlns:a16="http://schemas.microsoft.com/office/drawing/2014/main" id="{34263FDA-B093-40C9-83CA-6CAC13EA7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84317" y="106739"/>
            <a:ext cx="2401583" cy="2401583"/>
          </a:xfrm>
          <a:prstGeom prst="rect">
            <a:avLst/>
          </a:prstGeom>
        </p:spPr>
      </p:pic>
    </p:spTree>
    <p:extLst>
      <p:ext uri="{BB962C8B-B14F-4D97-AF65-F5344CB8AC3E}">
        <p14:creationId xmlns:p14="http://schemas.microsoft.com/office/powerpoint/2010/main" val="193997203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1604085" y="106739"/>
            <a:ext cx="8983831" cy="769441"/>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Déploiement du modèle</a:t>
            </a:r>
          </a:p>
        </p:txBody>
      </p:sp>
      <p:pic>
        <p:nvPicPr>
          <p:cNvPr id="9" name="Picture 8">
            <a:extLst>
              <a:ext uri="{FF2B5EF4-FFF2-40B4-BE49-F238E27FC236}">
                <a16:creationId xmlns:a16="http://schemas.microsoft.com/office/drawing/2014/main" id="{6FA7E80D-4046-4435-B1BA-3C5837646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5208" y="2563567"/>
            <a:ext cx="2401583" cy="2401583"/>
          </a:xfrm>
          <a:prstGeom prst="rect">
            <a:avLst/>
          </a:prstGeom>
        </p:spPr>
      </p:pic>
      <p:pic>
        <p:nvPicPr>
          <p:cNvPr id="4" name="Picture 3">
            <a:extLst>
              <a:ext uri="{FF2B5EF4-FFF2-40B4-BE49-F238E27FC236}">
                <a16:creationId xmlns:a16="http://schemas.microsoft.com/office/drawing/2014/main" id="{CC79B554-15CA-47E5-B0CC-DCA4FC441FF6}"/>
              </a:ext>
            </a:extLst>
          </p:cNvPr>
          <p:cNvPicPr>
            <a:picLocks noChangeAspect="1"/>
          </p:cNvPicPr>
          <p:nvPr/>
        </p:nvPicPr>
        <p:blipFill>
          <a:blip r:embed="rId4"/>
          <a:stretch>
            <a:fillRect/>
          </a:stretch>
        </p:blipFill>
        <p:spPr>
          <a:xfrm>
            <a:off x="3060758" y="876180"/>
            <a:ext cx="5997460" cy="5776359"/>
          </a:xfrm>
          <a:prstGeom prst="rect">
            <a:avLst/>
          </a:prstGeom>
        </p:spPr>
      </p:pic>
    </p:spTree>
    <p:extLst>
      <p:ext uri="{BB962C8B-B14F-4D97-AF65-F5344CB8AC3E}">
        <p14:creationId xmlns:p14="http://schemas.microsoft.com/office/powerpoint/2010/main" val="345754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1D5D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B72AB-46A4-4D00-B63F-C41A77233855}"/>
              </a:ext>
            </a:extLst>
          </p:cNvPr>
          <p:cNvSpPr txBox="1"/>
          <p:nvPr/>
        </p:nvSpPr>
        <p:spPr>
          <a:xfrm>
            <a:off x="1604085" y="106739"/>
            <a:ext cx="8983831" cy="769441"/>
          </a:xfrm>
          <a:prstGeom prst="rect">
            <a:avLst/>
          </a:prstGeom>
          <a:noFill/>
        </p:spPr>
        <p:txBody>
          <a:bodyPr wrap="square" rtlCol="0">
            <a:spAutoFit/>
          </a:bodyPr>
          <a:lstStyle/>
          <a:p>
            <a:pPr algn="ctr"/>
            <a:r>
              <a:rPr lang="fr-FR" sz="4400" u="sng" dirty="0">
                <a:ln w="28575">
                  <a:solidFill>
                    <a:srgbClr val="2DD4BF"/>
                  </a:solidFill>
                </a:ln>
                <a:solidFill>
                  <a:srgbClr val="1E3A8A"/>
                </a:solidFill>
                <a:latin typeface="Arial Black" panose="020B0A04020102020204" pitchFamily="34" charset="0"/>
              </a:rPr>
              <a:t>Conclusion</a:t>
            </a:r>
          </a:p>
        </p:txBody>
      </p:sp>
      <p:pic>
        <p:nvPicPr>
          <p:cNvPr id="12" name="Picture 11">
            <a:extLst>
              <a:ext uri="{FF2B5EF4-FFF2-40B4-BE49-F238E27FC236}">
                <a16:creationId xmlns:a16="http://schemas.microsoft.com/office/drawing/2014/main" id="{B0FF5B67-8700-48C1-8575-FB1D5F8D460B}"/>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500"/>
                    </a14:imgEffect>
                    <a14:imgEffect>
                      <a14:saturation sat="396000"/>
                    </a14:imgEffect>
                  </a14:imgLayer>
                </a14:imgProps>
              </a:ext>
              <a:ext uri="{28A0092B-C50C-407E-A947-70E740481C1C}">
                <a14:useLocalDpi xmlns:a14="http://schemas.microsoft.com/office/drawing/2010/main" val="0"/>
              </a:ext>
            </a:extLst>
          </a:blip>
          <a:stretch>
            <a:fillRect/>
          </a:stretch>
        </p:blipFill>
        <p:spPr>
          <a:xfrm>
            <a:off x="9871855" y="5174065"/>
            <a:ext cx="2200539" cy="1683935"/>
          </a:xfrm>
          <a:prstGeom prst="rect">
            <a:avLst/>
          </a:prstGeom>
          <a:ln>
            <a:noFill/>
          </a:ln>
        </p:spPr>
      </p:pic>
      <p:sp>
        <p:nvSpPr>
          <p:cNvPr id="5" name="TextBox 4">
            <a:extLst>
              <a:ext uri="{FF2B5EF4-FFF2-40B4-BE49-F238E27FC236}">
                <a16:creationId xmlns:a16="http://schemas.microsoft.com/office/drawing/2014/main" id="{372C2AB0-12E8-42B3-8F5B-C30281FB4CF8}"/>
              </a:ext>
            </a:extLst>
          </p:cNvPr>
          <p:cNvSpPr txBox="1"/>
          <p:nvPr/>
        </p:nvSpPr>
        <p:spPr>
          <a:xfrm flipH="1">
            <a:off x="505812" y="2274838"/>
            <a:ext cx="11503308" cy="2308324"/>
          </a:xfrm>
          <a:prstGeom prst="rect">
            <a:avLst/>
          </a:prstGeom>
          <a:noFill/>
        </p:spPr>
        <p:txBody>
          <a:bodyPr wrap="square" rtlCol="0">
            <a:spAutoFit/>
          </a:bodyPr>
          <a:lstStyle/>
          <a:p>
            <a:endParaRPr lang="fr-FR" dirty="0">
              <a:ln w="12700">
                <a:noFill/>
              </a:ln>
              <a:solidFill>
                <a:srgbClr val="1E3A8A"/>
              </a:solidFill>
              <a:latin typeface="Arial Black" panose="020B0A04020102020204" pitchFamily="34" charset="0"/>
            </a:endParaRPr>
          </a:p>
          <a:p>
            <a:r>
              <a:rPr lang="fr-FR" dirty="0">
                <a:ln w="12700">
                  <a:noFill/>
                </a:ln>
                <a:solidFill>
                  <a:srgbClr val="1E3A8A"/>
                </a:solidFill>
                <a:latin typeface="Arial Black" panose="020B0A04020102020204" pitchFamily="34" charset="0"/>
              </a:rPr>
              <a:t>En résumé, ce projet a permis de mettre en place un pipeline complet pour la reconnaissance des émotions à partir de la voix, allant de la préparation des données jusqu’au déploiement d’une application web fonctionnelle. Le modèle développé, basé sur une architecture hybride CNN-</a:t>
            </a:r>
            <a:r>
              <a:rPr lang="fr-FR" dirty="0" err="1">
                <a:ln w="12700">
                  <a:noFill/>
                </a:ln>
                <a:solidFill>
                  <a:srgbClr val="1E3A8A"/>
                </a:solidFill>
                <a:latin typeface="Arial Black" panose="020B0A04020102020204" pitchFamily="34" charset="0"/>
              </a:rPr>
              <a:t>BiLSTM</a:t>
            </a:r>
            <a:r>
              <a:rPr lang="fr-FR" dirty="0">
                <a:ln w="12700">
                  <a:noFill/>
                </a:ln>
                <a:solidFill>
                  <a:srgbClr val="1E3A8A"/>
                </a:solidFill>
                <a:latin typeface="Arial Black" panose="020B0A04020102020204" pitchFamily="34" charset="0"/>
              </a:rPr>
              <a:t>, a montré d’excellentes performances avec un F1-score moyen de 91 %, confirmant sa robustesse et sa pertinence face à des approches plus classiques. Ce travail se distingue par sa rigueur méthodologique, l’adéquation du modèle aux spécificités des données audio, ainsi que par sa portée applicative concrète. </a:t>
            </a:r>
          </a:p>
        </p:txBody>
      </p:sp>
    </p:spTree>
    <p:extLst>
      <p:ext uri="{BB962C8B-B14F-4D97-AF65-F5344CB8AC3E}">
        <p14:creationId xmlns:p14="http://schemas.microsoft.com/office/powerpoint/2010/main" val="281627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2212</TotalTime>
  <Words>3477</Words>
  <Application>Microsoft Office PowerPoint</Application>
  <PresentationFormat>Widescreen</PresentationFormat>
  <Paragraphs>267</Paragraphs>
  <Slides>21</Slides>
  <Notes>20</Notes>
  <HiddenSlides>0</HiddenSlides>
  <MMClips>7</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Black</vt:lpstr>
      <vt:lpstr>Calibri</vt:lpstr>
      <vt:lpstr>Calibri Light</vt:lpstr>
      <vt:lpstr>quote-cjk-patch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Utilisez des **métaphores** : le CNN « détecte les motifs sonores » comme un œil analyse une image, le LSTM « mémorise le rythme » comme une oreille qui suit une mélodie.</dc:title>
  <dc:creator>ilyassaitcheikh19@outlook.fr</dc:creator>
  <cp:lastModifiedBy>ilyassaitcheikh19@outlook.fr</cp:lastModifiedBy>
  <cp:revision>77</cp:revision>
  <dcterms:created xsi:type="dcterms:W3CDTF">2025-05-29T21:42:24Z</dcterms:created>
  <dcterms:modified xsi:type="dcterms:W3CDTF">2025-06-18T11:08:55Z</dcterms:modified>
</cp:coreProperties>
</file>